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2.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9"/>
  </p:notesMasterIdLst>
  <p:sldIdLst>
    <p:sldId id="256" r:id="rId2"/>
    <p:sldId id="257" r:id="rId3"/>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 id="392" r:id="rId145"/>
    <p:sldId id="393" r:id="rId146"/>
    <p:sldId id="394" r:id="rId147"/>
    <p:sldId id="395" r:id="rId148"/>
    <p:sldId id="396" r:id="rId149"/>
    <p:sldId id="397" r:id="rId150"/>
    <p:sldId id="398" r:id="rId151"/>
    <p:sldId id="399" r:id="rId152"/>
    <p:sldId id="400" r:id="rId153"/>
    <p:sldId id="401" r:id="rId154"/>
    <p:sldId id="402" r:id="rId155"/>
    <p:sldId id="403" r:id="rId156"/>
    <p:sldId id="404" r:id="rId157"/>
    <p:sldId id="405" r:id="rId158"/>
    <p:sldId id="406" r:id="rId159"/>
    <p:sldId id="407" r:id="rId160"/>
    <p:sldId id="408" r:id="rId161"/>
    <p:sldId id="409" r:id="rId162"/>
    <p:sldId id="410" r:id="rId163"/>
  </p:sldIdLst>
  <p:sldSz cx="12192000" cy="6858000"/>
  <p:notesSz cx="6858000" cy="9144000"/>
  <p:embeddedFontLst>
    <p:embeddedFont>
      <p:font typeface="Cambria" panose="02040503050406030204" pitchFamily="18" charset="0"/>
      <p:regular r:id="rId80"/>
      <p:bold r:id="rId81"/>
      <p:italic r:id="rId82"/>
      <p:boldItalic r:id="rId83"/>
    </p:embeddedFont>
    <p:embeddedFont>
      <p:font typeface="Gill Sans" panose="020B0604020202020204" charset="0"/>
      <p:regular r:id="rId84"/>
      <p:bold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F2D98E-0062-4CEB-BF75-F90E3C6509C4}">
  <a:tblStyle styleId="{00F2D98E-0062-4CEB-BF75-F90E3C6509C4}"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79" Type="http://schemas.openxmlformats.org/officeDocument/2006/relationships/notesMaster" Target="notesMasters/notesMaster1.xml"/><Relationship Id="rId80" Type="http://schemas.openxmlformats.org/officeDocument/2006/relationships/font" Target="fonts/font1.fntdata"/><Relationship Id="rId81" Type="http://schemas.openxmlformats.org/officeDocument/2006/relationships/font" Target="fonts/font2.fntdata"/><Relationship Id="rId82" Type="http://schemas.openxmlformats.org/officeDocument/2006/relationships/font" Target="fonts/font3.fntdata"/><Relationship Id="rId83" Type="http://schemas.openxmlformats.org/officeDocument/2006/relationships/font" Target="fonts/font4.fntdata"/><Relationship Id="rId84" Type="http://schemas.openxmlformats.org/officeDocument/2006/relationships/font" Target="fonts/font5.fntdata"/><Relationship Id="rId85" Type="http://schemas.openxmlformats.org/officeDocument/2006/relationships/font" Target="fonts/font6.fntdata"/><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6.xml"/><Relationship Id="rId99"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 Id="rId106" Type="http://schemas.openxmlformats.org/officeDocument/2006/relationships/slide" Target="slides/slide94.xml"/><Relationship Id="rId107" Type="http://schemas.openxmlformats.org/officeDocument/2006/relationships/slide" Target="slides/slide95.xml"/><Relationship Id="rId108" Type="http://schemas.openxmlformats.org/officeDocument/2006/relationships/slide" Target="slides/slide96.xml"/><Relationship Id="rId109" Type="http://schemas.openxmlformats.org/officeDocument/2006/relationships/slide" Target="slides/slide97.xml"/><Relationship Id="rId110" Type="http://schemas.openxmlformats.org/officeDocument/2006/relationships/slide" Target="slides/slide98.xml"/><Relationship Id="rId111" Type="http://schemas.openxmlformats.org/officeDocument/2006/relationships/slide" Target="slides/slide99.xml"/><Relationship Id="rId112" Type="http://schemas.openxmlformats.org/officeDocument/2006/relationships/slide" Target="slides/slide100.xml"/><Relationship Id="rId113" Type="http://schemas.openxmlformats.org/officeDocument/2006/relationships/slide" Target="slides/slide101.xml"/><Relationship Id="rId114" Type="http://schemas.openxmlformats.org/officeDocument/2006/relationships/slide" Target="slides/slide102.xml"/><Relationship Id="rId115" Type="http://schemas.openxmlformats.org/officeDocument/2006/relationships/slide" Target="slides/slide103.xml"/><Relationship Id="rId116" Type="http://schemas.openxmlformats.org/officeDocument/2006/relationships/slide" Target="slides/slide104.xml"/><Relationship Id="rId117" Type="http://schemas.openxmlformats.org/officeDocument/2006/relationships/slide" Target="slides/slide105.xml"/><Relationship Id="rId118" Type="http://schemas.openxmlformats.org/officeDocument/2006/relationships/slide" Target="slides/slide106.xml"/><Relationship Id="rId119" Type="http://schemas.openxmlformats.org/officeDocument/2006/relationships/slide" Target="slides/slide107.xml"/><Relationship Id="rId120" Type="http://schemas.openxmlformats.org/officeDocument/2006/relationships/slide" Target="slides/slide108.xml"/><Relationship Id="rId121" Type="http://schemas.openxmlformats.org/officeDocument/2006/relationships/slide" Target="slides/slide109.xml"/><Relationship Id="rId122" Type="http://schemas.openxmlformats.org/officeDocument/2006/relationships/slide" Target="slides/slide110.xml"/><Relationship Id="rId123" Type="http://schemas.openxmlformats.org/officeDocument/2006/relationships/slide" Target="slides/slide111.xml"/><Relationship Id="rId124" Type="http://schemas.openxmlformats.org/officeDocument/2006/relationships/slide" Target="slides/slide112.xml"/><Relationship Id="rId125" Type="http://schemas.openxmlformats.org/officeDocument/2006/relationships/slide" Target="slides/slide113.xml"/><Relationship Id="rId126" Type="http://schemas.openxmlformats.org/officeDocument/2006/relationships/slide" Target="slides/slide114.xml"/><Relationship Id="rId127" Type="http://schemas.openxmlformats.org/officeDocument/2006/relationships/slide" Target="slides/slide115.xml"/><Relationship Id="rId128" Type="http://schemas.openxmlformats.org/officeDocument/2006/relationships/slide" Target="slides/slide116.xml"/><Relationship Id="rId129" Type="http://schemas.openxmlformats.org/officeDocument/2006/relationships/slide" Target="slides/slide117.xml"/><Relationship Id="rId130" Type="http://schemas.openxmlformats.org/officeDocument/2006/relationships/slide" Target="slides/slide118.xml"/><Relationship Id="rId131" Type="http://schemas.openxmlformats.org/officeDocument/2006/relationships/slide" Target="slides/slide119.xml"/><Relationship Id="rId132" Type="http://schemas.openxmlformats.org/officeDocument/2006/relationships/slide" Target="slides/slide120.xml"/><Relationship Id="rId133" Type="http://schemas.openxmlformats.org/officeDocument/2006/relationships/slide" Target="slides/slide121.xml"/><Relationship Id="rId134" Type="http://schemas.openxmlformats.org/officeDocument/2006/relationships/slide" Target="slides/slide122.xml"/><Relationship Id="rId135" Type="http://schemas.openxmlformats.org/officeDocument/2006/relationships/slide" Target="slides/slide123.xml"/><Relationship Id="rId136" Type="http://schemas.openxmlformats.org/officeDocument/2006/relationships/slide" Target="slides/slide124.xml"/><Relationship Id="rId137" Type="http://schemas.openxmlformats.org/officeDocument/2006/relationships/slide" Target="slides/slide125.xml"/><Relationship Id="rId138" Type="http://schemas.openxmlformats.org/officeDocument/2006/relationships/slide" Target="slides/slide126.xml"/><Relationship Id="rId139" Type="http://schemas.openxmlformats.org/officeDocument/2006/relationships/slide" Target="slides/slide127.xml"/><Relationship Id="rId140" Type="http://schemas.openxmlformats.org/officeDocument/2006/relationships/slide" Target="slides/slide128.xml"/><Relationship Id="rId141" Type="http://schemas.openxmlformats.org/officeDocument/2006/relationships/slide" Target="slides/slide129.xml"/><Relationship Id="rId142" Type="http://schemas.openxmlformats.org/officeDocument/2006/relationships/slide" Target="slides/slide130.xml"/><Relationship Id="rId143" Type="http://schemas.openxmlformats.org/officeDocument/2006/relationships/slide" Target="slides/slide131.xml"/><Relationship Id="rId144" Type="http://schemas.openxmlformats.org/officeDocument/2006/relationships/slide" Target="slides/slide132.xml"/><Relationship Id="rId145" Type="http://schemas.openxmlformats.org/officeDocument/2006/relationships/slide" Target="slides/slide133.xml"/><Relationship Id="rId146" Type="http://schemas.openxmlformats.org/officeDocument/2006/relationships/slide" Target="slides/slide134.xml"/><Relationship Id="rId147" Type="http://schemas.openxmlformats.org/officeDocument/2006/relationships/slide" Target="slides/slide135.xml"/><Relationship Id="rId148" Type="http://schemas.openxmlformats.org/officeDocument/2006/relationships/slide" Target="slides/slide136.xml"/><Relationship Id="rId149" Type="http://schemas.openxmlformats.org/officeDocument/2006/relationships/slide" Target="slides/slide137.xml"/><Relationship Id="rId150" Type="http://schemas.openxmlformats.org/officeDocument/2006/relationships/slide" Target="slides/slide138.xml"/><Relationship Id="rId151" Type="http://schemas.openxmlformats.org/officeDocument/2006/relationships/slide" Target="slides/slide139.xml"/><Relationship Id="rId152" Type="http://schemas.openxmlformats.org/officeDocument/2006/relationships/slide" Target="slides/slide140.xml"/><Relationship Id="rId153" Type="http://schemas.openxmlformats.org/officeDocument/2006/relationships/slide" Target="slides/slide141.xml"/><Relationship Id="rId154" Type="http://schemas.openxmlformats.org/officeDocument/2006/relationships/slide" Target="slides/slide142.xml"/><Relationship Id="rId155" Type="http://schemas.openxmlformats.org/officeDocument/2006/relationships/slide" Target="slides/slide143.xml"/><Relationship Id="rId156" Type="http://schemas.openxmlformats.org/officeDocument/2006/relationships/slide" Target="slides/slide144.xml"/><Relationship Id="rId157" Type="http://schemas.openxmlformats.org/officeDocument/2006/relationships/slide" Target="slides/slide145.xml"/><Relationship Id="rId158" Type="http://schemas.openxmlformats.org/officeDocument/2006/relationships/slide" Target="slides/slide146.xml"/><Relationship Id="rId159" Type="http://schemas.openxmlformats.org/officeDocument/2006/relationships/slide" Target="slides/slide147.xml"/><Relationship Id="rId160" Type="http://schemas.openxmlformats.org/officeDocument/2006/relationships/slide" Target="slides/slide148.xml"/><Relationship Id="rId161" Type="http://schemas.openxmlformats.org/officeDocument/2006/relationships/slide" Target="slides/slide149.xml"/><Relationship Id="rId162" Type="http://schemas.openxmlformats.org/officeDocument/2006/relationships/slide" Target="slides/slide150.xml"/><Relationship Id="rId163" Type="http://schemas.openxmlformats.org/officeDocument/2006/relationships/slide" Target="slides/slide1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EC"/>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EC"/>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EC"/>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5"/>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447817" y="599725"/>
            <a:ext cx="11290859" cy="3557252"/>
          </a:xfrm>
          <a:prstGeom prst="rect">
            <a:avLst/>
          </a:prstGeom>
          <a:noFill/>
          <a:ln>
            <a:noFill/>
          </a:ln>
        </p:spPr>
        <p:txBody>
          <a:bodyPr/>
          <a:lstStyle/>
          <a:p>
            <a:endParaRPr lang="es-EC"/>
          </a:p>
        </p:txBody>
      </p:sp>
      <p:sp>
        <p:nvSpPr>
          <p:cNvPr id="74" name="Google Shape;74;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jpg"/><Relationship Id="rId3" Type="http://schemas.openxmlformats.org/officeDocument/2006/relationships/image" Target="../media/image80.jpg"/><Relationship Id="rId4" Type="http://schemas.openxmlformats.org/officeDocument/2006/relationships/image" Target="../media/image81.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4.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5.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ctrTitle"/>
          </p:nvPr>
        </p:nvSpPr>
        <p:spPr>
          <a:xfrm>
            <a:off x="599226" y="3158569"/>
            <a:ext cx="10993549" cy="1578409"/>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3600"/>
              <a:buFont typeface="Gill Sans"/>
              <a:buNone/>
            </a:pPr>
            <a:r>
              <a:rPr lang="es-ES">
                <a:solidFill>
                  <a:schemeClr val="lt1"/>
                </a:solidFill>
              </a:rPr>
              <a:t>MANUAL</a:t>
            </a:r>
            <a:br>
              <a:rPr lang="es-ES">
                <a:solidFill>
                  <a:schemeClr val="lt1"/>
                </a:solidFill>
              </a:rPr>
            </a:br>
            <a:r>
              <a:rPr lang="es-ES">
                <a:solidFill>
                  <a:schemeClr val="lt1"/>
                </a:solidFill>
              </a:rPr>
              <a:t>CONVERSION UNIDADES SOAP DOTNET</a:t>
            </a:r>
            <a:endParaRPr/>
          </a:p>
        </p:txBody>
      </p:sp>
      <p:sp>
        <p:nvSpPr>
          <p:cNvPr id="97" name="Google Shape;97;p13"/>
          <p:cNvSpPr txBox="1">
            <a:spLocks noGrp="1"/>
          </p:cNvSpPr>
          <p:nvPr>
            <p:ph type="subTitle" idx="1"/>
          </p:nvPr>
        </p:nvSpPr>
        <p:spPr>
          <a:xfrm>
            <a:off x="599226" y="4572000"/>
            <a:ext cx="4261500" cy="1812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472"/>
              <a:buFont typeface="Arial"/>
              <a:buNone/>
            </a:pPr>
            <a:endParaRPr b="1" dirty="0">
              <a:solidFill>
                <a:schemeClr val="lt1"/>
              </a:solidFill>
            </a:endParaRPr>
          </a:p>
          <a:p>
            <a:pPr marL="0" lvl="0" indent="0" algn="l" rtl="0">
              <a:spcBef>
                <a:spcPts val="920"/>
              </a:spcBef>
              <a:spcAft>
                <a:spcPts val="0"/>
              </a:spcAft>
              <a:buClr>
                <a:schemeClr val="dk1"/>
              </a:buClr>
              <a:buSzPts val="1472"/>
              <a:buFont typeface="Arial"/>
              <a:buNone/>
            </a:pPr>
            <a:r>
              <a:rPr lang="es-ES" b="1" dirty="0">
                <a:solidFill>
                  <a:schemeClr val="lt1"/>
                </a:solidFill>
              </a:rPr>
              <a:t>INTEGRANTES:</a:t>
            </a:r>
            <a:r>
              <a:rPr lang="es-ES" dirty="0">
                <a:solidFill>
                  <a:schemeClr val="lt1"/>
                </a:solidFill>
              </a:rPr>
              <a:t> 	GUALLICHICO JOSUE</a:t>
            </a:r>
          </a:p>
          <a:p>
            <a:pPr marL="0" lvl="0" indent="0" algn="l" rtl="0">
              <a:spcBef>
                <a:spcPts val="920"/>
              </a:spcBef>
              <a:spcAft>
                <a:spcPts val="0"/>
              </a:spcAft>
              <a:buClr>
                <a:schemeClr val="dk1"/>
              </a:buClr>
              <a:buSzPts val="1472"/>
              <a:buFont typeface="Arial"/>
              <a:buNone/>
            </a:pPr>
            <a:r>
              <a:rPr lang="es-ES" dirty="0">
                <a:solidFill>
                  <a:schemeClr val="lt1"/>
                </a:solidFill>
              </a:rPr>
              <a:t>		GRANDA JUAN</a:t>
            </a:r>
          </a:p>
          <a:p>
            <a:pPr marL="0" lvl="0" indent="0" algn="l" rtl="0">
              <a:spcBef>
                <a:spcPts val="920"/>
              </a:spcBef>
              <a:spcAft>
                <a:spcPts val="0"/>
              </a:spcAft>
              <a:buClr>
                <a:schemeClr val="dk1"/>
              </a:buClr>
              <a:buSzPts val="1472"/>
              <a:buFont typeface="Arial"/>
              <a:buNone/>
            </a:pPr>
            <a:r>
              <a:rPr lang="es-ES" dirty="0">
                <a:solidFill>
                  <a:schemeClr val="lt1"/>
                </a:solidFill>
              </a:rPr>
              <a:t>		ASMAL KEVIN </a:t>
            </a:r>
            <a:endParaRPr b="1" dirty="0">
              <a:solidFill>
                <a:schemeClr val="lt1"/>
              </a:solidFill>
            </a:endParaRPr>
          </a:p>
        </p:txBody>
      </p:sp>
      <p:pic>
        <p:nvPicPr>
          <p:cNvPr id="98" name="Google Shape;98;p13"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FECHA:  25/10/202</a:t>
            </a:r>
            <a:r>
              <a:rPr lang="es-ES" sz="1600" b="1" dirty="0">
                <a:solidFill>
                  <a:srgbClr val="FFFFFF"/>
                </a:solidFill>
                <a:latin typeface="Gill Sans"/>
                <a:ea typeface="Gill Sans"/>
                <a:cs typeface="Gill Sans"/>
                <a:sym typeface="Gill Sans"/>
              </a:rPr>
              <a:t>6</a:t>
            </a:r>
            <a:endParaRPr sz="1600" b="0" i="0" u="none" strike="noStrike" cap="none" dirty="0">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ING: </a:t>
            </a:r>
            <a:r>
              <a:rPr lang="es-ES" sz="1600" b="0" i="0" u="none" strike="noStrike" cap="none" dirty="0">
                <a:solidFill>
                  <a:srgbClr val="FFFFFF"/>
                </a:solidFill>
                <a:latin typeface="Gill Sans"/>
                <a:ea typeface="Gill Sans"/>
                <a:cs typeface="Gill Sans"/>
                <a:sym typeface="Gill Sans"/>
              </a:rPr>
              <a:t>CAMPAÑA MAURICIO</a:t>
            </a:r>
            <a:endParaRPr sz="1600" b="1" i="0" u="none" strike="noStrike" cap="none" dirty="0">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14"/>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lnSpcReduction="10000"/>
          </a:bodyPr>
          <a:lstStyle/>
          <a:p>
            <a:pPr marL="306000" lvl="0" indent="-306000" algn="l" rtl="0">
              <a:lnSpc>
                <a:spcPct val="100000"/>
              </a:lnSpc>
              <a:spcBef>
                <a:spcPts val="0"/>
              </a:spcBef>
              <a:spcAft>
                <a:spcPts val="0"/>
              </a:spcAft>
              <a:buSzPts val="1656"/>
              <a:buChar char="◼"/>
            </a:pPr>
            <a:r>
              <a:rPr lang="es-ES">
                <a:solidFill>
                  <a:schemeClr val="lt1"/>
                </a:solidFill>
              </a:rPr>
              <a:t>DESARROLLO</a:t>
            </a:r>
            <a:endParaRPr/>
          </a:p>
          <a:p>
            <a:pPr marL="630000" lvl="1" indent="-320020" algn="l" rtl="0">
              <a:lnSpc>
                <a:spcPct val="100000"/>
              </a:lnSpc>
              <a:spcBef>
                <a:spcPts val="872"/>
              </a:spcBef>
              <a:spcAft>
                <a:spcPts val="0"/>
              </a:spcAft>
              <a:buSzPts val="1472"/>
              <a:buChar char="◼"/>
            </a:pPr>
            <a:r>
              <a:rPr lang="es-ES">
                <a:solidFill>
                  <a:schemeClr val="lt1"/>
                </a:solidFill>
              </a:rPr>
              <a:t>OBJETIVO</a:t>
            </a:r>
            <a:endParaRPr/>
          </a:p>
          <a:p>
            <a:pPr marL="630000" lvl="1" indent="-320020" algn="l" rtl="0">
              <a:lnSpc>
                <a:spcPct val="100000"/>
              </a:lnSpc>
              <a:spcBef>
                <a:spcPts val="872"/>
              </a:spcBef>
              <a:spcAft>
                <a:spcPts val="0"/>
              </a:spcAft>
              <a:buSzPts val="1472"/>
              <a:buChar char="◼"/>
            </a:pPr>
            <a:r>
              <a:rPr lang="es-ES">
                <a:solidFill>
                  <a:schemeClr val="lt1"/>
                </a:solidFill>
              </a:rPr>
              <a:t>CREACIÓN DEL SERVIDOR SOAP</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CONSOLA</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ESCRITORIO</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WEB</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MÓVIL</a:t>
            </a:r>
            <a:endParaRPr/>
          </a:p>
          <a:p>
            <a:pPr marL="630000" lvl="1" indent="-320020" algn="l" rtl="0">
              <a:lnSpc>
                <a:spcPct val="100000"/>
              </a:lnSpc>
              <a:spcBef>
                <a:spcPts val="872"/>
              </a:spcBef>
              <a:spcAft>
                <a:spcPts val="0"/>
              </a:spcAft>
              <a:buSzPts val="1472"/>
              <a:buChar char="◼"/>
            </a:pPr>
            <a:r>
              <a:rPr lang="es-ES" sz="1800">
                <a:solidFill>
                  <a:schemeClr val="lt1"/>
                </a:solidFill>
              </a:rPr>
              <a:t>FUNCIONAMIENTO DEL SISTEMA</a:t>
            </a:r>
            <a:endParaRPr/>
          </a:p>
          <a:p>
            <a:pPr marL="306000" marR="0" lvl="0" indent="-306000" algn="l" rtl="0">
              <a:lnSpc>
                <a:spcPct val="100000"/>
              </a:lnSpc>
              <a:spcBef>
                <a:spcPts val="906"/>
              </a:spcBef>
              <a:spcAft>
                <a:spcPts val="0"/>
              </a:spcAft>
              <a:buSzPts val="1656"/>
              <a:buChar char="◼"/>
            </a:pPr>
            <a:r>
              <a:rPr lang="es-ES">
                <a:solidFill>
                  <a:schemeClr val="lt1"/>
                </a:solidFill>
              </a:rPr>
              <a:t>CONCLUSIONES</a:t>
            </a:r>
            <a:endParaRPr/>
          </a:p>
          <a:p>
            <a:pPr marL="306000" marR="0" lvl="0" indent="-306000" algn="l" rtl="0">
              <a:lnSpc>
                <a:spcPct val="100000"/>
              </a:lnSpc>
              <a:spcBef>
                <a:spcPts val="906"/>
              </a:spcBef>
              <a:spcAft>
                <a:spcPts val="0"/>
              </a:spcAft>
              <a:buSzPts val="1656"/>
              <a:buChar char="◼"/>
            </a:pPr>
            <a:r>
              <a:rPr lang="es-ES">
                <a:solidFill>
                  <a:schemeClr val="lt1"/>
                </a:solidFill>
              </a:rPr>
              <a:t>RECOMENDACIONES</a:t>
            </a:r>
            <a:endParaRPr/>
          </a:p>
        </p:txBody>
      </p:sp>
      <p:pic>
        <p:nvPicPr>
          <p:cNvPr id="108" name="Google Shape;108;p14"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2765856"/>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1.1  Objetivo general</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800">
                <a:latin typeface="Cambria"/>
                <a:ea typeface="Cambria"/>
                <a:cs typeface="Cambria"/>
                <a:sym typeface="Cambria"/>
              </a:rPr>
              <a:t>Desarrollar un manual de documentación técnica que detalle el diseño e implementación de un sistema de conversión de magnitudes (masa, temperatura y longitud) bajo una Arquitectura Orientada a Servicios (SOA), integrando un módulo de seguridad para la autenticación mediante tokens en cabeceras SOAP.</a:t>
            </a:r>
            <a:endParaRPr sz="1800">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800">
                <a:latin typeface="Cambria"/>
                <a:ea typeface="Cambria"/>
                <a:cs typeface="Cambria"/>
                <a:sym typeface="Cambria"/>
              </a:rPr>
              <a:t>Se garantiza la interoperabilidad entre un servidor WCF (.NET Framework) alojado en IIS y múltiples clientes heterogéneos: Escritorio, Móvil (Android), Web (.NET) y Consola.</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295087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1.1  Objetivos específicos</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Describir el diseño e implementación del servicio web con WCF: contratos de servicio, lógica de conversiones y despliegue en IIS con publicación del WSDL.</a:t>
            </a:r>
            <a:endParaRPr sz="1600">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Proporcionar guías técnicas para consumir el servicio SOAP en las distintas plataformas cliente, generando los proxies e inyectando el token en las cabeceras SOAP.</a:t>
            </a:r>
            <a:endParaRPr sz="1600">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Explicar la configuración de IIS y del Web.config (endpoints, bindings, permisos y firewall) para garantizar la disponibilidad del servicio en la red local.</a:t>
            </a:r>
            <a:endParaRPr sz="1600">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Analizar la arquitectura SOA y la separación de responsabilidades (mapeadores, servicios, utilidades y controladores) para facilitar el mantenimiento y la escalabilidad.</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417726"/>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1: Creación del proyecto</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En Visual Studio, al crear un nuevo proyecto se debe buscar la plantilla Aplicación de servicios WCF (WCF Service Application) basada en .NET Framework, ya que proporciona las herramientas nativas para gestionar el ciclo de vida de los mensajes SOAP.</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2.png"/>
          <p:cNvPicPr>
            <a:picLocks noChangeAspect="1"/>
          </p:cNvPicPr>
          <p:nvPr/>
        </p:nvPicPr>
        <p:blipFill>
          <a:blip r:embed="rId2"/>
          <a:stretch>
            <a:fillRect/>
          </a:stretch>
        </p:blipFill>
        <p:spPr>
          <a:xfrm>
            <a:off x="2265367" y="3467726"/>
            <a:ext cx="5220456" cy="3132274"/>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2: Nombramiento del proyecto</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Una vez seleccionada la plantilla, se asigna el nombre del proyecto. Para mantener el estándar de la arquitectura, se nombra como WS_ConversionUnidades_Donet_GR8.</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3.png"/>
          <p:cNvPicPr>
            <a:picLocks noChangeAspect="1"/>
          </p:cNvPicPr>
          <p:nvPr/>
        </p:nvPicPr>
        <p:blipFill>
          <a:blip r:embed="rId2"/>
          <a:stretch>
            <a:fillRect/>
          </a:stretch>
        </p:blipFill>
        <p:spPr>
          <a:xfrm>
            <a:off x="1854403" y="3206817"/>
            <a:ext cx="6042385" cy="3393183"/>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2900000" cy="3345179"/>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7000"/>
              </a:lnSpc>
              <a:spcBef>
                <a:spcPts val="0"/>
              </a:spcBef>
              <a:spcAft>
                <a:spcPts val="0"/>
              </a:spcAft>
              <a:buSzPts val="1785"/>
              <a:buChar char="∙"/>
            </a:pPr>
            <a:r>
              <a:rPr lang="es-ES" sz="1800" b="1">
                <a:latin typeface="Cambria"/>
                <a:ea typeface="Cambria"/>
                <a:cs typeface="Cambria"/>
                <a:sym typeface="Cambria"/>
              </a:rPr>
              <a:t>Paso 3: Estructuración del proyecto</a:t>
            </a:r>
            <a:endParaRPr sz="1800" b="1">
              <a:latin typeface="Cambria"/>
              <a:ea typeface="Cambria"/>
              <a:cs typeface="Cambria"/>
              <a:sym typeface="Cambria"/>
            </a:endParaRPr>
          </a:p>
          <a:p>
            <a:pPr marL="342900" marR="0" lvl="0" indent="-342900" algn="l" rtl="0">
              <a:lnSpc>
                <a:spcPct val="107000"/>
              </a:lnSpc>
              <a:spcBef>
                <a:spcPts val="600"/>
              </a:spcBef>
              <a:spcAft>
                <a:spcPts val="0"/>
              </a:spcAft>
              <a:buSzPts val="1656"/>
              <a:buFont typeface="Noto Sans Symbols"/>
              <a:buChar char="∙"/>
            </a:pPr>
            <a:r>
              <a:rPr lang="es-ES" sz="1500">
                <a:latin typeface="Cambria"/>
                <a:ea typeface="Cambria"/>
                <a:cs typeface="Cambria"/>
                <a:sym typeface="Cambria"/>
              </a:rPr>
              <a:t>Una vez generado el proyecto, se segmenta el sistema bajo una Arquitectura Orientada a Servicios (SOA) con bajo acoplamiento. Se crean las carpetas para separar responsabilidades: controlador, dto, seguridad, servicios, pruebas, modelo y webservicio.</a:t>
            </a:r>
            <a:endParaRPr sz="15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4.png"/>
          <p:cNvPicPr>
            <a:picLocks noChangeAspect="1"/>
          </p:cNvPicPr>
          <p:nvPr/>
        </p:nvPicPr>
        <p:blipFill>
          <a:blip r:embed="rId2"/>
          <a:stretch>
            <a:fillRect/>
          </a:stretch>
        </p:blipFill>
        <p:spPr>
          <a:xfrm>
            <a:off x="4696274" y="1950000"/>
            <a:ext cx="3408643" cy="4650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4: Definición del contrato de servicio (interfaz)</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En WCF es obligatorio definir un Contrato de Servicio. En la carpeta servicios se crea la interfaz IWSConversorUnidades.cs con [ServiceContract] y [OperationContract].</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3186817"/>
            <a:ext cx="8288808" cy="2372360"/>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using System.ServiceModel;</a:t>
            </a:r>
          </a:p>
          <a:p>
            <a:r>
              <a:rPr sz="1200">
                <a:solidFill>
                  <a:srgbClr val="000000"/>
                </a:solidFill>
                <a:latin typeface="Courier New"/>
              </a:rPr>
              <a:t>using WS_ConversionUnidades_Donet_GR8.dto;</a:t>
            </a:r>
          </a:p>
          <a:p>
            <a:r>
              <a:rPr sz="1200">
                <a:solidFill>
                  <a:srgbClr val="000000"/>
                </a:solidFill>
                <a:latin typeface="Courier New"/>
              </a:rPr>
              <a:t> </a:t>
            </a:r>
          </a:p>
          <a:p>
            <a:r>
              <a:rPr sz="1200">
                <a:solidFill>
                  <a:srgbClr val="000000"/>
                </a:solidFill>
                <a:latin typeface="Courier New"/>
              </a:rPr>
              <a:t>namespace WS_ConversionUnidades_Donet_GR8.webservicio</a:t>
            </a:r>
          </a:p>
          <a:p>
            <a:r>
              <a:rPr sz="1200">
                <a:solidFill>
                  <a:srgbClr val="000000"/>
                </a:solidFill>
                <a:latin typeface="Courier New"/>
              </a:rPr>
              <a:t>{</a:t>
            </a:r>
          </a:p>
          <a:p>
            <a:r>
              <a:rPr sz="1200">
                <a:solidFill>
                  <a:srgbClr val="000000"/>
                </a:solidFill>
                <a:latin typeface="Courier New"/>
              </a:rPr>
              <a:t>    [ServiceContract]</a:t>
            </a:r>
          </a:p>
          <a:p>
            <a:r>
              <a:rPr sz="1200">
                <a:solidFill>
                  <a:srgbClr val="000000"/>
                </a:solidFill>
                <a:latin typeface="Courier New"/>
              </a:rPr>
              <a:t>    public interface IWSConversorUnidades</a:t>
            </a:r>
          </a:p>
          <a:p>
            <a:r>
              <a:rPr sz="1200">
                <a:solidFill>
                  <a:srgbClr val="000000"/>
                </a:solidFill>
                <a:latin typeface="Courier New"/>
              </a:rPr>
              <a:t>    {</a:t>
            </a:r>
          </a:p>
          <a:p>
            <a:r>
              <a:rPr sz="1200">
                <a:solidFill>
                  <a:srgbClr val="000000"/>
                </a:solidFill>
                <a:latin typeface="Courier New"/>
              </a:rPr>
              <a:t>        [OperationContract(Name = "convertir-unidades")]</a:t>
            </a:r>
          </a:p>
          <a:p>
            <a:r>
              <a:rPr sz="1200">
                <a:solidFill>
                  <a:srgbClr val="000000"/>
                </a:solidFill>
                <a:latin typeface="Courier New"/>
              </a:rPr>
              <a:t>        double convertirUnidades(ConversionDTO peticionConversion);</a:t>
            </a:r>
          </a:p>
          <a:p>
            <a:r>
              <a:rPr sz="1200">
                <a:solidFill>
                  <a:srgbClr val="000000"/>
                </a:solidFill>
                <a:latin typeface="Courier New"/>
              </a:rPr>
              <a:t>    }</a:t>
            </a:r>
          </a:p>
          <a:p>
            <a:r>
              <a:rPr sz="1200">
                <a:solidFill>
                  <a:srgbClr val="000000"/>
                </a:solidFill>
                <a:latin typeface="Courier New"/>
              </a:rPr>
              <a: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95908"/>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5: Implementación del servicio</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El archivo .svc.cs implementa la interfaz y delega el trabajo al controlador.</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925908"/>
            <a:ext cx="8288808" cy="3225800"/>
          </a:xfrm>
          <a:prstGeom prst="rect">
            <a:avLst/>
          </a:prstGeom>
          <a:solidFill>
            <a:srgbClr val="FFFFFF"/>
          </a:solidFill>
          <a:ln w="12700">
            <a:solidFill>
              <a:srgbClr val="404040"/>
            </a:solidFill>
          </a:ln>
        </p:spPr>
        <p:txBody>
          <a:bodyPr wrap="square" anchor="t">
            <a:noAutofit/>
          </a:bodyPr>
          <a:lstStyle/>
          <a:p>
            <a:r>
              <a:rPr sz="1000">
                <a:solidFill>
                  <a:srgbClr val="000000"/>
                </a:solidFill>
                <a:latin typeface="Courier New"/>
              </a:rPr>
              <a:t>using System.ServiceModel;</a:t>
            </a:r>
          </a:p>
          <a:p>
            <a:r>
              <a:rPr sz="1000">
                <a:solidFill>
                  <a:srgbClr val="000000"/>
                </a:solidFill>
                <a:latin typeface="Courier New"/>
              </a:rPr>
              <a:t>using WS_ConversionUnidades_Donet_GR8.controlador;</a:t>
            </a:r>
          </a:p>
          <a:p>
            <a:r>
              <a:rPr sz="1000">
                <a:solidFill>
                  <a:srgbClr val="000000"/>
                </a:solidFill>
                <a:latin typeface="Courier New"/>
              </a:rPr>
              <a:t>using WS_ConversionUnidades_Donet_GR8.dto;</a:t>
            </a:r>
          </a:p>
          <a:p>
            <a:r>
              <a:rPr sz="1000">
                <a:solidFill>
                  <a:srgbClr val="000000"/>
                </a:solidFill>
                <a:latin typeface="Courier New"/>
              </a:rPr>
              <a:t>using WS_ConversionUnidades_Donet_GR8.seguridad;</a:t>
            </a:r>
          </a:p>
          <a:p>
            <a:r>
              <a:rPr sz="1000">
                <a:solidFill>
                  <a:srgbClr val="000000"/>
                </a:solidFill>
                <a:latin typeface="Courier New"/>
              </a:rPr>
              <a:t> </a:t>
            </a:r>
          </a:p>
          <a:p>
            <a:r>
              <a:rPr sz="1000">
                <a:solidFill>
                  <a:srgbClr val="000000"/>
                </a:solidFill>
                <a:latin typeface="Courier New"/>
              </a:rPr>
              <a:t>namespace WS_ConversionUnidades_Donet_GR8.webservicio</a:t>
            </a:r>
          </a:p>
          <a:p>
            <a:r>
              <a:rPr sz="1000">
                <a:solidFill>
                  <a:srgbClr val="000000"/>
                </a:solidFill>
                <a:latin typeface="Courier New"/>
              </a:rPr>
              <a:t>{</a:t>
            </a:r>
          </a:p>
          <a:p>
            <a:r>
              <a:rPr sz="1000">
                <a:solidFill>
                  <a:srgbClr val="000000"/>
                </a:solidFill>
                <a:latin typeface="Courier New"/>
              </a:rPr>
              <a:t>    // ValidadorTokenBehavior intercepta las peticiones y valida el Token del Header automáticamente</a:t>
            </a:r>
          </a:p>
          <a:p>
            <a:r>
              <a:rPr sz="1000">
                <a:solidFill>
                  <a:srgbClr val="000000"/>
                </a:solidFill>
                <a:latin typeface="Courier New"/>
              </a:rPr>
              <a:t>    [ValidadorTokenBehavior]</a:t>
            </a:r>
          </a:p>
          <a:p>
            <a:r>
              <a:rPr sz="1000">
                <a:solidFill>
                  <a:srgbClr val="000000"/>
                </a:solidFill>
                <a:latin typeface="Courier New"/>
              </a:rPr>
              <a:t>    public class WSConversorUnidades : IWSConversorUnidades</a:t>
            </a:r>
          </a:p>
          <a:p>
            <a:r>
              <a:rPr sz="1000">
                <a:solidFill>
                  <a:srgbClr val="000000"/>
                </a:solidFill>
                <a:latin typeface="Courier New"/>
              </a:rPr>
              <a:t>    {</a:t>
            </a:r>
          </a:p>
          <a:p>
            <a:r>
              <a:rPr sz="1000">
                <a:solidFill>
                  <a:srgbClr val="000000"/>
                </a:solidFill>
                <a:latin typeface="Courier New"/>
              </a:rPr>
              <a:t>        private readonly ConversorUnidadesControlador controlador = new ConversorUnidadesControlador();</a:t>
            </a:r>
          </a:p>
          <a:p>
            <a:r>
              <a:rPr sz="1000">
                <a:solidFill>
                  <a:srgbClr val="000000"/>
                </a:solidFill>
                <a:latin typeface="Courier New"/>
              </a:rPr>
              <a:t> </a:t>
            </a:r>
          </a:p>
          <a:p>
            <a:r>
              <a:rPr sz="1000">
                <a:solidFill>
                  <a:srgbClr val="000000"/>
                </a:solidFill>
                <a:latin typeface="Courier New"/>
              </a:rPr>
              <a:t>        public double convertirUnidades(ConversionDTO peticionConversion)</a:t>
            </a:r>
          </a:p>
          <a:p>
            <a:r>
              <a:rPr sz="1000">
                <a:solidFill>
                  <a:srgbClr val="000000"/>
                </a:solidFill>
                <a:latin typeface="Courier New"/>
              </a:rPr>
              <a:t>        {</a:t>
            </a:r>
          </a:p>
          <a:p>
            <a:r>
              <a:rPr sz="1000">
                <a:solidFill>
                  <a:srgbClr val="000000"/>
                </a:solidFill>
                <a:latin typeface="Courier New"/>
              </a:rPr>
              <a:t>            // Retorna el resultado evaluando si es nulo (devuelve 0.0 por seguridad)</a:t>
            </a:r>
          </a:p>
          <a:p>
            <a:r>
              <a:rPr sz="1000">
                <a:solidFill>
                  <a:srgbClr val="000000"/>
                </a:solidFill>
                <a:latin typeface="Courier New"/>
              </a:rPr>
              <a:t>            return controlador.conversor(peticionConversion) ?? 0.0;</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747926"/>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6: Configuración de los inspectores de seguridad (Headers SOAP)</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El token viaja dentro del Header XML de SOAP. Los inspectores en la carpeta seguridad/ (ValidadorTokenInspector.cs y ValidadorTokenBehavior.cs) leen cada petición antes de llegar al código de conversión.</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5.png"/>
          <p:cNvPicPr>
            <a:picLocks noChangeAspect="1"/>
          </p:cNvPicPr>
          <p:nvPr/>
        </p:nvPicPr>
        <p:blipFill>
          <a:blip r:embed="rId2"/>
          <a:stretch>
            <a:fillRect/>
          </a:stretch>
        </p:blipFill>
        <p:spPr>
          <a:xfrm>
            <a:off x="2285944" y="3797926"/>
            <a:ext cx="5179302" cy="2802074"/>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95908"/>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6: Inspectores de seguridad (continuación)</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Verifican mediante el AdministradorTokens que las credenciales sean válidas.</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6.png"/>
          <p:cNvPicPr>
            <a:picLocks noChangeAspect="1"/>
          </p:cNvPicPr>
          <p:nvPr/>
        </p:nvPicPr>
        <p:blipFill>
          <a:blip r:embed="rId2"/>
          <a:stretch>
            <a:fillRect/>
          </a:stretch>
        </p:blipFill>
        <p:spPr>
          <a:xfrm>
            <a:off x="959955" y="2945908"/>
            <a:ext cx="7831280" cy="3654092"/>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7: Lógica de negocio central – ConversorLongitud (1/2)</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La lógica matemática no recae en el servicio: se aísla en clases de conversión que implementan IConversor para garantizar el polimorfismo.</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3186817"/>
            <a:ext cx="8288808" cy="3103879"/>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using System;</a:t>
            </a:r>
          </a:p>
          <a:p>
            <a:r>
              <a:rPr sz="1200">
                <a:solidFill>
                  <a:srgbClr val="000000"/>
                </a:solidFill>
                <a:latin typeface="Courier New"/>
              </a:rPr>
              <a:t>using System.Collections.Generic;</a:t>
            </a:r>
          </a:p>
          <a:p>
            <a:r>
              <a:rPr sz="1200">
                <a:solidFill>
                  <a:srgbClr val="000000"/>
                </a:solidFill>
                <a:latin typeface="Courier New"/>
              </a:rPr>
              <a:t>using ec.edu.monster.Utilidades.Enums;</a:t>
            </a:r>
          </a:p>
          <a:p>
            <a:r>
              <a:rPr sz="1200">
                <a:solidFill>
                  <a:srgbClr val="000000"/>
                </a:solidFill>
                <a:latin typeface="Courier New"/>
              </a:rPr>
              <a:t> </a:t>
            </a:r>
          </a:p>
          <a:p>
            <a:r>
              <a:rPr sz="1200">
                <a:solidFill>
                  <a:srgbClr val="000000"/>
                </a:solidFill>
                <a:latin typeface="Courier New"/>
              </a:rPr>
              <a:t>namespace ec.edu.monster.Utilidades</a:t>
            </a:r>
          </a:p>
          <a:p>
            <a:r>
              <a:rPr sz="1200">
                <a:solidFill>
                  <a:srgbClr val="000000"/>
                </a:solidFill>
                <a:latin typeface="Courier New"/>
              </a:rPr>
              <a:t>{</a:t>
            </a:r>
          </a:p>
          <a:p>
            <a:r>
              <a:rPr sz="1200">
                <a:solidFill>
                  <a:srgbClr val="000000"/>
                </a:solidFill>
                <a:latin typeface="Courier New"/>
              </a:rPr>
              <a:t>    public class ConversorLongitud : IConversor&lt;UnidadLongitud&gt;</a:t>
            </a:r>
          </a:p>
          <a:p>
            <a:r>
              <a:rPr sz="1200">
                <a:solidFill>
                  <a:srgbClr val="000000"/>
                </a:solidFill>
                <a:latin typeface="Courier New"/>
              </a:rPr>
              <a:t>    {</a:t>
            </a:r>
          </a:p>
          <a:p>
            <a:r>
              <a:rPr sz="1200">
                <a:solidFill>
                  <a:srgbClr val="000000"/>
                </a:solidFill>
                <a:latin typeface="Courier New"/>
              </a:rPr>
              <a:t>        private static readonly Dictionary&lt;UnidadLongitud, double&gt; Factores =</a:t>
            </a:r>
          </a:p>
          <a:p>
            <a:r>
              <a:rPr sz="1200">
                <a:solidFill>
                  <a:srgbClr val="000000"/>
                </a:solidFill>
                <a:latin typeface="Courier New"/>
              </a:rPr>
              <a:t>            new Dictionary&lt;UnidadLongitud, double&gt;</a:t>
            </a:r>
          </a:p>
          <a:p>
            <a:r>
              <a:rPr sz="1200">
                <a:solidFill>
                  <a:srgbClr val="000000"/>
                </a:solidFill>
                <a:latin typeface="Courier New"/>
              </a:rPr>
              <a:t>            {</a:t>
            </a:r>
          </a:p>
          <a:p>
            <a:r>
              <a:rPr sz="1200">
                <a:solidFill>
                  <a:srgbClr val="000000"/>
                </a:solidFill>
                <a:latin typeface="Courier New"/>
              </a:rPr>
              <a:t>                { UnidadLongitud.MILIMETRO, 0.001 },</a:t>
            </a:r>
          </a:p>
          <a:p>
            <a:r>
              <a:rPr sz="1200">
                <a:solidFill>
                  <a:srgbClr val="000000"/>
                </a:solidFill>
                <a:latin typeface="Courier New"/>
              </a:rPr>
              <a:t>                { UnidadLongitud.CENTIMETRO, 0.01 },</a:t>
            </a:r>
          </a:p>
          <a:p>
            <a:r>
              <a:rPr sz="1200">
                <a:solidFill>
                  <a:srgbClr val="000000"/>
                </a:solidFill>
                <a:latin typeface="Courier New"/>
              </a:rPr>
              <a:t>                { UnidadLongitud.METRO, 1.0 },</a:t>
            </a:r>
          </a:p>
          <a:p>
            <a:r>
              <a:rPr sz="1200">
                <a:solidFill>
                  <a:srgbClr val="000000"/>
                </a:solidFill>
                <a:latin typeface="Courier New"/>
              </a:rPr>
              <a:t>                { UnidadLongitud.KILOMETRO, 1000.0 },</a:t>
            </a:r>
          </a:p>
          <a:p>
            <a:r>
              <a:rPr sz="1200">
                <a:solidFill>
                  <a:srgbClr val="000000"/>
                </a:solidFill>
                <a:latin typeface="Courier New"/>
              </a:rPr>
              <a:t>                { UnidadLongitud.YARDA, 0.9144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7: Lógica de negocio central – ConversorLongitud (2/2)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103879"/>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            };</a:t>
            </a:r>
          </a:p>
          <a:p>
            <a:r>
              <a:rPr sz="1200">
                <a:solidFill>
                  <a:srgbClr val="000000"/>
                </a:solidFill>
                <a:latin typeface="Courier New"/>
              </a:rPr>
              <a:t> </a:t>
            </a:r>
          </a:p>
          <a:p>
            <a:r>
              <a:rPr sz="1200">
                <a:solidFill>
                  <a:srgbClr val="000000"/>
                </a:solidFill>
                <a:latin typeface="Courier New"/>
              </a:rPr>
              <a:t>        public double Convertir(double valor, UnidadLongitud unidadOrigen, UnidadLongitud unidadFinal)</a:t>
            </a:r>
          </a:p>
          <a:p>
            <a:r>
              <a:rPr sz="1200">
                <a:solidFill>
                  <a:srgbClr val="000000"/>
                </a:solidFill>
                <a:latin typeface="Courier New"/>
              </a:rPr>
              <a:t>        {</a:t>
            </a:r>
          </a:p>
          <a:p>
            <a:r>
              <a:rPr sz="1200">
                <a:solidFill>
                  <a:srgbClr val="000000"/>
                </a:solidFill>
                <a:latin typeface="Courier New"/>
              </a:rPr>
              <a:t>            if (!Factores.ContainsKey(unidadOrigen) || !Factores.ContainsKey(unidadFinal))</a:t>
            </a:r>
          </a:p>
          <a:p>
            <a:r>
              <a:rPr sz="1200">
                <a:solidFill>
                  <a:srgbClr val="000000"/>
                </a:solidFill>
                <a:latin typeface="Courier New"/>
              </a:rPr>
              <a:t>            {</a:t>
            </a:r>
          </a:p>
          <a:p>
            <a:r>
              <a:rPr sz="1200">
                <a:solidFill>
                  <a:srgbClr val="000000"/>
                </a:solidFill>
                <a:latin typeface="Courier New"/>
              </a:rPr>
              <a:t>                throw new ArgumentException("Unidad no soportada");</a:t>
            </a:r>
          </a:p>
          <a:p>
            <a:r>
              <a:rPr sz="1200">
                <a:solidFill>
                  <a:srgbClr val="000000"/>
                </a:solidFill>
                <a:latin typeface="Courier New"/>
              </a:rPr>
              <a:t>            }</a:t>
            </a:r>
          </a:p>
          <a:p>
            <a:r>
              <a:rPr sz="1200">
                <a:solidFill>
                  <a:srgbClr val="000000"/>
                </a:solidFill>
                <a:latin typeface="Courier New"/>
              </a:rPr>
              <a:t> </a:t>
            </a:r>
          </a:p>
          <a:p>
            <a:r>
              <a:rPr sz="1200">
                <a:solidFill>
                  <a:srgbClr val="000000"/>
                </a:solidFill>
                <a:latin typeface="Courier New"/>
              </a:rPr>
              <a:t>            var valorEnBase = valor * Factores[unidadOrigen];</a:t>
            </a:r>
          </a:p>
          <a:p>
            <a:r>
              <a:rPr sz="1200">
                <a:solidFill>
                  <a:srgbClr val="000000"/>
                </a:solidFill>
                <a:latin typeface="Courier New"/>
              </a:rPr>
              <a:t>            return valorEnBase / Factores[unidadFinal];</a:t>
            </a:r>
          </a:p>
          <a:p>
            <a:r>
              <a:rPr sz="1200">
                <a:solidFill>
                  <a:srgbClr val="000000"/>
                </a:solidFill>
                <a:latin typeface="Courier New"/>
              </a:rPr>
              <a:t>        }</a:t>
            </a:r>
          </a:p>
          <a:p>
            <a:r>
              <a:rPr sz="1200">
                <a:solidFill>
                  <a:srgbClr val="000000"/>
                </a:solidFill>
                <a:latin typeface="Courier New"/>
              </a:rPr>
              <a:t>    }</a:t>
            </a:r>
          </a:p>
          <a:p>
            <a:r>
              <a:rPr sz="1200">
                <a:solidFill>
                  <a:srgbClr val="000000"/>
                </a:solidFill>
                <a:latin typeface="Courier New"/>
              </a:rPr>
              <a: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7: Lógica de negocio – AutenticadorServicio (1/2)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530600"/>
          </a:xfrm>
          <a:prstGeom prst="rect">
            <a:avLst/>
          </a:prstGeom>
          <a:solidFill>
            <a:srgbClr val="FFFFFF"/>
          </a:solidFill>
          <a:ln w="12700">
            <a:solidFill>
              <a:srgbClr val="404040"/>
            </a:solidFill>
          </a:ln>
        </p:spPr>
        <p:txBody>
          <a:bodyPr wrap="square" anchor="t">
            <a:noAutofit/>
          </a:bodyPr>
          <a:lstStyle/>
          <a:p>
            <a:r>
              <a:rPr sz="1000">
                <a:solidFill>
                  <a:srgbClr val="000000"/>
                </a:solidFill>
                <a:latin typeface="Courier New"/>
              </a:rPr>
              <a:t>using System;</a:t>
            </a:r>
          </a:p>
          <a:p>
            <a:r>
              <a:rPr sz="1000">
                <a:solidFill>
                  <a:srgbClr val="000000"/>
                </a:solidFill>
                <a:latin typeface="Courier New"/>
              </a:rPr>
              <a:t>using System.Collections.Generic;</a:t>
            </a:r>
          </a:p>
          <a:p>
            <a:r>
              <a:rPr sz="1000">
                <a:solidFill>
                  <a:srgbClr val="000000"/>
                </a:solidFill>
                <a:latin typeface="Courier New"/>
              </a:rPr>
              <a:t>using System.Linq;</a:t>
            </a:r>
          </a:p>
          <a:p>
            <a:r>
              <a:rPr sz="1000">
                <a:solidFill>
                  <a:srgbClr val="000000"/>
                </a:solidFill>
                <a:latin typeface="Courier New"/>
              </a:rPr>
              <a:t>using System.Web;</a:t>
            </a:r>
          </a:p>
          <a:p>
            <a:r>
              <a:rPr sz="1000">
                <a:solidFill>
                  <a:srgbClr val="000000"/>
                </a:solidFill>
                <a:latin typeface="Courier New"/>
              </a:rPr>
              <a:t>using WS_ConversionUnidades_Donet_GR8.modelo;</a:t>
            </a:r>
          </a:p>
          <a:p>
            <a:r>
              <a:rPr sz="1000">
                <a:solidFill>
                  <a:srgbClr val="000000"/>
                </a:solidFill>
                <a:latin typeface="Courier New"/>
              </a:rPr>
              <a:t> </a:t>
            </a:r>
          </a:p>
          <a:p>
            <a:r>
              <a:rPr sz="1000">
                <a:solidFill>
                  <a:srgbClr val="000000"/>
                </a:solidFill>
                <a:latin typeface="Courier New"/>
              </a:rPr>
              <a:t>namespace WS_ConversionUnidades_Donet_GR8.servicio</a:t>
            </a:r>
          </a:p>
          <a:p>
            <a:r>
              <a:rPr sz="1000">
                <a:solidFill>
                  <a:srgbClr val="000000"/>
                </a:solidFill>
                <a:latin typeface="Courier New"/>
              </a:rPr>
              <a:t>{</a:t>
            </a:r>
          </a:p>
          <a:p>
            <a:r>
              <a:rPr sz="1000">
                <a:solidFill>
                  <a:srgbClr val="000000"/>
                </a:solidFill>
                <a:latin typeface="Courier New"/>
              </a:rPr>
              <a:t>    public class AutenticadorServicio</a:t>
            </a:r>
          </a:p>
          <a:p>
            <a:r>
              <a:rPr sz="1000">
                <a:solidFill>
                  <a:srgbClr val="000000"/>
                </a:solidFill>
                <a:latin typeface="Courier New"/>
              </a:rPr>
              <a:t>    {</a:t>
            </a:r>
          </a:p>
          <a:p>
            <a:r>
              <a:rPr sz="1000">
                <a:solidFill>
                  <a:srgbClr val="000000"/>
                </a:solidFill>
                <a:latin typeface="Courier New"/>
              </a:rPr>
              <a:t>        private readonly TokenServicio token = new TokenServicio();</a:t>
            </a:r>
          </a:p>
          <a:p>
            <a:r>
              <a:rPr sz="1000">
                <a:solidFill>
                  <a:srgbClr val="000000"/>
                </a:solidFill>
                <a:latin typeface="Courier New"/>
              </a:rPr>
              <a:t> </a:t>
            </a:r>
          </a:p>
          <a:p>
            <a:r>
              <a:rPr sz="1000">
                <a:solidFill>
                  <a:srgbClr val="000000"/>
                </a:solidFill>
                <a:latin typeface="Courier New"/>
              </a:rPr>
              <a:t>        public string autenticadorLogin(Usuario usuario)</a:t>
            </a:r>
          </a:p>
          <a:p>
            <a:r>
              <a:rPr sz="1000">
                <a:solidFill>
                  <a:srgbClr val="000000"/>
                </a:solidFill>
                <a:latin typeface="Courier New"/>
              </a:rPr>
              <a:t>        {</a:t>
            </a:r>
          </a:p>
          <a:p>
            <a:r>
              <a:rPr sz="1000">
                <a:solidFill>
                  <a:srgbClr val="000000"/>
                </a:solidFill>
                <a:latin typeface="Courier New"/>
              </a:rPr>
              <a:t>            if (usuario == null</a:t>
            </a:r>
          </a:p>
          <a:p>
            <a:r>
              <a:rPr sz="1000">
                <a:solidFill>
                  <a:srgbClr val="000000"/>
                </a:solidFill>
                <a:latin typeface="Courier New"/>
              </a:rPr>
              <a:t>                || usuario.usuario == null</a:t>
            </a:r>
          </a:p>
          <a:p>
            <a:r>
              <a:rPr sz="1000">
                <a:solidFill>
                  <a:srgbClr val="000000"/>
                </a:solidFill>
                <a:latin typeface="Courier New"/>
              </a:rPr>
              <a:t>                || usuario.contrasena == null</a:t>
            </a:r>
          </a:p>
          <a:p>
            <a:r>
              <a:rPr sz="1000">
                <a:solidFill>
                  <a:srgbClr val="000000"/>
                </a:solidFill>
                <a:latin typeface="Courier New"/>
              </a:rPr>
              <a:t>                || string.IsNullOrWhiteSpace(usuario.usuario)</a:t>
            </a:r>
          </a:p>
          <a:p>
            <a:r>
              <a:rPr sz="1000">
                <a:solidFill>
                  <a:srgbClr val="000000"/>
                </a:solidFill>
                <a:latin typeface="Courier New"/>
              </a:rPr>
              <a:t>                || string.IsNullOrEmpty(usuario.contrasena))</a:t>
            </a:r>
          </a:p>
          <a:p>
            <a:r>
              <a:rPr sz="1000">
                <a:solidFill>
                  <a:srgbClr val="000000"/>
                </a:solidFill>
                <a:latin typeface="Courier New"/>
              </a:rPr>
              <a:t>            {</a:t>
            </a:r>
          </a:p>
          <a:p>
            <a:r>
              <a:rPr sz="1000">
                <a:solidFill>
                  <a:srgbClr val="000000"/>
                </a:solidFill>
                <a:latin typeface="Courier New"/>
              </a:rPr>
              <a:t>                return "Usuario invalido";</a:t>
            </a:r>
          </a:p>
          <a:p>
            <a:r>
              <a:rPr sz="1000">
                <a:solidFill>
                  <a:srgbClr val="000000"/>
                </a:solidFill>
                <a:latin typeface="Courier New"/>
              </a:rPr>
              <a:t>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7: Lógica de negocio – AutenticadorServicio (2/2)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987800"/>
          </a:xfrm>
          <a:prstGeom prst="rect">
            <a:avLst/>
          </a:prstGeom>
          <a:solidFill>
            <a:srgbClr val="FFFFFF"/>
          </a:solidFill>
          <a:ln w="12700">
            <a:solidFill>
              <a:srgbClr val="404040"/>
            </a:solidFill>
          </a:ln>
        </p:spPr>
        <p:txBody>
          <a:bodyPr wrap="square" anchor="t">
            <a:noAutofit/>
          </a:bodyPr>
          <a:lstStyle/>
          <a:p>
            <a:r>
              <a:rPr sz="1000">
                <a:solidFill>
                  <a:srgbClr val="000000"/>
                </a:solidFill>
                <a:latin typeface="Courier New"/>
              </a:rPr>
              <a:t>            if ("MONSTER".Equals(usuario.usuario)</a:t>
            </a:r>
          </a:p>
          <a:p>
            <a:r>
              <a:rPr sz="1000">
                <a:solidFill>
                  <a:srgbClr val="000000"/>
                </a:solidFill>
                <a:latin typeface="Courier New"/>
              </a:rPr>
              <a:t>                &amp;&amp; "MONSTER9".Equals(usuario.contrasena))</a:t>
            </a:r>
          </a:p>
          <a:p>
            <a:r>
              <a:rPr sz="1000">
                <a:solidFill>
                  <a:srgbClr val="000000"/>
                </a:solidFill>
                <a:latin typeface="Courier New"/>
              </a:rPr>
              <a:t>            {</a:t>
            </a:r>
          </a:p>
          <a:p>
            <a:r>
              <a:rPr sz="1000">
                <a:solidFill>
                  <a:srgbClr val="000000"/>
                </a:solidFill>
                <a:latin typeface="Courier New"/>
              </a:rPr>
              <a:t>                return token.generarToken(usuario);</a:t>
            </a:r>
          </a:p>
          <a:p>
            <a:r>
              <a:rPr sz="1000">
                <a:solidFill>
                  <a:srgbClr val="000000"/>
                </a:solidFill>
                <a:latin typeface="Courier New"/>
              </a:rPr>
              <a:t>            }</a:t>
            </a:r>
          </a:p>
          <a:p>
            <a:r>
              <a:rPr sz="1000">
                <a:solidFill>
                  <a:srgbClr val="000000"/>
                </a:solidFill>
                <a:latin typeface="Courier New"/>
              </a:rPr>
              <a:t>            else</a:t>
            </a:r>
          </a:p>
          <a:p>
            <a:r>
              <a:rPr sz="1000">
                <a:solidFill>
                  <a:srgbClr val="000000"/>
                </a:solidFill>
                <a:latin typeface="Courier New"/>
              </a:rPr>
              <a:t>            {</a:t>
            </a:r>
          </a:p>
          <a:p>
            <a:r>
              <a:rPr sz="1000">
                <a:solidFill>
                  <a:srgbClr val="000000"/>
                </a:solidFill>
                <a:latin typeface="Courier New"/>
              </a:rPr>
              <a:t>                return "Usuario invalido";</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        public bool autenticadorLogout(string tokenUsuario)</a:t>
            </a:r>
          </a:p>
          <a:p>
            <a:r>
              <a:rPr sz="1000">
                <a:solidFill>
                  <a:srgbClr val="000000"/>
                </a:solidFill>
                <a:latin typeface="Courier New"/>
              </a:rPr>
              <a:t>        {</a:t>
            </a:r>
          </a:p>
          <a:p>
            <a:r>
              <a:rPr sz="1000">
                <a:solidFill>
                  <a:srgbClr val="000000"/>
                </a:solidFill>
                <a:latin typeface="Courier New"/>
              </a:rPr>
              <a:t>            try</a:t>
            </a:r>
          </a:p>
          <a:p>
            <a:r>
              <a:rPr sz="1000">
                <a:solidFill>
                  <a:srgbClr val="000000"/>
                </a:solidFill>
                <a:latin typeface="Courier New"/>
              </a:rPr>
              <a:t>            {</a:t>
            </a:r>
          </a:p>
          <a:p>
            <a:r>
              <a:rPr sz="1000">
                <a:solidFill>
                  <a:srgbClr val="000000"/>
                </a:solidFill>
                <a:latin typeface="Courier New"/>
              </a:rPr>
              <a:t>                return token.eliminarToken(tokenUsuario);</a:t>
            </a:r>
          </a:p>
          <a:p>
            <a:r>
              <a:rPr sz="1000">
                <a:solidFill>
                  <a:srgbClr val="000000"/>
                </a:solidFill>
                <a:latin typeface="Courier New"/>
              </a:rPr>
              <a:t>            }</a:t>
            </a:r>
          </a:p>
          <a:p>
            <a:r>
              <a:rPr sz="1000">
                <a:solidFill>
                  <a:srgbClr val="000000"/>
                </a:solidFill>
                <a:latin typeface="Courier New"/>
              </a:rPr>
              <a:t>            catch (System.Exception)</a:t>
            </a:r>
          </a:p>
          <a:p>
            <a:r>
              <a:rPr sz="1000">
                <a:solidFill>
                  <a:srgbClr val="000000"/>
                </a:solidFill>
                <a:latin typeface="Courier New"/>
              </a:rPr>
              <a:t>            {</a:t>
            </a:r>
          </a:p>
          <a:p>
            <a:r>
              <a:rPr sz="1000">
                <a:solidFill>
                  <a:srgbClr val="000000"/>
                </a:solidFill>
                <a:latin typeface="Courier New"/>
              </a:rPr>
              <a:t>                return false;</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7: Lógica de negocio – TokenServicio (1/2)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027680"/>
          </a:xfrm>
          <a:prstGeom prst="rect">
            <a:avLst/>
          </a:prstGeom>
          <a:solidFill>
            <a:srgbClr val="FFFFFF"/>
          </a:solidFill>
          <a:ln w="12700">
            <a:solidFill>
              <a:srgbClr val="404040"/>
            </a:solidFill>
          </a:ln>
        </p:spPr>
        <p:txBody>
          <a:bodyPr wrap="square" anchor="t">
            <a:noAutofit/>
          </a:bodyPr>
          <a:lstStyle/>
          <a:p>
            <a:r>
              <a:rPr sz="1100">
                <a:solidFill>
                  <a:srgbClr val="000000"/>
                </a:solidFill>
                <a:latin typeface="Courier New"/>
              </a:rPr>
              <a:t>using System;</a:t>
            </a:r>
          </a:p>
          <a:p>
            <a:r>
              <a:rPr sz="1100">
                <a:solidFill>
                  <a:srgbClr val="000000"/>
                </a:solidFill>
                <a:latin typeface="Courier New"/>
              </a:rPr>
              <a:t>using System.Collections.Generic;</a:t>
            </a:r>
          </a:p>
          <a:p>
            <a:r>
              <a:rPr sz="1100">
                <a:solidFill>
                  <a:srgbClr val="000000"/>
                </a:solidFill>
                <a:latin typeface="Courier New"/>
              </a:rPr>
              <a:t>using System.Linq;</a:t>
            </a:r>
          </a:p>
          <a:p>
            <a:r>
              <a:rPr sz="1100">
                <a:solidFill>
                  <a:srgbClr val="000000"/>
                </a:solidFill>
                <a:latin typeface="Courier New"/>
              </a:rPr>
              <a:t>using System.Web;</a:t>
            </a:r>
          </a:p>
          <a:p>
            <a:r>
              <a:rPr sz="1100">
                <a:solidFill>
                  <a:srgbClr val="000000"/>
                </a:solidFill>
                <a:latin typeface="Courier New"/>
              </a:rPr>
              <a:t>using WS_ConversionUnidades_Donet_GR8.modelo;</a:t>
            </a:r>
          </a:p>
          <a:p>
            <a:r>
              <a:rPr sz="1100">
                <a:solidFill>
                  <a:srgbClr val="000000"/>
                </a:solidFill>
                <a:latin typeface="Courier New"/>
              </a:rPr>
              <a:t> </a:t>
            </a:r>
          </a:p>
          <a:p>
            <a:r>
              <a:rPr sz="1100">
                <a:solidFill>
                  <a:srgbClr val="000000"/>
                </a:solidFill>
                <a:latin typeface="Courier New"/>
              </a:rPr>
              <a:t>namespace WS_ConversionUnidades_Donet_GR8.servicio</a:t>
            </a:r>
          </a:p>
          <a:p>
            <a:r>
              <a:rPr sz="1100">
                <a:solidFill>
                  <a:srgbClr val="000000"/>
                </a:solidFill>
                <a:latin typeface="Courier New"/>
              </a:rPr>
              <a:t>{</a:t>
            </a:r>
          </a:p>
          <a:p>
            <a:r>
              <a:rPr sz="1100">
                <a:solidFill>
                  <a:srgbClr val="000000"/>
                </a:solidFill>
                <a:latin typeface="Courier New"/>
              </a:rPr>
              <a:t>    public class TokenServicio</a:t>
            </a:r>
          </a:p>
          <a:p>
            <a:r>
              <a:rPr sz="1100">
                <a:solidFill>
                  <a:srgbClr val="000000"/>
                </a:solidFill>
                <a:latin typeface="Courier New"/>
              </a:rPr>
              <a:t>    {</a:t>
            </a:r>
          </a:p>
          <a:p>
            <a:r>
              <a:rPr sz="1100">
                <a:solidFill>
                  <a:srgbClr val="000000"/>
                </a:solidFill>
                <a:latin typeface="Courier New"/>
              </a:rPr>
              <a:t>        public string generarToken(Usuario usuario)</a:t>
            </a:r>
          </a:p>
          <a:p>
            <a:r>
              <a:rPr sz="1100">
                <a:solidFill>
                  <a:srgbClr val="000000"/>
                </a:solidFill>
                <a:latin typeface="Courier New"/>
              </a:rPr>
              <a:t>        {</a:t>
            </a:r>
          </a:p>
          <a:p>
            <a:r>
              <a:rPr sz="1100">
                <a:solidFill>
                  <a:srgbClr val="000000"/>
                </a:solidFill>
                <a:latin typeface="Courier New"/>
              </a:rPr>
              <a:t>            string token = Guid.NewGuid().ToString() + usuario.usuario;</a:t>
            </a:r>
          </a:p>
          <a:p>
            <a:r>
              <a:rPr sz="1100">
                <a:solidFill>
                  <a:srgbClr val="000000"/>
                </a:solidFill>
                <a:latin typeface="Courier New"/>
              </a:rPr>
              <a:t>            Constantes.tokensActivos.Add(token);</a:t>
            </a:r>
          </a:p>
          <a:p>
            <a:r>
              <a:rPr sz="1100">
                <a:solidFill>
                  <a:srgbClr val="000000"/>
                </a:solidFill>
                <a:latin typeface="Courier New"/>
              </a:rPr>
              <a:t> </a:t>
            </a:r>
          </a:p>
          <a:p>
            <a:r>
              <a:rPr sz="1100">
                <a:solidFill>
                  <a:srgbClr val="000000"/>
                </a:solidFill>
                <a:latin typeface="Courier New"/>
              </a:rPr>
              <a:t>            return token;</a:t>
            </a:r>
          </a:p>
          <a:p>
            <a:r>
              <a:rPr sz="1100">
                <a:solidFill>
                  <a:srgbClr val="000000"/>
                </a:solidFill>
                <a:latin typeface="Courier New"/>
              </a:rPr>
              <a:t>        }</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7: Lógica de negocio – TokenServicio (2/2)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698240"/>
          </a:xfrm>
          <a:prstGeom prst="rect">
            <a:avLst/>
          </a:prstGeom>
          <a:solidFill>
            <a:srgbClr val="FFFFFF"/>
          </a:solidFill>
          <a:ln w="12700">
            <a:solidFill>
              <a:srgbClr val="404040"/>
            </a:solidFill>
          </a:ln>
        </p:spPr>
        <p:txBody>
          <a:bodyPr wrap="square" anchor="t">
            <a:noAutofit/>
          </a:bodyPr>
          <a:lstStyle/>
          <a:p>
            <a:r>
              <a:rPr sz="1100">
                <a:solidFill>
                  <a:srgbClr val="000000"/>
                </a:solidFill>
                <a:latin typeface="Courier New"/>
              </a:rPr>
              <a:t>        public bool validarToken(string token)</a:t>
            </a:r>
          </a:p>
          <a:p>
            <a:r>
              <a:rPr sz="1100">
                <a:solidFill>
                  <a:srgbClr val="000000"/>
                </a:solidFill>
                <a:latin typeface="Courier New"/>
              </a:rPr>
              <a:t>        {</a:t>
            </a:r>
          </a:p>
          <a:p>
            <a:r>
              <a:rPr sz="1100">
                <a:solidFill>
                  <a:srgbClr val="000000"/>
                </a:solidFill>
                <a:latin typeface="Courier New"/>
              </a:rPr>
              <a:t>            if (string.IsNullOrWhiteSpace(token))</a:t>
            </a:r>
          </a:p>
          <a:p>
            <a:r>
              <a:rPr sz="1100">
                <a:solidFill>
                  <a:srgbClr val="000000"/>
                </a:solidFill>
                <a:latin typeface="Courier New"/>
              </a:rPr>
              <a:t>            {</a:t>
            </a:r>
          </a:p>
          <a:p>
            <a:r>
              <a:rPr sz="1100">
                <a:solidFill>
                  <a:srgbClr val="000000"/>
                </a:solidFill>
                <a:latin typeface="Courier New"/>
              </a:rPr>
              <a:t>                return false;</a:t>
            </a:r>
          </a:p>
          <a:p>
            <a:r>
              <a:rPr sz="1100">
                <a:solidFill>
                  <a:srgbClr val="000000"/>
                </a:solidFill>
                <a:latin typeface="Courier New"/>
              </a:rPr>
              <a:t>            }</a:t>
            </a:r>
          </a:p>
          <a:p>
            <a:r>
              <a:rPr sz="1100">
                <a:solidFill>
                  <a:srgbClr val="000000"/>
                </a:solidFill>
                <a:latin typeface="Courier New"/>
              </a:rPr>
              <a:t> </a:t>
            </a:r>
          </a:p>
          <a:p>
            <a:r>
              <a:rPr sz="1100">
                <a:solidFill>
                  <a:srgbClr val="000000"/>
                </a:solidFill>
                <a:latin typeface="Courier New"/>
              </a:rPr>
              <a:t>            return Constantes.tokensActivos.Contains(token);</a:t>
            </a:r>
          </a:p>
          <a:p>
            <a:r>
              <a:rPr sz="1100">
                <a:solidFill>
                  <a:srgbClr val="000000"/>
                </a:solidFill>
                <a:latin typeface="Courier New"/>
              </a:rPr>
              <a:t>        }</a:t>
            </a:r>
          </a:p>
          <a:p>
            <a:r>
              <a:rPr sz="1100">
                <a:solidFill>
                  <a:srgbClr val="000000"/>
                </a:solidFill>
                <a:latin typeface="Courier New"/>
              </a:rPr>
              <a:t> </a:t>
            </a:r>
          </a:p>
          <a:p>
            <a:r>
              <a:rPr sz="1100">
                <a:solidFill>
                  <a:srgbClr val="000000"/>
                </a:solidFill>
                <a:latin typeface="Courier New"/>
              </a:rPr>
              <a:t>        public bool eliminarToken(string token)</a:t>
            </a:r>
          </a:p>
          <a:p>
            <a:r>
              <a:rPr sz="1100">
                <a:solidFill>
                  <a:srgbClr val="000000"/>
                </a:solidFill>
                <a:latin typeface="Courier New"/>
              </a:rPr>
              <a:t>        {</a:t>
            </a:r>
          </a:p>
          <a:p>
            <a:r>
              <a:rPr sz="1100">
                <a:solidFill>
                  <a:srgbClr val="000000"/>
                </a:solidFill>
                <a:latin typeface="Courier New"/>
              </a:rPr>
              <a:t>            if (string.IsNullOrWhiteSpace(token))</a:t>
            </a:r>
          </a:p>
          <a:p>
            <a:r>
              <a:rPr sz="1100">
                <a:solidFill>
                  <a:srgbClr val="000000"/>
                </a:solidFill>
                <a:latin typeface="Courier New"/>
              </a:rPr>
              <a:t>            {</a:t>
            </a:r>
          </a:p>
          <a:p>
            <a:r>
              <a:rPr sz="1100">
                <a:solidFill>
                  <a:srgbClr val="000000"/>
                </a:solidFill>
                <a:latin typeface="Courier New"/>
              </a:rPr>
              <a:t>                return false;</a:t>
            </a:r>
          </a:p>
          <a:p>
            <a:r>
              <a:rPr sz="1100">
                <a:solidFill>
                  <a:srgbClr val="000000"/>
                </a:solidFill>
                <a:latin typeface="Courier New"/>
              </a:rPr>
              <a:t>            }</a:t>
            </a:r>
          </a:p>
          <a:p>
            <a:r>
              <a:rPr sz="1100">
                <a:solidFill>
                  <a:srgbClr val="000000"/>
                </a:solidFill>
                <a:latin typeface="Courier New"/>
              </a:rPr>
              <a:t>            return Constantes.tokensActivos.Remove(token);</a:t>
            </a:r>
          </a:p>
          <a:p>
            <a:r>
              <a:rPr sz="1100">
                <a:solidFill>
                  <a:srgbClr val="000000"/>
                </a:solidFill>
                <a:latin typeface="Courier New"/>
              </a:rPr>
              <a:t>        }</a:t>
            </a:r>
          </a:p>
          <a:p>
            <a:r>
              <a:rPr sz="1100">
                <a:solidFill>
                  <a:srgbClr val="000000"/>
                </a:solidFill>
                <a:latin typeface="Courier New"/>
              </a:rPr>
              <a:t>    }</a:t>
            </a:r>
          </a:p>
          <a:p>
            <a:r>
              <a:rPr sz="1100">
                <a:solidFill>
                  <a:srgbClr val="000000"/>
                </a:solidFill>
                <a:latin typeface="Courier New"/>
              </a:rPr>
              <a:t> </a:t>
            </a:r>
          </a:p>
          <a:p>
            <a:r>
              <a:rPr sz="1100">
                <a:solidFill>
                  <a:srgbClr val="000000"/>
                </a:solidFill>
                <a:latin typeface="Courier New"/>
              </a:rPr>
              <a: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417726"/>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8: Enlace de la lógica mediante el controlador (1/2)</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El controlador es el intermediario (Controller de MVC): recibe las variables del servicio, delega el cálculo y retorna el resultado, dejando el servicio dedicado solo al enrutamiento SOAP.</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3447726"/>
            <a:ext cx="8288808" cy="3073400"/>
          </a:xfrm>
          <a:prstGeom prst="rect">
            <a:avLst/>
          </a:prstGeom>
          <a:solidFill>
            <a:srgbClr val="FFFFFF"/>
          </a:solidFill>
          <a:ln w="12700">
            <a:solidFill>
              <a:srgbClr val="404040"/>
            </a:solidFill>
          </a:ln>
        </p:spPr>
        <p:txBody>
          <a:bodyPr wrap="square" anchor="t">
            <a:noAutofit/>
          </a:bodyPr>
          <a:lstStyle/>
          <a:p>
            <a:r>
              <a:rPr sz="1000">
                <a:solidFill>
                  <a:srgbClr val="000000"/>
                </a:solidFill>
                <a:latin typeface="Courier New"/>
              </a:rPr>
              <a:t>using System;</a:t>
            </a:r>
          </a:p>
          <a:p>
            <a:r>
              <a:rPr sz="1000">
                <a:solidFill>
                  <a:srgbClr val="000000"/>
                </a:solidFill>
                <a:latin typeface="Courier New"/>
              </a:rPr>
              <a:t>using System.Collections.Generic;</a:t>
            </a:r>
          </a:p>
          <a:p>
            <a:r>
              <a:rPr sz="1000">
                <a:solidFill>
                  <a:srgbClr val="000000"/>
                </a:solidFill>
                <a:latin typeface="Courier New"/>
              </a:rPr>
              <a:t>using System.Linq;</a:t>
            </a:r>
          </a:p>
          <a:p>
            <a:r>
              <a:rPr sz="1000">
                <a:solidFill>
                  <a:srgbClr val="000000"/>
                </a:solidFill>
                <a:latin typeface="Courier New"/>
              </a:rPr>
              <a:t>using System.Web;</a:t>
            </a:r>
          </a:p>
          <a:p>
            <a:r>
              <a:rPr sz="1000">
                <a:solidFill>
                  <a:srgbClr val="000000"/>
                </a:solidFill>
                <a:latin typeface="Courier New"/>
              </a:rPr>
              <a:t>using WS_ConversionUnidades_Donet_GR8.dto;</a:t>
            </a:r>
          </a:p>
          <a:p>
            <a:r>
              <a:rPr sz="1000">
                <a:solidFill>
                  <a:srgbClr val="000000"/>
                </a:solidFill>
                <a:latin typeface="Courier New"/>
              </a:rPr>
              <a:t>using WS_ConversionUnidades_Donet_GR8.servicio;</a:t>
            </a:r>
          </a:p>
          <a:p>
            <a:r>
              <a:rPr sz="1000">
                <a:solidFill>
                  <a:srgbClr val="000000"/>
                </a:solidFill>
                <a:latin typeface="Courier New"/>
              </a:rPr>
              <a:t> </a:t>
            </a:r>
          </a:p>
          <a:p>
            <a:r>
              <a:rPr sz="1000">
                <a:solidFill>
                  <a:srgbClr val="000000"/>
                </a:solidFill>
                <a:latin typeface="Courier New"/>
              </a:rPr>
              <a:t>namespace WS_ConversionUnidades_Donet_GR8.controlador</a:t>
            </a:r>
          </a:p>
          <a:p>
            <a:r>
              <a:rPr sz="1000">
                <a:solidFill>
                  <a:srgbClr val="000000"/>
                </a:solidFill>
                <a:latin typeface="Courier New"/>
              </a:rPr>
              <a:t>{</a:t>
            </a:r>
          </a:p>
          <a:p>
            <a:r>
              <a:rPr sz="1000">
                <a:solidFill>
                  <a:srgbClr val="000000"/>
                </a:solidFill>
                <a:latin typeface="Courier New"/>
              </a:rPr>
              <a:t>    public class ConversorUnidadesControlador</a:t>
            </a:r>
          </a:p>
          <a:p>
            <a:r>
              <a:rPr sz="1000">
                <a:solidFill>
                  <a:srgbClr val="000000"/>
                </a:solidFill>
                <a:latin typeface="Courier New"/>
              </a:rPr>
              <a:t>    {</a:t>
            </a:r>
          </a:p>
          <a:p>
            <a:r>
              <a:rPr sz="1000">
                <a:solidFill>
                  <a:srgbClr val="000000"/>
                </a:solidFill>
                <a:latin typeface="Courier New"/>
              </a:rPr>
              <a:t>        private readonly ConversorServicio conversorServicio = new ConversorServicio();</a:t>
            </a:r>
          </a:p>
          <a:p>
            <a:r>
              <a:rPr sz="1000">
                <a:solidFill>
                  <a:srgbClr val="000000"/>
                </a:solidFill>
                <a:latin typeface="Courier New"/>
              </a:rPr>
              <a:t> </a:t>
            </a:r>
          </a:p>
          <a:p>
            <a:r>
              <a:rPr sz="1000">
                <a:solidFill>
                  <a:srgbClr val="000000"/>
                </a:solidFill>
                <a:latin typeface="Courier New"/>
              </a:rPr>
              <a:t>        public double? conversor(ConversionDTO dto)</a:t>
            </a:r>
          </a:p>
          <a:p>
            <a:r>
              <a:rPr sz="1000">
                <a:solidFill>
                  <a:srgbClr val="000000"/>
                </a:solidFill>
                <a:latin typeface="Courier New"/>
              </a:rPr>
              <a:t>        {</a:t>
            </a:r>
          </a:p>
          <a:p>
            <a:r>
              <a:rPr sz="1000">
                <a:solidFill>
                  <a:srgbClr val="000000"/>
                </a:solidFill>
                <a:latin typeface="Courier New"/>
              </a:rPr>
              <a:t>            return conversorServicio.procesarConversion(dto).ValorResultado;</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8: Enlace de la lógica mediante el controlador (2/2)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835400"/>
          </a:xfrm>
          <a:prstGeom prst="rect">
            <a:avLst/>
          </a:prstGeom>
          <a:solidFill>
            <a:srgbClr val="FFFFFF"/>
          </a:solidFill>
          <a:ln w="12700">
            <a:solidFill>
              <a:srgbClr val="404040"/>
            </a:solidFill>
          </a:ln>
        </p:spPr>
        <p:txBody>
          <a:bodyPr wrap="square" anchor="t">
            <a:noAutofit/>
          </a:bodyPr>
          <a:lstStyle/>
          <a:p>
            <a:r>
              <a:rPr sz="1000">
                <a:solidFill>
                  <a:srgbClr val="000000"/>
                </a:solidFill>
                <a:latin typeface="Courier New"/>
              </a:rPr>
              <a:t>using System;</a:t>
            </a:r>
          </a:p>
          <a:p>
            <a:r>
              <a:rPr sz="1000">
                <a:solidFill>
                  <a:srgbClr val="000000"/>
                </a:solidFill>
                <a:latin typeface="Courier New"/>
              </a:rPr>
              <a:t>using System.Collections.Generic;</a:t>
            </a:r>
          </a:p>
          <a:p>
            <a:r>
              <a:rPr sz="1000">
                <a:solidFill>
                  <a:srgbClr val="000000"/>
                </a:solidFill>
                <a:latin typeface="Courier New"/>
              </a:rPr>
              <a:t>using System.Linq;</a:t>
            </a:r>
          </a:p>
          <a:p>
            <a:r>
              <a:rPr sz="1000">
                <a:solidFill>
                  <a:srgbClr val="000000"/>
                </a:solidFill>
                <a:latin typeface="Courier New"/>
              </a:rPr>
              <a:t>using System.Web;</a:t>
            </a:r>
          </a:p>
          <a:p>
            <a:r>
              <a:rPr sz="1000">
                <a:solidFill>
                  <a:srgbClr val="000000"/>
                </a:solidFill>
                <a:latin typeface="Courier New"/>
              </a:rPr>
              <a:t>using WS_ConversionUnidades_Donet_GR8.modelo;</a:t>
            </a:r>
          </a:p>
          <a:p>
            <a:r>
              <a:rPr sz="1000">
                <a:solidFill>
                  <a:srgbClr val="000000"/>
                </a:solidFill>
                <a:latin typeface="Courier New"/>
              </a:rPr>
              <a:t>using WS_ConversionUnidades_Donet_GR8.servicio;</a:t>
            </a:r>
          </a:p>
          <a:p>
            <a:r>
              <a:rPr sz="1000">
                <a:solidFill>
                  <a:srgbClr val="000000"/>
                </a:solidFill>
                <a:latin typeface="Courier New"/>
              </a:rPr>
              <a:t> </a:t>
            </a:r>
          </a:p>
          <a:p>
            <a:r>
              <a:rPr sz="1000">
                <a:solidFill>
                  <a:srgbClr val="000000"/>
                </a:solidFill>
                <a:latin typeface="Courier New"/>
              </a:rPr>
              <a:t>namespace WS_ConversionUnidades_Donet_GR8.controlador</a:t>
            </a:r>
          </a:p>
          <a:p>
            <a:r>
              <a:rPr sz="1000">
                <a:solidFill>
                  <a:srgbClr val="000000"/>
                </a:solidFill>
                <a:latin typeface="Courier New"/>
              </a:rPr>
              <a:t>{</a:t>
            </a:r>
          </a:p>
          <a:p>
            <a:r>
              <a:rPr sz="1000">
                <a:solidFill>
                  <a:srgbClr val="000000"/>
                </a:solidFill>
                <a:latin typeface="Courier New"/>
              </a:rPr>
              <a:t>    public class AutenticadorControlador</a:t>
            </a:r>
          </a:p>
          <a:p>
            <a:r>
              <a:rPr sz="1000">
                <a:solidFill>
                  <a:srgbClr val="000000"/>
                </a:solidFill>
                <a:latin typeface="Courier New"/>
              </a:rPr>
              <a:t>    {</a:t>
            </a:r>
          </a:p>
          <a:p>
            <a:r>
              <a:rPr sz="1000">
                <a:solidFill>
                  <a:srgbClr val="000000"/>
                </a:solidFill>
                <a:latin typeface="Courier New"/>
              </a:rPr>
              <a:t>        private readonly AutenticadorServicio autenticador = new AutenticadorServicio();</a:t>
            </a:r>
          </a:p>
          <a:p>
            <a:r>
              <a:rPr sz="1000">
                <a:solidFill>
                  <a:srgbClr val="000000"/>
                </a:solidFill>
                <a:latin typeface="Courier New"/>
              </a:rPr>
              <a:t> </a:t>
            </a:r>
          </a:p>
          <a:p>
            <a:r>
              <a:rPr sz="1000">
                <a:solidFill>
                  <a:srgbClr val="000000"/>
                </a:solidFill>
                <a:latin typeface="Courier New"/>
              </a:rPr>
              <a:t>        public string login(Usuario usuario)</a:t>
            </a:r>
          </a:p>
          <a:p>
            <a:r>
              <a:rPr sz="1000">
                <a:solidFill>
                  <a:srgbClr val="000000"/>
                </a:solidFill>
                <a:latin typeface="Courier New"/>
              </a:rPr>
              <a:t>        {</a:t>
            </a:r>
          </a:p>
          <a:p>
            <a:r>
              <a:rPr sz="1000">
                <a:solidFill>
                  <a:srgbClr val="000000"/>
                </a:solidFill>
                <a:latin typeface="Courier New"/>
              </a:rPr>
              <a:t>            return autenticador.autenticadorLogin(usuario);</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        public bool logout(string token)</a:t>
            </a:r>
          </a:p>
          <a:p>
            <a:r>
              <a:rPr sz="1000">
                <a:solidFill>
                  <a:srgbClr val="000000"/>
                </a:solidFill>
                <a:latin typeface="Courier New"/>
              </a:rPr>
              <a:t>        {</a:t>
            </a:r>
          </a:p>
          <a:p>
            <a:r>
              <a:rPr sz="1000">
                <a:solidFill>
                  <a:srgbClr val="000000"/>
                </a:solidFill>
                <a:latin typeface="Courier New"/>
              </a:rPr>
              <a:t>            return autenticador.autenticadorLogout(token);</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9: Configuración del pipeline de WCF (Web.config) (1/3)</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WCF depende del Web.config: aquí se registran los bindings y los servicios para que IIS revise las cabeceras SOAP antes de admitir cualquier petición.</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3186817"/>
            <a:ext cx="8288808" cy="3103879"/>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&lt;?xml version="1.0" encoding="utf-8"?&gt;</a:t>
            </a:r>
          </a:p>
          <a:p>
            <a:r>
              <a:rPr sz="1200">
                <a:solidFill>
                  <a:srgbClr val="000000"/>
                </a:solidFill>
                <a:latin typeface="Courier New"/>
              </a:rPr>
              <a:t>&lt;configuration&gt;</a:t>
            </a:r>
          </a:p>
          <a:p>
            <a:r>
              <a:rPr sz="1200">
                <a:solidFill>
                  <a:srgbClr val="000000"/>
                </a:solidFill>
                <a:latin typeface="Courier New"/>
              </a:rPr>
              <a:t>  &lt;appSettings&gt;</a:t>
            </a:r>
          </a:p>
          <a:p>
            <a:r>
              <a:rPr sz="1200">
                <a:solidFill>
                  <a:srgbClr val="000000"/>
                </a:solidFill>
                <a:latin typeface="Courier New"/>
              </a:rPr>
              <a:t>    &lt;add key="aspnet:UseTaskFriendlySynchronizationContext" value="true" /&gt;</a:t>
            </a:r>
          </a:p>
          <a:p>
            <a:r>
              <a:rPr sz="1200">
                <a:solidFill>
                  <a:srgbClr val="000000"/>
                </a:solidFill>
                <a:latin typeface="Courier New"/>
              </a:rPr>
              <a:t>  &lt;/appSettings&gt;</a:t>
            </a:r>
          </a:p>
          <a:p>
            <a:r>
              <a:rPr sz="1200">
                <a:solidFill>
                  <a:srgbClr val="000000"/>
                </a:solidFill>
                <a:latin typeface="Courier New"/>
              </a:rPr>
              <a:t>  &lt;system.web&gt;</a:t>
            </a:r>
          </a:p>
          <a:p>
            <a:r>
              <a:rPr sz="1200">
                <a:solidFill>
                  <a:srgbClr val="000000"/>
                </a:solidFill>
                <a:latin typeface="Courier New"/>
              </a:rPr>
              <a:t>    &lt;compilation debug="true" targetFramework="4.7.2" /&gt;</a:t>
            </a:r>
          </a:p>
          <a:p>
            <a:r>
              <a:rPr sz="1200">
                <a:solidFill>
                  <a:srgbClr val="000000"/>
                </a:solidFill>
                <a:latin typeface="Courier New"/>
              </a:rPr>
              <a:t>    &lt;httpRuntime targetFramework="4.7.2"/&gt;</a:t>
            </a:r>
          </a:p>
          <a:p>
            <a:r>
              <a:rPr sz="1200">
                <a:solidFill>
                  <a:srgbClr val="000000"/>
                </a:solidFill>
                <a:latin typeface="Courier New"/>
              </a:rPr>
              <a:t>  &lt;/system.web&gt;</a:t>
            </a:r>
          </a:p>
          <a:p>
            <a:r>
              <a:rPr sz="1200">
                <a:solidFill>
                  <a:srgbClr val="000000"/>
                </a:solidFill>
                <a:latin typeface="Courier New"/>
              </a:rPr>
              <a:t>  &lt;system.serviceModel&gt;</a:t>
            </a:r>
          </a:p>
          <a:p>
            <a:r>
              <a:rPr sz="1200">
                <a:solidFill>
                  <a:srgbClr val="000000"/>
                </a:solidFill>
                <a:latin typeface="Courier New"/>
              </a:rPr>
              <a:t>    &lt;services&gt;</a:t>
            </a:r>
          </a:p>
          <a:p>
            <a:r>
              <a:rPr sz="1200">
                <a:solidFill>
                  <a:srgbClr val="000000"/>
                </a:solidFill>
                <a:latin typeface="Courier New"/>
              </a:rPr>
              <a:t>      &lt;!-- Servicio de Autenticación --&gt;</a:t>
            </a:r>
          </a:p>
          <a:p>
            <a:r>
              <a:rPr sz="1200">
                <a:solidFill>
                  <a:srgbClr val="000000"/>
                </a:solidFill>
                <a:latin typeface="Courier New"/>
              </a:rPr>
              <a:t>      &lt;service name="WS_ConversionUnidades_Donet_GR8.webservicio.WSAutenticador"&gt;</a:t>
            </a:r>
          </a:p>
          <a:p>
            <a:r>
              <a:rPr sz="1200">
                <a:solidFill>
                  <a:srgbClr val="000000"/>
                </a:solidFill>
                <a:latin typeface="Courier New"/>
              </a:rPr>
              <a:t>        &lt;endpoint address="" binding="basicHttpBinding" contract="WS_ConversionUnidades_Donet_GR8.webservicio.IWSAutenticador"/&gt;</a:t>
            </a:r>
          </a:p>
          <a:p>
            <a:r>
              <a:rPr sz="1200">
                <a:solidFill>
                  <a:srgbClr val="000000"/>
                </a:solidFill>
                <a:latin typeface="Courier New"/>
              </a:rPr>
              <a:t>      &lt;/service&gt;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9: Configuración del pipeline de WCF (Web.config) (2/3)</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2738120"/>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      &lt;!-- Servicio de Conversión de Unidades --&gt;</a:t>
            </a:r>
          </a:p>
          <a:p>
            <a:r>
              <a:rPr sz="1200">
                <a:solidFill>
                  <a:srgbClr val="000000"/>
                </a:solidFill>
                <a:latin typeface="Courier New"/>
              </a:rPr>
              <a:t>      &lt;service name="WS_ConversionUnidades_Donet_GR8.webservicio.WSConversorUnidades"&gt;</a:t>
            </a:r>
          </a:p>
          <a:p>
            <a:r>
              <a:rPr sz="1200">
                <a:solidFill>
                  <a:srgbClr val="000000"/>
                </a:solidFill>
                <a:latin typeface="Courier New"/>
              </a:rPr>
              <a:t>        &lt;endpoint address="" binding="basicHttpBinding" contract="WS_ConversionUnidades_Donet_GR8.webservicio.IWSConversorUnidades"/&gt;</a:t>
            </a:r>
          </a:p>
          <a:p>
            <a:r>
              <a:rPr sz="1200">
                <a:solidFill>
                  <a:srgbClr val="000000"/>
                </a:solidFill>
                <a:latin typeface="Courier New"/>
              </a:rPr>
              <a:t>      &lt;/service&gt;</a:t>
            </a:r>
          </a:p>
          <a:p>
            <a:r>
              <a:rPr sz="1200">
                <a:solidFill>
                  <a:srgbClr val="000000"/>
                </a:solidFill>
                <a:latin typeface="Courier New"/>
              </a:rPr>
              <a:t>    &lt;/services&gt;</a:t>
            </a:r>
          </a:p>
          <a:p>
            <a:r>
              <a:rPr sz="1200">
                <a:solidFill>
                  <a:srgbClr val="000000"/>
                </a:solidFill>
                <a:latin typeface="Courier New"/>
              </a:rPr>
              <a:t>    &lt;behaviors&gt;</a:t>
            </a:r>
          </a:p>
          <a:p>
            <a:r>
              <a:rPr sz="1200">
                <a:solidFill>
                  <a:srgbClr val="000000"/>
                </a:solidFill>
                <a:latin typeface="Courier New"/>
              </a:rPr>
              <a:t>      &lt;serviceBehaviors&gt;</a:t>
            </a:r>
          </a:p>
          <a:p>
            <a:r>
              <a:rPr sz="1200">
                <a:solidFill>
                  <a:srgbClr val="000000"/>
                </a:solidFill>
                <a:latin typeface="Courier New"/>
              </a:rPr>
              <a:t>        &lt;behavior&gt;</a:t>
            </a:r>
          </a:p>
          <a:p>
            <a:r>
              <a:rPr sz="1200">
                <a:solidFill>
                  <a:srgbClr val="000000"/>
                </a:solidFill>
                <a:latin typeface="Courier New"/>
              </a:rPr>
              <a:t>          &lt;!-- Para evitar revelar información de los metadatos, establezca los valores siguientes en false antes de la implementación --&gt;</a:t>
            </a:r>
          </a:p>
          <a:p>
            <a:r>
              <a:rPr sz="1200">
                <a:solidFill>
                  <a:srgbClr val="000000"/>
                </a:solidFill>
                <a:latin typeface="Courier New"/>
              </a:rPr>
              <a:t>          &lt;serviceMetadata httpGetEnabled="true" httpsGetEnabled="true"/&gt;</a:t>
            </a:r>
          </a:p>
          <a:p>
            <a:r>
              <a:rPr sz="1200">
                <a:solidFill>
                  <a:srgbClr val="000000"/>
                </a:solidFill>
                <a:latin typeface="Courier New"/>
              </a:rPr>
              <a:t>          &lt;!-- Para recibir detalles de las excepciones en los errores para la depuración, establezca el siguiente valor en true --&gt;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9: Configuración del pipeline de WCF (Web.config) (3/3)</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2921000"/>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          &lt;serviceDebug includeExceptionDetailInFaults="true"/&gt;</a:t>
            </a:r>
          </a:p>
          <a:p>
            <a:r>
              <a:rPr sz="1200">
                <a:solidFill>
                  <a:srgbClr val="000000"/>
                </a:solidFill>
                <a:latin typeface="Courier New"/>
              </a:rPr>
              <a:t>        &lt;/behavior&gt;</a:t>
            </a:r>
          </a:p>
          <a:p>
            <a:r>
              <a:rPr sz="1200">
                <a:solidFill>
                  <a:srgbClr val="000000"/>
                </a:solidFill>
                <a:latin typeface="Courier New"/>
              </a:rPr>
              <a:t>      &lt;/serviceBehaviors&gt;</a:t>
            </a:r>
          </a:p>
          <a:p>
            <a:r>
              <a:rPr sz="1200">
                <a:solidFill>
                  <a:srgbClr val="000000"/>
                </a:solidFill>
                <a:latin typeface="Courier New"/>
              </a:rPr>
              <a:t>    &lt;/behaviors&gt;</a:t>
            </a:r>
          </a:p>
          <a:p>
            <a:r>
              <a:rPr sz="1200">
                <a:solidFill>
                  <a:srgbClr val="000000"/>
                </a:solidFill>
                <a:latin typeface="Courier New"/>
              </a:rPr>
              <a:t>    &lt;protocolMapping&gt;</a:t>
            </a:r>
          </a:p>
          <a:p>
            <a:r>
              <a:rPr sz="1200">
                <a:solidFill>
                  <a:srgbClr val="000000"/>
                </a:solidFill>
                <a:latin typeface="Courier New"/>
              </a:rPr>
              <a:t>      &lt;add binding="basicHttpsBinding" scheme="https" /&gt;</a:t>
            </a:r>
          </a:p>
          <a:p>
            <a:r>
              <a:rPr sz="1200">
                <a:solidFill>
                  <a:srgbClr val="000000"/>
                </a:solidFill>
                <a:latin typeface="Courier New"/>
              </a:rPr>
              <a:t>    &lt;/protocolMapping&gt;</a:t>
            </a:r>
          </a:p>
          <a:p>
            <a:r>
              <a:rPr sz="1200">
                <a:solidFill>
                  <a:srgbClr val="000000"/>
                </a:solidFill>
                <a:latin typeface="Courier New"/>
              </a:rPr>
              <a:t>    &lt;serviceHostingEnvironment aspNetCompatibilityEnabled="true" multipleSiteBindingsEnabled="true" /&gt;</a:t>
            </a:r>
          </a:p>
          <a:p>
            <a:r>
              <a:rPr sz="1200">
                <a:solidFill>
                  <a:srgbClr val="000000"/>
                </a:solidFill>
                <a:latin typeface="Courier New"/>
              </a:rPr>
              <a:t>  &lt;/system.serviceModel&gt;</a:t>
            </a:r>
          </a:p>
          <a:p>
            <a:r>
              <a:rPr sz="1200">
                <a:solidFill>
                  <a:srgbClr val="000000"/>
                </a:solidFill>
                <a:latin typeface="Courier New"/>
              </a:rPr>
              <a:t>  &lt;system.webServer&gt;</a:t>
            </a:r>
          </a:p>
          <a:p>
            <a:r>
              <a:rPr sz="1200">
                <a:solidFill>
                  <a:srgbClr val="000000"/>
                </a:solidFill>
                <a:latin typeface="Courier New"/>
              </a:rPr>
              <a:t>    &lt;modules runAllManagedModulesForAllRequests="true"/&gt;</a:t>
            </a:r>
          </a:p>
          <a:p>
            <a:r>
              <a:rPr sz="1200">
                <a:solidFill>
                  <a:srgbClr val="000000"/>
                </a:solidFill>
                <a:latin typeface="Courier New"/>
              </a:rPr>
              <a:t>    &lt;directoryBrowse enabled="true"/&gt;</a:t>
            </a:r>
          </a:p>
          <a:p>
            <a:r>
              <a:rPr sz="1200">
                <a:solidFill>
                  <a:srgbClr val="000000"/>
                </a:solidFill>
                <a:latin typeface="Courier New"/>
              </a:rPr>
              <a:t>  &lt;/system.webServer&gt;</a:t>
            </a:r>
          </a:p>
          <a:p>
            <a:r>
              <a:rPr sz="1200">
                <a:solidFill>
                  <a:srgbClr val="000000"/>
                </a:solidFill>
                <a:latin typeface="Courier New"/>
              </a:rPr>
              <a:t>&lt;/configuration&gt;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731733"/>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Pasos 10 y 11: Despliegue y verificación del WSDL</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Al ejecutar la solución (F5), IIS Express aloja el servicio y lanza WSConversorUnidades.svc. El enlace ?wsdl es el contrato XML que los clientes consumen para autogenerar sus modelos y proxies.</a:t>
            </a:r>
            <a:endParaRPr sz="1600">
              <a:latin typeface="Cambria"/>
              <a:ea typeface="Cambria"/>
              <a:cs typeface="Cambria"/>
              <a:sym typeface="Cambria"/>
            </a:endParaRPr>
          </a:p>
          <a:p>
            <a:pPr marL="0" marR="0" lvl="0" indent="0" algn="just" rtl="0">
              <a:lnSpc>
                <a:spcPct val="107000"/>
              </a:lnSpc>
              <a:spcBef>
                <a:spcPts val="600"/>
              </a:spcBef>
              <a:spcAft>
                <a:spcPts val="0"/>
              </a:spcAft>
              <a:buNone/>
            </a:pPr>
            <a:r>
              <a:rPr lang="es-ES" sz="1400" i="1">
                <a:latin typeface="Cambria"/>
                <a:ea typeface="Cambria"/>
                <a:cs typeface="Cambria"/>
                <a:sym typeface="Cambria"/>
              </a:rPr>
              <a:t>Ilustración 4: Exposición del contrato WSDL generado de forma dinámica.</a:t>
            </a:r>
            <a:endParaRPr sz="14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7.png"/>
          <p:cNvPicPr>
            <a:picLocks noChangeAspect="1"/>
          </p:cNvPicPr>
          <p:nvPr/>
        </p:nvPicPr>
        <p:blipFill>
          <a:blip r:embed="rId2"/>
          <a:stretch>
            <a:fillRect/>
          </a:stretch>
        </p:blipFill>
        <p:spPr>
          <a:xfrm>
            <a:off x="2133498" y="3781733"/>
            <a:ext cx="5484195" cy="2818267"/>
          </a:xfrm>
          <a:prstGeom prst="rect">
            <a:avLst/>
          </a:prstGeom>
        </p:spPr>
      </p:pic>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12: Perfil de publicación en carpeta local</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Se selecciona el directorio de la carpeta donde se va a guardar y lo dejamos en uno creado por nosotros.</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8.png"/>
          <p:cNvPicPr>
            <a:picLocks noChangeAspect="1"/>
          </p:cNvPicPr>
          <p:nvPr/>
        </p:nvPicPr>
        <p:blipFill>
          <a:blip r:embed="rId2"/>
          <a:stretch>
            <a:fillRect/>
          </a:stretch>
        </p:blipFill>
        <p:spPr>
          <a:xfrm>
            <a:off x="1329022" y="3206817"/>
            <a:ext cx="7093146" cy="3393183"/>
          </a:xfrm>
          <a:prstGeom prst="rect">
            <a:avLst/>
          </a:prstGeom>
        </p:spPr>
      </p:pic>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13: Ejecución de la publicación</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Una vez que se ha confirmado que el proyecto está listo para publicar, se le da clic a Publicar.</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9.png"/>
          <p:cNvPicPr>
            <a:picLocks noChangeAspect="1"/>
          </p:cNvPicPr>
          <p:nvPr/>
        </p:nvPicPr>
        <p:blipFill>
          <a:blip r:embed="rId2"/>
          <a:stretch>
            <a:fillRect/>
          </a:stretch>
        </p:blipFill>
        <p:spPr>
          <a:xfrm>
            <a:off x="1719146" y="3206817"/>
            <a:ext cx="6312898" cy="3393183"/>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14: Verificación de los artefactos de compilación</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Confirmamos que se hayan generado los distintos tipos de archivos necesarios para la ejecución.</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10.png"/>
          <p:cNvPicPr>
            <a:picLocks noChangeAspect="1"/>
          </p:cNvPicPr>
          <p:nvPr/>
        </p:nvPicPr>
        <p:blipFill>
          <a:blip r:embed="rId2"/>
          <a:stretch>
            <a:fillRect/>
          </a:stretch>
        </p:blipFill>
        <p:spPr>
          <a:xfrm>
            <a:off x="581192" y="4359345"/>
            <a:ext cx="8588808" cy="1088126"/>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417726"/>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15: Instalación del Hosting Bundle</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Dependiendo de la versión de ASP.NET Core utilizada, se debe buscar el hosting bundle installer, programa que IIS requiere para hospedar este tipo de aplicaciones en la máquina host.</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11.png"/>
          <p:cNvPicPr>
            <a:picLocks noChangeAspect="1"/>
          </p:cNvPicPr>
          <p:nvPr/>
        </p:nvPicPr>
        <p:blipFill>
          <a:blip r:embed="rId2"/>
          <a:stretch>
            <a:fillRect/>
          </a:stretch>
        </p:blipFill>
        <p:spPr>
          <a:xfrm>
            <a:off x="581192" y="3563176"/>
            <a:ext cx="8588808" cy="2941372"/>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95908"/>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16: Creación del nuevo sitio web en IIS</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Una vez instalado, abrimos la interfaz de IIS y le damos a agregar un sitio.</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12.png"/>
          <p:cNvPicPr>
            <a:picLocks noChangeAspect="1"/>
          </p:cNvPicPr>
          <p:nvPr/>
        </p:nvPicPr>
        <p:blipFill>
          <a:blip r:embed="rId2"/>
          <a:stretch>
            <a:fillRect/>
          </a:stretch>
        </p:blipFill>
        <p:spPr>
          <a:xfrm>
            <a:off x="1472614" y="2945908"/>
            <a:ext cx="6805962" cy="3654092"/>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2900000" cy="2174748"/>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7000"/>
              </a:lnSpc>
              <a:spcBef>
                <a:spcPts val="0"/>
              </a:spcBef>
              <a:spcAft>
                <a:spcPts val="0"/>
              </a:spcAft>
              <a:buSzPts val="1785"/>
              <a:buChar char="∙"/>
            </a:pPr>
            <a:r>
              <a:rPr lang="es-ES" sz="1800" b="1">
                <a:latin typeface="Cambria"/>
                <a:ea typeface="Cambria"/>
                <a:cs typeface="Cambria"/>
                <a:sym typeface="Cambria"/>
              </a:rPr>
              <a:t>Paso 17: Ruta física y configuración de red (Binding)</a:t>
            </a:r>
            <a:endParaRPr sz="1800" b="1">
              <a:latin typeface="Cambria"/>
              <a:ea typeface="Cambria"/>
              <a:cs typeface="Cambria"/>
              <a:sym typeface="Cambria"/>
            </a:endParaRPr>
          </a:p>
          <a:p>
            <a:pPr marL="342900" marR="0" lvl="0" indent="-342900" algn="l" rtl="0">
              <a:lnSpc>
                <a:spcPct val="107000"/>
              </a:lnSpc>
              <a:spcBef>
                <a:spcPts val="600"/>
              </a:spcBef>
              <a:spcAft>
                <a:spcPts val="0"/>
              </a:spcAft>
              <a:buSzPts val="1656"/>
              <a:buFont typeface="Noto Sans Symbols"/>
              <a:buChar char="∙"/>
            </a:pPr>
            <a:r>
              <a:rPr lang="es-ES" sz="1500">
                <a:latin typeface="Cambria"/>
                <a:ea typeface="Cambria"/>
                <a:cs typeface="Cambria"/>
                <a:sym typeface="Cambria"/>
              </a:rPr>
              <a:t>Configuramos el sitio asignándole una ruta de acceso local, justamente donde se generaron los archivos.</a:t>
            </a:r>
            <a:endParaRPr sz="15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13.png"/>
          <p:cNvPicPr>
            <a:picLocks noChangeAspect="1"/>
          </p:cNvPicPr>
          <p:nvPr/>
        </p:nvPicPr>
        <p:blipFill>
          <a:blip r:embed="rId2"/>
          <a:stretch>
            <a:fillRect/>
          </a:stretch>
        </p:blipFill>
        <p:spPr>
          <a:xfrm>
            <a:off x="4442883" y="1950000"/>
            <a:ext cx="3915424" cy="4650000"/>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2900000" cy="241935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7000"/>
              </a:lnSpc>
              <a:spcBef>
                <a:spcPts val="0"/>
              </a:spcBef>
              <a:spcAft>
                <a:spcPts val="0"/>
              </a:spcAft>
              <a:buSzPts val="1785"/>
              <a:buChar char="∙"/>
            </a:pPr>
            <a:r>
              <a:rPr lang="es-ES" sz="1800" b="1">
                <a:latin typeface="Cambria"/>
                <a:ea typeface="Cambria"/>
                <a:cs typeface="Cambria"/>
                <a:sym typeface="Cambria"/>
              </a:rPr>
              <a:t>Paso 18: Permisos de seguridad (grupo IIS_IUSRS)</a:t>
            </a:r>
            <a:endParaRPr sz="1800" b="1">
              <a:latin typeface="Cambria"/>
              <a:ea typeface="Cambria"/>
              <a:cs typeface="Cambria"/>
              <a:sym typeface="Cambria"/>
            </a:endParaRPr>
          </a:p>
          <a:p>
            <a:pPr marL="342900" marR="0" lvl="0" indent="-342900" algn="l" rtl="0">
              <a:lnSpc>
                <a:spcPct val="107000"/>
              </a:lnSpc>
              <a:spcBef>
                <a:spcPts val="600"/>
              </a:spcBef>
              <a:spcAft>
                <a:spcPts val="0"/>
              </a:spcAft>
              <a:buSzPts val="1656"/>
              <a:buFont typeface="Noto Sans Symbols"/>
              <a:buChar char="∙"/>
            </a:pPr>
            <a:r>
              <a:rPr lang="es-ES" sz="1500">
                <a:latin typeface="Cambria"/>
                <a:ea typeface="Cambria"/>
                <a:cs typeface="Cambria"/>
                <a:sym typeface="Cambria"/>
              </a:rPr>
              <a:t>Configuramos los permisos para que el grupo IIS_IUSRS tenga privilegios; caso contrario se bloquea el acceso al sitio.</a:t>
            </a:r>
            <a:endParaRPr sz="15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14.png"/>
          <p:cNvPicPr>
            <a:picLocks noChangeAspect="1"/>
          </p:cNvPicPr>
          <p:nvPr/>
        </p:nvPicPr>
        <p:blipFill>
          <a:blip r:embed="rId2"/>
          <a:stretch>
            <a:fillRect/>
          </a:stretch>
        </p:blipFill>
        <p:spPr>
          <a:xfrm>
            <a:off x="3631192" y="2132141"/>
            <a:ext cx="5538808" cy="4285717"/>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470824"/>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19: Verificación final del servicio publicado</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Al tratarse de una API que solo muestra swagger en desarrollo, al abrir el sitio no aparece nada.</a:t>
            </a:r>
            <a:endParaRPr sz="1600">
              <a:latin typeface="Cambria"/>
              <a:ea typeface="Cambria"/>
              <a:cs typeface="Cambria"/>
              <a:sym typeface="Cambria"/>
            </a:endParaRPr>
          </a:p>
          <a:p>
            <a:pPr marL="0" marR="0" lvl="0" indent="0" algn="just" rtl="0">
              <a:lnSpc>
                <a:spcPct val="107000"/>
              </a:lnSpc>
              <a:spcBef>
                <a:spcPts val="600"/>
              </a:spcBef>
              <a:spcAft>
                <a:spcPts val="0"/>
              </a:spcAft>
              <a:buNone/>
            </a:pPr>
            <a:r>
              <a:rPr lang="es-ES" sz="1400" i="1">
                <a:latin typeface="Cambria"/>
                <a:ea typeface="Cambria"/>
                <a:cs typeface="Cambria"/>
                <a:sym typeface="Cambria"/>
              </a:rPr>
              <a:t>Ilustración 12: Resultado de abrir el sitio.</a:t>
            </a:r>
            <a:endParaRPr sz="14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15.png"/>
          <p:cNvPicPr>
            <a:picLocks noChangeAspect="1"/>
          </p:cNvPicPr>
          <p:nvPr/>
        </p:nvPicPr>
        <p:blipFill>
          <a:blip r:embed="rId2"/>
          <a:stretch>
            <a:fillRect/>
          </a:stretch>
        </p:blipFill>
        <p:spPr>
          <a:xfrm>
            <a:off x="2217780" y="3520824"/>
            <a:ext cx="5315630" cy="3079176"/>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209915"/>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19: Verificación final (cliente conectado)</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Si nos conectamos con un cliente, podemos ver que ya se pueden hacer las peticiones.</a:t>
            </a:r>
            <a:endParaRPr sz="1600">
              <a:latin typeface="Cambria"/>
              <a:ea typeface="Cambria"/>
              <a:cs typeface="Cambria"/>
              <a:sym typeface="Cambria"/>
            </a:endParaRPr>
          </a:p>
          <a:p>
            <a:pPr marL="0" marR="0" lvl="0" indent="0" algn="just" rtl="0">
              <a:lnSpc>
                <a:spcPct val="107000"/>
              </a:lnSpc>
              <a:spcBef>
                <a:spcPts val="600"/>
              </a:spcBef>
              <a:spcAft>
                <a:spcPts val="0"/>
              </a:spcAft>
              <a:buNone/>
            </a:pPr>
            <a:r>
              <a:rPr lang="es-ES" sz="1400" i="1">
                <a:latin typeface="Cambria"/>
                <a:ea typeface="Cambria"/>
                <a:cs typeface="Cambria"/>
                <a:sym typeface="Cambria"/>
              </a:rPr>
              <a:t>Ilustración 13: Ejecución de un cliente conectado.</a:t>
            </a:r>
            <a:endParaRPr sz="14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16.png"/>
          <p:cNvPicPr>
            <a:picLocks noChangeAspect="1"/>
          </p:cNvPicPr>
          <p:nvPr/>
        </p:nvPicPr>
        <p:blipFill>
          <a:blip r:embed="rId2"/>
          <a:stretch>
            <a:fillRect/>
          </a:stretch>
        </p:blipFill>
        <p:spPr>
          <a:xfrm>
            <a:off x="1655099" y="3259915"/>
            <a:ext cx="6440993" cy="3340085"/>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7280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Paso 19: Verificación final (logs)</a:t>
            </a:r>
            <a:endParaRPr sz="2000" b="1">
              <a:latin typeface="Cambria"/>
              <a:ea typeface="Cambria"/>
              <a:cs typeface="Cambria"/>
              <a:sym typeface="Cambria"/>
            </a:endParaRPr>
          </a:p>
          <a:p>
            <a:pPr marL="0" marR="0" lvl="0" indent="0" algn="just" rtl="0">
              <a:lnSpc>
                <a:spcPct val="107000"/>
              </a:lnSpc>
              <a:spcBef>
                <a:spcPts val="600"/>
              </a:spcBef>
              <a:spcAft>
                <a:spcPts val="0"/>
              </a:spcAft>
              <a:buNone/>
            </a:pPr>
            <a:r>
              <a:rPr lang="es-ES" sz="1400" i="1">
                <a:latin typeface="Cambria"/>
                <a:ea typeface="Cambria"/>
                <a:cs typeface="Cambria"/>
                <a:sym typeface="Cambria"/>
              </a:rPr>
              <a:t>Ilustración 14: Logs de ejecución de cliente.</a:t>
            </a:r>
            <a:endParaRPr sz="14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17.png"/>
          <p:cNvPicPr>
            <a:picLocks noChangeAspect="1"/>
          </p:cNvPicPr>
          <p:nvPr/>
        </p:nvPicPr>
        <p:blipFill>
          <a:blip r:embed="rId2"/>
          <a:stretch>
            <a:fillRect/>
          </a:stretch>
        </p:blipFill>
        <p:spPr>
          <a:xfrm>
            <a:off x="1013663" y="2922807"/>
            <a:ext cx="7723864" cy="3677193"/>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 Paso 1</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Dentro de Visual Studio se selecciona crear proyecto y luego la plantilla “Aplicación de consola”.</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18.png"/>
          <p:cNvPicPr>
            <a:picLocks noChangeAspect="1"/>
          </p:cNvPicPr>
          <p:nvPr/>
        </p:nvPicPr>
        <p:blipFill>
          <a:blip r:embed="rId2"/>
          <a:stretch>
            <a:fillRect/>
          </a:stretch>
        </p:blipFill>
        <p:spPr>
          <a:xfrm>
            <a:off x="2274468" y="3206817"/>
            <a:ext cx="5202255" cy="3393183"/>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95908"/>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 Paso 2</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Se coloca un nombre al proyecto y se le asigna un directorio donde se va a generar.</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19.png"/>
          <p:cNvPicPr>
            <a:picLocks noChangeAspect="1"/>
          </p:cNvPicPr>
          <p:nvPr/>
        </p:nvPicPr>
        <p:blipFill>
          <a:blip r:embed="rId2"/>
          <a:stretch>
            <a:fillRect/>
          </a:stretch>
        </p:blipFill>
        <p:spPr>
          <a:xfrm>
            <a:off x="1601871" y="2945908"/>
            <a:ext cx="6547449" cy="3654092"/>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 Paso 3</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Se asigna la versión de framework a usar, en este caso .NET 10.0, y se da clic en crear proyecto.</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20.png"/>
          <p:cNvPicPr>
            <a:picLocks noChangeAspect="1"/>
          </p:cNvPicPr>
          <p:nvPr/>
        </p:nvPicPr>
        <p:blipFill>
          <a:blip r:embed="rId2"/>
          <a:stretch>
            <a:fillRect/>
          </a:stretch>
        </p:blipFill>
        <p:spPr>
          <a:xfrm>
            <a:off x="2255543" y="3206817"/>
            <a:ext cx="5240105" cy="3393183"/>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2900000" cy="15000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7000"/>
              </a:lnSpc>
              <a:spcBef>
                <a:spcPts val="0"/>
              </a:spcBef>
              <a:spcAft>
                <a:spcPts val="0"/>
              </a:spcAft>
              <a:buSzPts val="1785"/>
              <a:buChar char="∙"/>
            </a:pPr>
            <a:r>
              <a:rPr lang="es-ES" sz="1800" b="1">
                <a:latin typeface="Cambria"/>
                <a:ea typeface="Cambria"/>
                <a:cs typeface="Cambria"/>
                <a:sym typeface="Cambria"/>
              </a:rPr>
              <a:t>Cliente Consola – Paso 4</a:t>
            </a:r>
            <a:endParaRPr sz="1800" b="1">
              <a:latin typeface="Cambria"/>
              <a:ea typeface="Cambria"/>
              <a:cs typeface="Cambria"/>
              <a:sym typeface="Cambria"/>
            </a:endParaRPr>
          </a:p>
          <a:p>
            <a:pPr marL="342900" marR="0" lvl="0" indent="-342900" algn="l" rtl="0">
              <a:lnSpc>
                <a:spcPct val="107000"/>
              </a:lnSpc>
              <a:spcBef>
                <a:spcPts val="600"/>
              </a:spcBef>
              <a:spcAft>
                <a:spcPts val="0"/>
              </a:spcAft>
              <a:buSzPts val="1656"/>
              <a:buFont typeface="Noto Sans Symbols"/>
              <a:buChar char="∙"/>
            </a:pPr>
            <a:r>
              <a:rPr lang="es-ES" sz="1500">
                <a:latin typeface="Cambria"/>
                <a:ea typeface="Cambria"/>
                <a:cs typeface="Cambria"/>
                <a:sym typeface="Cambria"/>
              </a:rPr>
              <a:t>Se deben crear los paquetes del proyecto.</a:t>
            </a:r>
            <a:endParaRPr sz="15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21.png"/>
          <p:cNvPicPr>
            <a:picLocks noChangeAspect="1"/>
          </p:cNvPicPr>
          <p:nvPr/>
        </p:nvPicPr>
        <p:blipFill>
          <a:blip r:embed="rId2"/>
          <a:stretch>
            <a:fillRect/>
          </a:stretch>
        </p:blipFill>
        <p:spPr>
          <a:xfrm>
            <a:off x="5171114" y="1950000"/>
            <a:ext cx="2458962" cy="4650000"/>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95908"/>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 Paso 5: UnidadesCatalogo (1/3)</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A continuación se detallan las clases con el código fuente de cada una de ellas.</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925908"/>
            <a:ext cx="8288808" cy="3103879"/>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namespace WS_ConversionUnidades_Donet_CLICON_GR8.Models</a:t>
            </a:r>
          </a:p>
          <a:p>
            <a:r>
              <a:rPr sz="1200">
                <a:solidFill>
                  <a:srgbClr val="000000"/>
                </a:solidFill>
                <a:latin typeface="Courier New"/>
              </a:rPr>
              <a:t>{</a:t>
            </a:r>
          </a:p>
          <a:p>
            <a:r>
              <a:rPr sz="1200">
                <a:solidFill>
                  <a:srgbClr val="000000"/>
                </a:solidFill>
                <a:latin typeface="Courier New"/>
              </a:rPr>
              <a:t>    public record Unidad(string Valor, string Etiqueta);</a:t>
            </a:r>
          </a:p>
          <a:p>
            <a:r>
              <a:rPr sz="1200">
                <a:solidFill>
                  <a:srgbClr val="000000"/>
                </a:solidFill>
                <a:latin typeface="Courier New"/>
              </a:rPr>
              <a:t> </a:t>
            </a:r>
          </a:p>
          <a:p>
            <a:r>
              <a:rPr sz="1200">
                <a:solidFill>
                  <a:srgbClr val="000000"/>
                </a:solidFill>
                <a:latin typeface="Courier New"/>
              </a:rPr>
              <a:t>    /// &lt;summary&gt;</a:t>
            </a:r>
          </a:p>
          <a:p>
            <a:r>
              <a:rPr sz="1200">
                <a:solidFill>
                  <a:srgbClr val="000000"/>
                </a:solidFill>
                <a:latin typeface="Courier New"/>
              </a:rPr>
              <a:t>    /// Magnitudes y unidades que acepta el servicio (enums UnidadLongitud, UnidadMasa y UnidadTemperatura).</a:t>
            </a:r>
          </a:p>
          <a:p>
            <a:r>
              <a:rPr sz="1200">
                <a:solidFill>
                  <a:srgbClr val="000000"/>
                </a:solidFill>
                <a:latin typeface="Courier New"/>
              </a:rPr>
              <a:t>    /// &lt;/summary&gt;</a:t>
            </a:r>
          </a:p>
          <a:p>
            <a:r>
              <a:rPr sz="1200">
                <a:solidFill>
                  <a:srgbClr val="000000"/>
                </a:solidFill>
                <a:latin typeface="Courier New"/>
              </a:rPr>
              <a:t>    public static class UnidadesCatalogo</a:t>
            </a:r>
          </a:p>
          <a:p>
            <a:r>
              <a:rPr sz="1200">
                <a:solidFill>
                  <a:srgbClr val="000000"/>
                </a:solidFill>
                <a:latin typeface="Courier New"/>
              </a:rPr>
              <a:t>    {</a:t>
            </a:r>
          </a:p>
          <a:p>
            <a:r>
              <a:rPr sz="1200">
                <a:solidFill>
                  <a:srgbClr val="000000"/>
                </a:solidFill>
                <a:latin typeface="Courier New"/>
              </a:rPr>
              <a:t>        public static readonly IReadOnlyDictionary&lt;string, Unidad[]&gt; Todas = new Dictionary&lt;string, Unidad[]&gt;</a:t>
            </a:r>
          </a:p>
          <a:p>
            <a:r>
              <a:rPr sz="1200">
                <a:solidFill>
                  <a:srgbClr val="000000"/>
                </a:solidFill>
                <a:latin typeface="Courier New"/>
              </a:rPr>
              <a:t>        {</a:t>
            </a:r>
          </a:p>
          <a:p>
            <a:r>
              <a:rPr sz="1200">
                <a:solidFill>
                  <a:srgbClr val="000000"/>
                </a:solidFill>
                <a:latin typeface="Courier New"/>
              </a:rPr>
              <a:t>            ["LONGITUD"] = new[]</a:t>
            </a:r>
          </a:p>
          <a:p>
            <a:r>
              <a:rPr sz="1200">
                <a:solidFill>
                  <a:srgbClr val="000000"/>
                </a:solidFill>
                <a:latin typeface="Courier New"/>
              </a:rPr>
              <a:t>            {</a:t>
            </a:r>
          </a:p>
          <a:p>
            <a:r>
              <a:rPr sz="1200">
                <a:solidFill>
                  <a:srgbClr val="000000"/>
                </a:solidFill>
                <a:latin typeface="Courier New"/>
              </a:rPr>
              <a:t>                new Unidad("CENTIMETRO", "Centímetro (cm)"),</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 Paso 5: UnidadesCatalogo (2/3)</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103879"/>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                new Unidad("METRO", "Metro (m)"),</a:t>
            </a:r>
          </a:p>
          <a:p>
            <a:r>
              <a:rPr sz="1200">
                <a:solidFill>
                  <a:srgbClr val="000000"/>
                </a:solidFill>
                <a:latin typeface="Courier New"/>
              </a:rPr>
              <a:t>                new Unidad("PIE", "Pie (ft)"),</a:t>
            </a:r>
          </a:p>
          <a:p>
            <a:r>
              <a:rPr sz="1200">
                <a:solidFill>
                  <a:srgbClr val="000000"/>
                </a:solidFill>
                <a:latin typeface="Courier New"/>
              </a:rPr>
              <a:t>                new Unidad("YARDA", "Yarda (yd)"),</a:t>
            </a:r>
          </a:p>
          <a:p>
            <a:r>
              <a:rPr sz="1200">
                <a:solidFill>
                  <a:srgbClr val="000000"/>
                </a:solidFill>
                <a:latin typeface="Courier New"/>
              </a:rPr>
              <a:t>                new Unidad("MILLA", "Milla (mi)")</a:t>
            </a:r>
          </a:p>
          <a:p>
            <a:r>
              <a:rPr sz="1200">
                <a:solidFill>
                  <a:srgbClr val="000000"/>
                </a:solidFill>
                <a:latin typeface="Courier New"/>
              </a:rPr>
              <a:t>            },</a:t>
            </a:r>
          </a:p>
          <a:p>
            <a:r>
              <a:rPr sz="1200">
                <a:solidFill>
                  <a:srgbClr val="000000"/>
                </a:solidFill>
                <a:latin typeface="Courier New"/>
              </a:rPr>
              <a:t>            ["MASA"] = new[]</a:t>
            </a:r>
          </a:p>
          <a:p>
            <a:r>
              <a:rPr sz="1200">
                <a:solidFill>
                  <a:srgbClr val="000000"/>
                </a:solidFill>
                <a:latin typeface="Courier New"/>
              </a:rPr>
              <a:t>            {</a:t>
            </a:r>
          </a:p>
          <a:p>
            <a:r>
              <a:rPr sz="1200">
                <a:solidFill>
                  <a:srgbClr val="000000"/>
                </a:solidFill>
                <a:latin typeface="Courier New"/>
              </a:rPr>
              <a:t>                new Unidad("GRAMO", "Gramo (g)"),</a:t>
            </a:r>
          </a:p>
          <a:p>
            <a:r>
              <a:rPr sz="1200">
                <a:solidFill>
                  <a:srgbClr val="000000"/>
                </a:solidFill>
                <a:latin typeface="Courier New"/>
              </a:rPr>
              <a:t>                new Unidad("KILOGRAMO", "Kilogramo (kg)"),</a:t>
            </a:r>
          </a:p>
          <a:p>
            <a:r>
              <a:rPr sz="1200">
                <a:solidFill>
                  <a:srgbClr val="000000"/>
                </a:solidFill>
                <a:latin typeface="Courier New"/>
              </a:rPr>
              <a:t>                new Unidad("ONZA", "Onza (oz)"),</a:t>
            </a:r>
          </a:p>
          <a:p>
            <a:r>
              <a:rPr sz="1200">
                <a:solidFill>
                  <a:srgbClr val="000000"/>
                </a:solidFill>
                <a:latin typeface="Courier New"/>
              </a:rPr>
              <a:t>                new Unidad("LIBRA", "Libra (lb)"),</a:t>
            </a:r>
          </a:p>
          <a:p>
            <a:r>
              <a:rPr sz="1200">
                <a:solidFill>
                  <a:srgbClr val="000000"/>
                </a:solidFill>
                <a:latin typeface="Courier New"/>
              </a:rPr>
              <a:t>                new Unidad("QUINTAL", "Quintal (qq)")</a:t>
            </a:r>
          </a:p>
          <a:p>
            <a:r>
              <a:rPr sz="1200">
                <a:solidFill>
                  <a:srgbClr val="000000"/>
                </a:solidFill>
                <a:latin typeface="Courier New"/>
              </a:rPr>
              <a:t>            },</a:t>
            </a:r>
          </a:p>
          <a:p>
            <a:r>
              <a:rPr sz="1200">
                <a:solidFill>
                  <a:srgbClr val="000000"/>
                </a:solidFill>
                <a:latin typeface="Courier New"/>
              </a:rPr>
              <a:t>            ["TEMPERATURA"] = new[]</a:t>
            </a:r>
          </a:p>
          <a:p>
            <a:r>
              <a:rPr sz="1200">
                <a:solidFill>
                  <a:srgbClr val="000000"/>
                </a:solidFill>
                <a:latin typeface="Courier New"/>
              </a:rPr>
              <a:t>            {</a:t>
            </a:r>
          </a:p>
          <a:p>
            <a:r>
              <a:rPr sz="1200">
                <a:solidFill>
                  <a:srgbClr val="000000"/>
                </a:solidFill>
                <a:latin typeface="Courier New"/>
              </a:rPr>
              <a:t>                new Unidad("CELSIUS", "Celsius (°C)"),</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 Paso 5: UnidadesCatalogo (3/3)</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103879"/>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                new Unidad("FAHRENHEIT", "Fahrenheit (°F)"),</a:t>
            </a:r>
          </a:p>
          <a:p>
            <a:r>
              <a:rPr sz="1200">
                <a:solidFill>
                  <a:srgbClr val="000000"/>
                </a:solidFill>
                <a:latin typeface="Courier New"/>
              </a:rPr>
              <a:t>                new Unidad("KELVIN", "Kelvin (K)"),</a:t>
            </a:r>
          </a:p>
          <a:p>
            <a:r>
              <a:rPr sz="1200">
                <a:solidFill>
                  <a:srgbClr val="000000"/>
                </a:solidFill>
                <a:latin typeface="Courier New"/>
              </a:rPr>
              <a:t>                new Unidad("NEWTON", "Newton (°N)"),</a:t>
            </a:r>
          </a:p>
          <a:p>
            <a:r>
              <a:rPr sz="1200">
                <a:solidFill>
                  <a:srgbClr val="000000"/>
                </a:solidFill>
                <a:latin typeface="Courier New"/>
              </a:rPr>
              <a:t>                new Unidad("REAUMUR", "Réaumur (°Ré)")</a:t>
            </a:r>
          </a:p>
          <a:p>
            <a:r>
              <a:rPr sz="1200">
                <a:solidFill>
                  <a:srgbClr val="000000"/>
                </a:solidFill>
                <a:latin typeface="Courier New"/>
              </a:rPr>
              <a:t>            }</a:t>
            </a:r>
          </a:p>
          <a:p>
            <a:r>
              <a:rPr sz="1200">
                <a:solidFill>
                  <a:srgbClr val="000000"/>
                </a:solidFill>
                <a:latin typeface="Courier New"/>
              </a:rPr>
              <a:t>        };</a:t>
            </a:r>
          </a:p>
          <a:p>
            <a:r>
              <a:rPr sz="1200">
                <a:solidFill>
                  <a:srgbClr val="000000"/>
                </a:solidFill>
                <a:latin typeface="Courier New"/>
              </a:rPr>
              <a:t> </a:t>
            </a:r>
          </a:p>
          <a:p>
            <a:r>
              <a:rPr sz="1200">
                <a:solidFill>
                  <a:srgbClr val="000000"/>
                </a:solidFill>
                <a:latin typeface="Courier New"/>
              </a:rPr>
              <a:t>        public static readonly IReadOnlyDictionary&lt;string, string&gt; Magnitudes = new Dictionary&lt;string, string&gt;</a:t>
            </a:r>
          </a:p>
          <a:p>
            <a:r>
              <a:rPr sz="1200">
                <a:solidFill>
                  <a:srgbClr val="000000"/>
                </a:solidFill>
                <a:latin typeface="Courier New"/>
              </a:rPr>
              <a:t>        {</a:t>
            </a:r>
          </a:p>
          <a:p>
            <a:r>
              <a:rPr sz="1200">
                <a:solidFill>
                  <a:srgbClr val="000000"/>
                </a:solidFill>
                <a:latin typeface="Courier New"/>
              </a:rPr>
              <a:t>            ["LONGITUD"] = "Longitud",</a:t>
            </a:r>
          </a:p>
          <a:p>
            <a:r>
              <a:rPr sz="1200">
                <a:solidFill>
                  <a:srgbClr val="000000"/>
                </a:solidFill>
                <a:latin typeface="Courier New"/>
              </a:rPr>
              <a:t>            ["MASA"] = "Masa",</a:t>
            </a:r>
          </a:p>
          <a:p>
            <a:r>
              <a:rPr sz="1200">
                <a:solidFill>
                  <a:srgbClr val="000000"/>
                </a:solidFill>
                <a:latin typeface="Courier New"/>
              </a:rPr>
              <a:t>            ["TEMPERATURA"] = "Temperatura"</a:t>
            </a:r>
          </a:p>
          <a:p>
            <a:r>
              <a:rPr sz="1200">
                <a:solidFill>
                  <a:srgbClr val="000000"/>
                </a:solidFill>
                <a:latin typeface="Courier New"/>
              </a:rPr>
              <a:t>        };</a:t>
            </a:r>
          </a:p>
          <a:p>
            <a:r>
              <a:rPr sz="1200">
                <a:solidFill>
                  <a:srgbClr val="000000"/>
                </a:solidFill>
                <a:latin typeface="Courier New"/>
              </a:rPr>
              <a:t>    }</a:t>
            </a:r>
          </a:p>
          <a:p>
            <a:r>
              <a:rPr sz="1200">
                <a:solidFill>
                  <a:srgbClr val="000000"/>
                </a:solidFill>
                <a:latin typeface="Courier New"/>
              </a:rPr>
              <a: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 Services: SoapClienteServicio (1/2)</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Cliente SOAP 1.1 (basicHttpBinding) para WSAutenticador.svc y WSConversorUnidades.svc. Fragmento.</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3186817"/>
            <a:ext cx="8288808" cy="2021839"/>
          </a:xfrm>
          <a:prstGeom prst="rect">
            <a:avLst/>
          </a:prstGeom>
          <a:solidFill>
            <a:srgbClr val="FFFFFF"/>
          </a:solidFill>
          <a:ln w="12700">
            <a:solidFill>
              <a:srgbClr val="404040"/>
            </a:solidFill>
          </a:ln>
        </p:spPr>
        <p:txBody>
          <a:bodyPr wrap="square" anchor="t">
            <a:noAutofit/>
          </a:bodyPr>
          <a:lstStyle/>
          <a:p>
            <a:r>
              <a:rPr sz="1100">
                <a:solidFill>
                  <a:srgbClr val="000000"/>
                </a:solidFill>
                <a:latin typeface="Courier New"/>
              </a:rPr>
              <a:t>namespace WS_ConversionUnidades_Donet_CLICON_GR8.Services</a:t>
            </a:r>
          </a:p>
          <a:p>
            <a:r>
              <a:rPr sz="1100">
                <a:solidFill>
                  <a:srgbClr val="000000"/>
                </a:solidFill>
                <a:latin typeface="Courier New"/>
              </a:rPr>
              <a:t>{</a:t>
            </a:r>
          </a:p>
          <a:p>
            <a:r>
              <a:rPr sz="1100">
                <a:solidFill>
                  <a:srgbClr val="000000"/>
                </a:solidFill>
                <a:latin typeface="Courier New"/>
              </a:rPr>
              <a:t>    /// &lt;summary&gt;</a:t>
            </a:r>
          </a:p>
          <a:p>
            <a:r>
              <a:rPr sz="1100">
                <a:solidFill>
                  <a:srgbClr val="000000"/>
                </a:solidFill>
                <a:latin typeface="Courier New"/>
              </a:rPr>
              <a:t>    /// Cliente SOAP 1.1 (basicHttpBinding) para los servicios WCF:</a:t>
            </a:r>
          </a:p>
          <a:p>
            <a:r>
              <a:rPr sz="1100">
                <a:solidFill>
                  <a:srgbClr val="000000"/>
                </a:solidFill>
                <a:latin typeface="Courier New"/>
              </a:rPr>
              <a:t>    ///   - WSAutenticador.svc      -&gt; login / logout</a:t>
            </a:r>
          </a:p>
          <a:p>
            <a:r>
              <a:rPr sz="1100">
                <a:solidFill>
                  <a:srgbClr val="000000"/>
                </a:solidFill>
                <a:latin typeface="Courier New"/>
              </a:rPr>
              <a:t>    ///   - WSConversorUnidades.svc -&gt; convertir-unidades</a:t>
            </a:r>
          </a:p>
          <a:p>
            <a:r>
              <a:rPr sz="1100">
                <a:solidFill>
                  <a:srgbClr val="000000"/>
                </a:solidFill>
                <a:latin typeface="Courier New"/>
              </a:rPr>
              <a:t>    /// El token viaja en el encabezado SOAP Token (namespace http://localhost:8080/).</a:t>
            </a:r>
          </a:p>
          <a:p>
            <a:r>
              <a:rPr sz="1100">
                <a:solidFill>
                  <a:srgbClr val="000000"/>
                </a:solidFill>
                <a:latin typeface="Courier New"/>
              </a:rPr>
              <a:t>    /// &lt;/summary&gt;</a:t>
            </a:r>
          </a:p>
          <a:p>
            <a:r>
              <a:rPr sz="1100">
                <a:solidFill>
                  <a:srgbClr val="000000"/>
                </a:solidFill>
                <a:latin typeface="Courier New"/>
              </a:rPr>
              <a:t>    public class SoapClienteServicio</a:t>
            </a:r>
          </a:p>
          <a:p>
            <a:r>
              <a:rPr sz="1100">
                <a:solidFill>
                  <a:srgbClr val="000000"/>
                </a:solidFill>
                <a:latin typeface="Courier New"/>
              </a:rPr>
              <a:t>    {</a:t>
            </a:r>
          </a:p>
          <a:p>
            <a:r>
              <a:rPr sz="1100">
                <a:solidFill>
                  <a:srgbClr val="000000"/>
                </a:solidFill>
                <a:latin typeface="Courier New"/>
              </a:rPr>
              <a:t>        public const string RespuestaLoginInvalido = "Usuario invalido";</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 Services: SoapClienteServicio (2/2)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027680"/>
          </a:xfrm>
          <a:prstGeom prst="rect">
            <a:avLst/>
          </a:prstGeom>
          <a:solidFill>
            <a:srgbClr val="FFFFFF"/>
          </a:solidFill>
          <a:ln w="12700">
            <a:solidFill>
              <a:srgbClr val="404040"/>
            </a:solidFill>
          </a:ln>
        </p:spPr>
        <p:txBody>
          <a:bodyPr wrap="square" anchor="t">
            <a:noAutofit/>
          </a:bodyPr>
          <a:lstStyle/>
          <a:p>
            <a:r>
              <a:rPr sz="1100">
                <a:solidFill>
                  <a:srgbClr val="000000"/>
                </a:solidFill>
                <a:latin typeface="Courier New"/>
              </a:rPr>
              <a:t>        private static readonly XNamespace Soap = "http://schemas.xmlsoap.org/soap/envelope/";</a:t>
            </a:r>
          </a:p>
          <a:p>
            <a:r>
              <a:rPr sz="1100">
                <a:solidFill>
                  <a:srgbClr val="000000"/>
                </a:solidFill>
                <a:latin typeface="Courier New"/>
              </a:rPr>
              <a:t>        private static readonly XNamespace Tempuri = "http://tempuri.org/";</a:t>
            </a:r>
          </a:p>
          <a:p>
            <a:r>
              <a:rPr sz="1100">
                <a:solidFill>
                  <a:srgbClr val="000000"/>
                </a:solidFill>
                <a:latin typeface="Courier New"/>
              </a:rPr>
              <a:t>        private static readonly XNamespace DcUsuario = "http://schemas.datacontract.org/2004/07/WS_ConversionUnidades_Donet_GR8.modelo";</a:t>
            </a:r>
          </a:p>
          <a:p>
            <a:r>
              <a:rPr sz="1100">
                <a:solidFill>
                  <a:srgbClr val="000000"/>
                </a:solidFill>
                <a:latin typeface="Courier New"/>
              </a:rPr>
              <a:t>        private static readonly XNamespace DcConversion = "http://schemas.datacontract.org/2004/07/WS_ConversionUnidades_Donet_GR8.dto";</a:t>
            </a:r>
          </a:p>
          <a:p>
            <a:r>
              <a:rPr sz="1100">
                <a:solidFill>
                  <a:srgbClr val="000000"/>
                </a:solidFill>
                <a:latin typeface="Courier New"/>
              </a:rPr>
              <a:t> </a:t>
            </a:r>
          </a:p>
          <a:p>
            <a:r>
              <a:rPr sz="1100">
                <a:solidFill>
                  <a:srgbClr val="000000"/>
                </a:solidFill>
                <a:latin typeface="Courier New"/>
              </a:rPr>
              <a:t>        private readonly HttpClient _http;</a:t>
            </a:r>
          </a:p>
          <a:p>
            <a:r>
              <a:rPr sz="1100">
                <a:solidFill>
                  <a:srgbClr val="000000"/>
                </a:solidFill>
                <a:latin typeface="Courier New"/>
              </a:rPr>
              <a:t>        private readonly ServicioSoapOpciones _opciones;</a:t>
            </a:r>
          </a:p>
          <a:p>
            <a:r>
              <a:rPr sz="1100">
                <a:solidFill>
                  <a:srgbClr val="000000"/>
                </a:solidFill>
                <a:latin typeface="Courier New"/>
              </a:rPr>
              <a:t> </a:t>
            </a:r>
          </a:p>
          <a:p>
            <a:r>
              <a:rPr sz="1100">
                <a:solidFill>
                  <a:srgbClr val="000000"/>
                </a:solidFill>
                <a:latin typeface="Courier New"/>
              </a:rPr>
              <a:t>        public SoapClienteServicio(HttpClient http, ServicioSoapOpciones opciones)</a:t>
            </a:r>
          </a:p>
          <a:p>
            <a:r>
              <a:rPr sz="1100">
                <a:solidFill>
                  <a:srgbClr val="000000"/>
                </a:solidFill>
                <a:latin typeface="Courier New"/>
              </a:rPr>
              <a:t>        {</a:t>
            </a:r>
          </a:p>
          <a:p>
            <a:r>
              <a:rPr sz="1100">
                <a:solidFill>
                  <a:srgbClr val="000000"/>
                </a:solidFill>
                <a:latin typeface="Courier New"/>
              </a:rPr>
              <a:t>            _http = http;</a:t>
            </a:r>
          </a:p>
          <a:p>
            <a:r>
              <a:rPr sz="1100">
                <a:solidFill>
                  <a:srgbClr val="000000"/>
                </a:solidFill>
                <a:latin typeface="Courier New"/>
              </a:rPr>
              <a:t>            _opciones = opciones;</a:t>
            </a:r>
          </a:p>
          <a:p>
            <a:r>
              <a:rPr sz="1100">
                <a:solidFill>
                  <a:srgbClr val="000000"/>
                </a:solidFill>
                <a:latin typeface="Courier New"/>
              </a:rPr>
              <a:t>        }</a:t>
            </a:r>
          </a:p>
          <a:p>
            <a:r>
              <a:rPr sz="1100">
                <a:solidFill>
                  <a:srgbClr val="000000"/>
                </a:solidFill>
                <a:latin typeface="Courier New"/>
              </a:rPr>
              <a:t> </a:t>
            </a:r>
          </a:p>
          <a:p>
            <a:r>
              <a:rPr sz="1100">
                <a:solidFill>
                  <a:srgbClr val="000000"/>
                </a:solidFill>
                <a:latin typeface="Courier New"/>
              </a:rPr>
              <a:t>        // ---------- Operaciones ----------</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 Services: ConvertirAsync</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2738120"/>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        public async Task&lt;double&gt; ConvertirAsync(string token, string tipoMagnitud,</a:t>
            </a:r>
          </a:p>
          <a:p>
            <a:r>
              <a:rPr sz="1200">
                <a:solidFill>
                  <a:srgbClr val="000000"/>
                </a:solidFill>
                <a:latin typeface="Courier New"/>
              </a:rPr>
              <a:t>            string unidadOrigen, string unidadDestino, double valorOrigen)</a:t>
            </a:r>
          </a:p>
          <a:p>
            <a:r>
              <a:rPr sz="1200">
                <a:solidFill>
                  <a:srgbClr val="000000"/>
                </a:solidFill>
                <a:latin typeface="Courier New"/>
              </a:rPr>
              <a:t>        {</a:t>
            </a:r>
          </a:p>
          <a:p>
            <a:r>
              <a:rPr sz="1200">
                <a:solidFill>
                  <a:srgbClr val="000000"/>
                </a:solidFill>
                <a:latin typeface="Courier New"/>
              </a:rPr>
              <a:t>            // ConversionDTO tampoco tiene [DataContract]: orden alfabético de sus miembros.</a:t>
            </a:r>
          </a:p>
          <a:p>
            <a:r>
              <a:rPr sz="1200">
                <a:solidFill>
                  <a:srgbClr val="000000"/>
                </a:solidFill>
                <a:latin typeface="Courier New"/>
              </a:rPr>
              <a:t>            // ValorResultado es nullable y el servidor lo calcula, por eso se omite.</a:t>
            </a:r>
          </a:p>
          <a:p>
            <a:r>
              <a:rPr sz="1200">
                <a:solidFill>
                  <a:srgbClr val="000000"/>
                </a:solidFill>
                <a:latin typeface="Courier New"/>
              </a:rPr>
              <a:t>            var cuerpo = new XElement(Tempuri + "convertir-unidades",</a:t>
            </a:r>
          </a:p>
          <a:p>
            <a:r>
              <a:rPr sz="1200">
                <a:solidFill>
                  <a:srgbClr val="000000"/>
                </a:solidFill>
                <a:latin typeface="Courier New"/>
              </a:rPr>
              <a:t>                new XElement(Tempuri + "peticionConversion",</a:t>
            </a:r>
          </a:p>
          <a:p>
            <a:r>
              <a:rPr sz="1200">
                <a:solidFill>
                  <a:srgbClr val="000000"/>
                </a:solidFill>
                <a:latin typeface="Courier New"/>
              </a:rPr>
              <a:t>                    new XAttribute(XNamespace.Xmlns + "d", DcConversion),</a:t>
            </a:r>
          </a:p>
          <a:p>
            <a:r>
              <a:rPr sz="1200">
                <a:solidFill>
                  <a:srgbClr val="000000"/>
                </a:solidFill>
                <a:latin typeface="Courier New"/>
              </a:rPr>
              <a:t>                    new XElement(DcConversion + "TipoMagnitud", tipoMagnitud),</a:t>
            </a:r>
          </a:p>
          <a:p>
            <a:r>
              <a:rPr sz="1200">
                <a:solidFill>
                  <a:srgbClr val="000000"/>
                </a:solidFill>
                <a:latin typeface="Courier New"/>
              </a:rPr>
              <a:t>                    new XElement(DcConversion + "UnidadDestino", unidadDestino),</a:t>
            </a:r>
          </a:p>
          <a:p>
            <a:r>
              <a:rPr sz="1200">
                <a:solidFill>
                  <a:srgbClr val="000000"/>
                </a:solidFill>
                <a:latin typeface="Courier New"/>
              </a:rPr>
              <a:t>                    new XElement(DcConversion + "UnidadOrigen", unidadOrigen),</a:t>
            </a:r>
          </a:p>
          <a:p>
            <a:r>
              <a:rPr sz="1200">
                <a:solidFill>
                  <a:srgbClr val="000000"/>
                </a:solidFill>
                <a:latin typeface="Courier New"/>
              </a:rPr>
              <a:t>                    new XElement(DcConversion + "ValorOrigen", valorOrigen.ToString("R", CultureInfo.InvariantCulture))));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95908"/>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 Vista Entrada.cs (1/2)</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Utilidades para leer datos y mostrar mensajes en la consola. Fragmento.</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925908"/>
            <a:ext cx="8288808" cy="2768600"/>
          </a:xfrm>
          <a:prstGeom prst="rect">
            <a:avLst/>
          </a:prstGeom>
          <a:solidFill>
            <a:srgbClr val="FFFFFF"/>
          </a:solidFill>
          <a:ln w="12700">
            <a:solidFill>
              <a:srgbClr val="404040"/>
            </a:solidFill>
          </a:ln>
        </p:spPr>
        <p:txBody>
          <a:bodyPr wrap="square" anchor="t">
            <a:noAutofit/>
          </a:bodyPr>
          <a:lstStyle/>
          <a:p>
            <a:r>
              <a:rPr sz="1000">
                <a:solidFill>
                  <a:srgbClr val="000000"/>
                </a:solidFill>
                <a:latin typeface="Courier New"/>
              </a:rPr>
              <a:t>namespace WS_ConversionUnidades_Donet_CLICON_GR8.Consola</a:t>
            </a:r>
          </a:p>
          <a:p>
            <a:r>
              <a:rPr sz="1000">
                <a:solidFill>
                  <a:srgbClr val="000000"/>
                </a:solidFill>
                <a:latin typeface="Courier New"/>
              </a:rPr>
              <a:t>{</a:t>
            </a:r>
          </a:p>
          <a:p>
            <a:r>
              <a:rPr sz="1000">
                <a:solidFill>
                  <a:srgbClr val="000000"/>
                </a:solidFill>
                <a:latin typeface="Courier New"/>
              </a:rPr>
              <a:t>    /// &lt;summary&gt;Utilidades para leer datos y mostrar mensajes en la consola.&lt;/summary&gt;</a:t>
            </a:r>
          </a:p>
          <a:p>
            <a:r>
              <a:rPr sz="1000">
                <a:solidFill>
                  <a:srgbClr val="000000"/>
                </a:solidFill>
                <a:latin typeface="Courier New"/>
              </a:rPr>
              <a:t>    public static class Entrada</a:t>
            </a:r>
          </a:p>
          <a:p>
            <a:r>
              <a:rPr sz="1000">
                <a:solidFill>
                  <a:srgbClr val="000000"/>
                </a:solidFill>
                <a:latin typeface="Courier New"/>
              </a:rPr>
              <a:t>    {</a:t>
            </a:r>
          </a:p>
          <a:p>
            <a:r>
              <a:rPr sz="1000">
                <a:solidFill>
                  <a:srgbClr val="000000"/>
                </a:solidFill>
                <a:latin typeface="Courier New"/>
              </a:rPr>
              <a:t>        public static string Texto(string mensaje)</a:t>
            </a:r>
          </a:p>
          <a:p>
            <a:r>
              <a:rPr sz="1000">
                <a:solidFill>
                  <a:srgbClr val="000000"/>
                </a:solidFill>
                <a:latin typeface="Courier New"/>
              </a:rPr>
              <a:t>        {</a:t>
            </a:r>
          </a:p>
          <a:p>
            <a:r>
              <a:rPr sz="1000">
                <a:solidFill>
                  <a:srgbClr val="000000"/>
                </a:solidFill>
                <a:latin typeface="Courier New"/>
              </a:rPr>
              <a:t>            Console.Write(mensaje);</a:t>
            </a:r>
          </a:p>
          <a:p>
            <a:r>
              <a:rPr sz="1000">
                <a:solidFill>
                  <a:srgbClr val="000000"/>
                </a:solidFill>
                <a:latin typeface="Courier New"/>
              </a:rPr>
              <a:t>            return (Console.ReadLine() ?? "").Trim();</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        // Lee la contraseña mostrando asteriscos (si la entrada viene redirigida, la lee como texto normal)</a:t>
            </a:r>
          </a:p>
          <a:p>
            <a:r>
              <a:rPr sz="1000">
                <a:solidFill>
                  <a:srgbClr val="000000"/>
                </a:solidFill>
                <a:latin typeface="Courier New"/>
              </a:rPr>
              <a:t>        public static string Contrasena(string mensaje)</a:t>
            </a:r>
          </a:p>
          <a:p>
            <a:r>
              <a:rPr sz="1000">
                <a:solidFill>
                  <a:srgbClr val="000000"/>
                </a:solidFill>
                <a:latin typeface="Courier New"/>
              </a:rPr>
              <a:t>        {</a:t>
            </a:r>
          </a:p>
          <a:p>
            <a:r>
              <a:rPr sz="1000">
                <a:solidFill>
                  <a:srgbClr val="000000"/>
                </a:solidFill>
                <a:latin typeface="Courier New"/>
              </a:rPr>
              <a:t>            Console.Write(mensaje);</a:t>
            </a:r>
          </a:p>
          <a:p>
            <a:r>
              <a:rPr sz="1000">
                <a:solidFill>
                  <a:srgbClr val="000000"/>
                </a:solidFill>
                <a:latin typeface="Courier New"/>
              </a:rPr>
              <a:t>            if (Console.IsInputRedirected) return Console.ReadLine() ?? "";</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 Vista Entrada.cs (2/2)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835400"/>
          </a:xfrm>
          <a:prstGeom prst="rect">
            <a:avLst/>
          </a:prstGeom>
          <a:solidFill>
            <a:srgbClr val="FFFFFF"/>
          </a:solidFill>
          <a:ln w="12700">
            <a:solidFill>
              <a:srgbClr val="404040"/>
            </a:solidFill>
          </a:ln>
        </p:spPr>
        <p:txBody>
          <a:bodyPr wrap="square" anchor="t">
            <a:noAutofit/>
          </a:bodyPr>
          <a:lstStyle/>
          <a:p>
            <a:r>
              <a:rPr sz="1000">
                <a:solidFill>
                  <a:srgbClr val="000000"/>
                </a:solidFill>
                <a:latin typeface="Courier New"/>
              </a:rPr>
              <a:t>            var sb = new StringBuilder();</a:t>
            </a:r>
          </a:p>
          <a:p>
            <a:r>
              <a:rPr sz="1000">
                <a:solidFill>
                  <a:srgbClr val="000000"/>
                </a:solidFill>
                <a:latin typeface="Courier New"/>
              </a:rPr>
              <a:t>            while (true)</a:t>
            </a:r>
          </a:p>
          <a:p>
            <a:r>
              <a:rPr sz="1000">
                <a:solidFill>
                  <a:srgbClr val="000000"/>
                </a:solidFill>
                <a:latin typeface="Courier New"/>
              </a:rPr>
              <a:t>            {</a:t>
            </a:r>
          </a:p>
          <a:p>
            <a:r>
              <a:rPr sz="1000">
                <a:solidFill>
                  <a:srgbClr val="000000"/>
                </a:solidFill>
                <a:latin typeface="Courier New"/>
              </a:rPr>
              <a:t>                var tecla = Console.ReadKey(intercept: true);</a:t>
            </a:r>
          </a:p>
          <a:p>
            <a:r>
              <a:rPr sz="1000">
                <a:solidFill>
                  <a:srgbClr val="000000"/>
                </a:solidFill>
                <a:latin typeface="Courier New"/>
              </a:rPr>
              <a:t>                if (tecla.Key == ConsoleKey.Enter)</a:t>
            </a:r>
          </a:p>
          <a:p>
            <a:r>
              <a:rPr sz="1000">
                <a:solidFill>
                  <a:srgbClr val="000000"/>
                </a:solidFill>
                <a:latin typeface="Courier New"/>
              </a:rPr>
              <a:t>                {</a:t>
            </a:r>
          </a:p>
          <a:p>
            <a:r>
              <a:rPr sz="1000">
                <a:solidFill>
                  <a:srgbClr val="000000"/>
                </a:solidFill>
                <a:latin typeface="Courier New"/>
              </a:rPr>
              <a:t>                    Console.WriteLine();</a:t>
            </a:r>
          </a:p>
          <a:p>
            <a:r>
              <a:rPr sz="1000">
                <a:solidFill>
                  <a:srgbClr val="000000"/>
                </a:solidFill>
                <a:latin typeface="Courier New"/>
              </a:rPr>
              <a:t>                    return sb.ToString();</a:t>
            </a:r>
          </a:p>
          <a:p>
            <a:r>
              <a:rPr sz="1000">
                <a:solidFill>
                  <a:srgbClr val="000000"/>
                </a:solidFill>
                <a:latin typeface="Courier New"/>
              </a:rPr>
              <a:t>                }</a:t>
            </a:r>
          </a:p>
          <a:p>
            <a:r>
              <a:rPr sz="1000">
                <a:solidFill>
                  <a:srgbClr val="000000"/>
                </a:solidFill>
                <a:latin typeface="Courier New"/>
              </a:rPr>
              <a:t>                if (tecla.Key == ConsoleKey.Backspace)</a:t>
            </a:r>
          </a:p>
          <a:p>
            <a:r>
              <a:rPr sz="1000">
                <a:solidFill>
                  <a:srgbClr val="000000"/>
                </a:solidFill>
                <a:latin typeface="Courier New"/>
              </a:rPr>
              <a:t>                {</a:t>
            </a:r>
          </a:p>
          <a:p>
            <a:r>
              <a:rPr sz="1000">
                <a:solidFill>
                  <a:srgbClr val="000000"/>
                </a:solidFill>
                <a:latin typeface="Courier New"/>
              </a:rPr>
              <a:t>                    if (sb.Length &gt; 0)</a:t>
            </a:r>
          </a:p>
          <a:p>
            <a:r>
              <a:rPr sz="1000">
                <a:solidFill>
                  <a:srgbClr val="000000"/>
                </a:solidFill>
                <a:latin typeface="Courier New"/>
              </a:rPr>
              <a:t>                    {</a:t>
            </a:r>
          </a:p>
          <a:p>
            <a:r>
              <a:rPr sz="1000">
                <a:solidFill>
                  <a:srgbClr val="000000"/>
                </a:solidFill>
                <a:latin typeface="Courier New"/>
              </a:rPr>
              <a:t>                        sb.Length--;</a:t>
            </a:r>
          </a:p>
          <a:p>
            <a:r>
              <a:rPr sz="1000">
                <a:solidFill>
                  <a:srgbClr val="000000"/>
                </a:solidFill>
                <a:latin typeface="Courier New"/>
              </a:rPr>
              <a:t>                        Console.Write("\b \b");</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                else if (!char.IsControl(tecla.KeyChar))</a:t>
            </a:r>
          </a:p>
          <a:p>
            <a:r>
              <a:rPr sz="1000">
                <a:solidFill>
                  <a:srgbClr val="000000"/>
                </a:solidFill>
                <a:latin typeface="Courier New"/>
              </a:rPr>
              <a:t>                {</a:t>
            </a:r>
          </a:p>
          <a:p>
            <a:r>
              <a:rPr sz="1000">
                <a:solidFill>
                  <a:srgbClr val="000000"/>
                </a:solidFill>
                <a:latin typeface="Courier New"/>
              </a:rPr>
              <a:t>                    sb.Append(tecla.KeyChar);</a:t>
            </a:r>
          </a:p>
          <a:p>
            <a:r>
              <a:rPr sz="1000">
                <a:solidFill>
                  <a:srgbClr val="000000"/>
                </a:solidFill>
                <a:latin typeface="Courier New"/>
              </a:rPr>
              <a:t>                    Console.Write('*');</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        }</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417726"/>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 Paso 1</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Para optimizar el tiempo se optó por usar Windows Forms, que permite crear un proyecto de escritorio. En Visual Studio se selecciona una solución en blanco; luego se asigna un nombre y un directorio y se da clic en crear.</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22.png"/>
          <p:cNvPicPr>
            <a:picLocks noChangeAspect="1"/>
          </p:cNvPicPr>
          <p:nvPr/>
        </p:nvPicPr>
        <p:blipFill>
          <a:blip r:embed="rId2"/>
          <a:stretch>
            <a:fillRect/>
          </a:stretch>
        </p:blipFill>
        <p:spPr>
          <a:xfrm>
            <a:off x="2373844" y="3467726"/>
            <a:ext cx="5003502" cy="3132274"/>
          </a:xfrm>
          <a:prstGeom prst="rect">
            <a:avLst/>
          </a:prstGeom>
        </p:spPr>
      </p:pic>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95908"/>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 Paso 2: Arquitectura MVC</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Se crea la arquitectura orientada al patrón Modelo, Vista y Controlador.</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23.png"/>
          <p:cNvPicPr>
            <a:picLocks noChangeAspect="1"/>
          </p:cNvPicPr>
          <p:nvPr/>
        </p:nvPicPr>
        <p:blipFill>
          <a:blip r:embed="rId2"/>
          <a:stretch>
            <a:fillRect/>
          </a:stretch>
        </p:blipFill>
        <p:spPr>
          <a:xfrm>
            <a:off x="2536977" y="2945908"/>
            <a:ext cx="4677237" cy="3654092"/>
          </a:xfrm>
          <a:prstGeom prst="rect">
            <a:avLst/>
          </a:prstGeom>
        </p:spPr>
      </p:pic>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95908"/>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 Paso 3: Clases de Vista (FrmConversor) (1/2)</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Las clases de Forms son la vista donde se muestran las pantallas. Fragmento.</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925908"/>
            <a:ext cx="8288808" cy="2738120"/>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using System.Drawing;</a:t>
            </a:r>
          </a:p>
          <a:p>
            <a:r>
              <a:rPr sz="1200">
                <a:solidFill>
                  <a:srgbClr val="000000"/>
                </a:solidFill>
                <a:latin typeface="Courier New"/>
              </a:rPr>
              <a:t>using System.Globalization;</a:t>
            </a:r>
          </a:p>
          <a:p>
            <a:r>
              <a:rPr sz="1200">
                <a:solidFill>
                  <a:srgbClr val="000000"/>
                </a:solidFill>
                <a:latin typeface="Courier New"/>
              </a:rPr>
              <a:t>using System.Windows.Forms;</a:t>
            </a:r>
          </a:p>
          <a:p>
            <a:r>
              <a:rPr sz="1200">
                <a:solidFill>
                  <a:srgbClr val="000000"/>
                </a:solidFill>
                <a:latin typeface="Courier New"/>
              </a:rPr>
              <a:t>using WS_ConversionUnidades_Donet_CLIESC_GR8.Models;</a:t>
            </a:r>
          </a:p>
          <a:p>
            <a:r>
              <a:rPr sz="1200">
                <a:solidFill>
                  <a:srgbClr val="000000"/>
                </a:solidFill>
                <a:latin typeface="Courier New"/>
              </a:rPr>
              <a:t>using WS_ConversionUnidades_Donet_CLIESC_GR8.Services;</a:t>
            </a:r>
          </a:p>
          <a:p>
            <a:r>
              <a:rPr sz="1200">
                <a:solidFill>
                  <a:srgbClr val="000000"/>
                </a:solidFill>
                <a:latin typeface="Courier New"/>
              </a:rPr>
              <a:t> </a:t>
            </a:r>
          </a:p>
          <a:p>
            <a:r>
              <a:rPr sz="1200">
                <a:solidFill>
                  <a:srgbClr val="000000"/>
                </a:solidFill>
                <a:latin typeface="Courier New"/>
              </a:rPr>
              <a:t>namespace WS_ConversionUnidades_Donet_CLIESC_GR8.Forms</a:t>
            </a:r>
          </a:p>
          <a:p>
            <a:r>
              <a:rPr sz="1200">
                <a:solidFill>
                  <a:srgbClr val="000000"/>
                </a:solidFill>
                <a:latin typeface="Courier New"/>
              </a:rPr>
              <a:t>{</a:t>
            </a:r>
          </a:p>
          <a:p>
            <a:r>
              <a:rPr sz="1200">
                <a:solidFill>
                  <a:srgbClr val="000000"/>
                </a:solidFill>
                <a:latin typeface="Courier New"/>
              </a:rPr>
              <a:t>    public class FrmConversor : Form</a:t>
            </a:r>
          </a:p>
          <a:p>
            <a:r>
              <a:rPr sz="1200">
                <a:solidFill>
                  <a:srgbClr val="000000"/>
                </a:solidFill>
                <a:latin typeface="Courier New"/>
              </a:rPr>
              <a:t>    {</a:t>
            </a:r>
          </a:p>
          <a:p>
            <a:r>
              <a:rPr sz="1200">
                <a:solidFill>
                  <a:srgbClr val="000000"/>
                </a:solidFill>
                <a:latin typeface="Courier New"/>
              </a:rPr>
              <a:t>        private readonly SoapClienteServicio _soap;</a:t>
            </a:r>
          </a:p>
          <a:p>
            <a:r>
              <a:rPr sz="1200">
                <a:solidFill>
                  <a:srgbClr val="000000"/>
                </a:solidFill>
                <a:latin typeface="Courier New"/>
              </a:rPr>
              <a:t>        private readonly string _token;</a:t>
            </a:r>
          </a:p>
          <a:p>
            <a:r>
              <a:rPr sz="1200">
                <a:solidFill>
                  <a:srgbClr val="000000"/>
                </a:solidFill>
                <a:latin typeface="Courier New"/>
              </a:rPr>
              <a:t>        private readonly string _usuario;</a:t>
            </a:r>
          </a:p>
          <a:p>
            <a:r>
              <a:rPr sz="1200">
                <a:solidFill>
                  <a:srgbClr val="000000"/>
                </a:solidFill>
                <a:latin typeface="Courier New"/>
              </a:rPr>
              <a:t>        private bool _sesionCerrada;</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 Paso 3: Clases de Vista (FrmConversor) (2/2)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835400"/>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        private readonly ComboBox cmbMagnitud = new ComboBox();</a:t>
            </a:r>
          </a:p>
          <a:p>
            <a:r>
              <a:rPr sz="1200">
                <a:solidFill>
                  <a:srgbClr val="000000"/>
                </a:solidFill>
                <a:latin typeface="Courier New"/>
              </a:rPr>
              <a:t>        private readonly TextBox txtValor = new TextBox();</a:t>
            </a:r>
          </a:p>
          <a:p>
            <a:r>
              <a:rPr sz="1200">
                <a:solidFill>
                  <a:srgbClr val="000000"/>
                </a:solidFill>
                <a:latin typeface="Courier New"/>
              </a:rPr>
              <a:t>        private readonly ComboBox cmbOrigen = new ComboBox();</a:t>
            </a:r>
          </a:p>
          <a:p>
            <a:r>
              <a:rPr sz="1200">
                <a:solidFill>
                  <a:srgbClr val="000000"/>
                </a:solidFill>
                <a:latin typeface="Courier New"/>
              </a:rPr>
              <a:t>        private readonly ComboBox cmbDestino = new ComboBox();</a:t>
            </a:r>
          </a:p>
          <a:p>
            <a:r>
              <a:rPr sz="1200">
                <a:solidFill>
                  <a:srgbClr val="000000"/>
                </a:solidFill>
                <a:latin typeface="Courier New"/>
              </a:rPr>
              <a:t>        private readonly Button btnConvertir = new Button();</a:t>
            </a:r>
          </a:p>
          <a:p>
            <a:r>
              <a:rPr sz="1200">
                <a:solidFill>
                  <a:srgbClr val="000000"/>
                </a:solidFill>
                <a:latin typeface="Courier New"/>
              </a:rPr>
              <a:t>        private readonly Button btnCerrarSesion = new Button();</a:t>
            </a:r>
          </a:p>
          <a:p>
            <a:r>
              <a:rPr sz="1200">
                <a:solidFill>
                  <a:srgbClr val="000000"/>
                </a:solidFill>
                <a:latin typeface="Courier New"/>
              </a:rPr>
              <a:t>        private readonly Label lblResultado = new Label();</a:t>
            </a:r>
          </a:p>
          <a:p>
            <a:r>
              <a:rPr sz="1200">
                <a:solidFill>
                  <a:srgbClr val="000000"/>
                </a:solidFill>
                <a:latin typeface="Courier New"/>
              </a:rPr>
              <a:t>        private readonly Label lblError = new Label();</a:t>
            </a:r>
          </a:p>
          <a:p>
            <a:r>
              <a:rPr sz="1200">
                <a:solidFill>
                  <a:srgbClr val="000000"/>
                </a:solidFill>
                <a:latin typeface="Courier New"/>
              </a:rPr>
              <a:t> </a:t>
            </a:r>
          </a:p>
          <a:p>
            <a:r>
              <a:rPr sz="1200">
                <a:solidFill>
                  <a:srgbClr val="000000"/>
                </a:solidFill>
                <a:latin typeface="Courier New"/>
              </a:rPr>
              <a:t>        // true cuando el usuario cerró sesión (o expiró): Program vuelve a mostrar el login</a:t>
            </a:r>
          </a:p>
          <a:p>
            <a:r>
              <a:rPr sz="1200">
                <a:solidFill>
                  <a:srgbClr val="000000"/>
                </a:solidFill>
                <a:latin typeface="Courier New"/>
              </a:rPr>
              <a:t>        public bool CerrarSesionSolicitada { get; private set; }</a:t>
            </a:r>
          </a:p>
          <a:p>
            <a:r>
              <a:rPr sz="1200">
                <a:solidFill>
                  <a:srgbClr val="000000"/>
                </a:solidFill>
                <a:latin typeface="Courier New"/>
              </a:rPr>
              <a:t> </a:t>
            </a:r>
          </a:p>
          <a:p>
            <a:r>
              <a:rPr sz="1200">
                <a:solidFill>
                  <a:srgbClr val="000000"/>
                </a:solidFill>
                <a:latin typeface="Courier New"/>
              </a:rPr>
              <a:t>        public FrmConversor(SoapClienteServicio soap, string token, string usuario)</a:t>
            </a:r>
          </a:p>
          <a:p>
            <a:r>
              <a:rPr sz="1200">
                <a:solidFill>
                  <a:srgbClr val="000000"/>
                </a:solidFill>
                <a:latin typeface="Courier New"/>
              </a:rPr>
              <a:t>        {</a:t>
            </a:r>
          </a:p>
          <a:p>
            <a:r>
              <a:rPr sz="1200">
                <a:solidFill>
                  <a:srgbClr val="000000"/>
                </a:solidFill>
                <a:latin typeface="Courier New"/>
              </a:rPr>
              <a:t>            _soap = soap;</a:t>
            </a:r>
          </a:p>
          <a:p>
            <a:r>
              <a:rPr sz="1200">
                <a:solidFill>
                  <a:srgbClr val="000000"/>
                </a:solidFill>
                <a:latin typeface="Courier New"/>
              </a:rPr>
              <a:t>            _token = token;</a:t>
            </a:r>
          </a:p>
          <a:p>
            <a:r>
              <a:rPr sz="1200">
                <a:solidFill>
                  <a:srgbClr val="000000"/>
                </a:solidFill>
                <a:latin typeface="Courier New"/>
              </a:rPr>
              <a:t>            _usuario = usuario;</a:t>
            </a:r>
          </a:p>
          <a:p>
            <a:r>
              <a:rPr sz="1200">
                <a:solidFill>
                  <a:srgbClr val="000000"/>
                </a:solidFill>
                <a:latin typeface="Courier New"/>
              </a:rPr>
              <a:t>            ConstruirInterfaz();</a:t>
            </a:r>
          </a:p>
          <a:p>
            <a:r>
              <a:rPr sz="1200">
                <a:solidFill>
                  <a:srgbClr val="000000"/>
                </a:solidFill>
                <a:latin typeface="Courier New"/>
              </a:rPr>
              <a:t>        }</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 FrmConversor: BtnConvertir_Click (1/2)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530600"/>
          </a:xfrm>
          <a:prstGeom prst="rect">
            <a:avLst/>
          </a:prstGeom>
          <a:solidFill>
            <a:srgbClr val="FFFFFF"/>
          </a:solidFill>
          <a:ln w="12700">
            <a:solidFill>
              <a:srgbClr val="404040"/>
            </a:solidFill>
          </a:ln>
        </p:spPr>
        <p:txBody>
          <a:bodyPr wrap="square" anchor="t">
            <a:noAutofit/>
          </a:bodyPr>
          <a:lstStyle/>
          <a:p>
            <a:r>
              <a:rPr sz="1000">
                <a:solidFill>
                  <a:srgbClr val="000000"/>
                </a:solidFill>
                <a:latin typeface="Courier New"/>
              </a:rPr>
              <a:t>        private async void BtnConvertir_Click(object? sender, EventArgs e)</a:t>
            </a:r>
          </a:p>
          <a:p>
            <a:r>
              <a:rPr sz="1000">
                <a:solidFill>
                  <a:srgbClr val="000000"/>
                </a:solidFill>
                <a:latin typeface="Courier New"/>
              </a:rPr>
              <a:t>        {</a:t>
            </a:r>
          </a:p>
          <a:p>
            <a:r>
              <a:rPr sz="1000">
                <a:solidFill>
                  <a:srgbClr val="000000"/>
                </a:solidFill>
                <a:latin typeface="Courier New"/>
              </a:rPr>
              <a:t>            lblError.Text = "";</a:t>
            </a:r>
          </a:p>
          <a:p>
            <a:r>
              <a:rPr sz="1000">
                <a:solidFill>
                  <a:srgbClr val="000000"/>
                </a:solidFill>
                <a:latin typeface="Courier New"/>
              </a:rPr>
              <a:t>            lblResultado.Text = "";</a:t>
            </a:r>
          </a:p>
          <a:p>
            <a:r>
              <a:rPr sz="1000">
                <a:solidFill>
                  <a:srgbClr val="000000"/>
                </a:solidFill>
                <a:latin typeface="Courier New"/>
              </a:rPr>
              <a:t> </a:t>
            </a:r>
          </a:p>
          <a:p>
            <a:r>
              <a:rPr sz="1000">
                <a:solidFill>
                  <a:srgbClr val="000000"/>
                </a:solidFill>
                <a:latin typeface="Courier New"/>
              </a:rPr>
              <a:t>            if (!TryLeerValor(out var valor))</a:t>
            </a:r>
          </a:p>
          <a:p>
            <a:r>
              <a:rPr sz="1000">
                <a:solidFill>
                  <a:srgbClr val="000000"/>
                </a:solidFill>
                <a:latin typeface="Courier New"/>
              </a:rPr>
              <a:t>            {</a:t>
            </a:r>
          </a:p>
          <a:p>
            <a:r>
              <a:rPr sz="1000">
                <a:solidFill>
                  <a:srgbClr val="000000"/>
                </a:solidFill>
                <a:latin typeface="Courier New"/>
              </a:rPr>
              <a:t>                lblError.Text = "Ingresa un valor numérico válido.";</a:t>
            </a:r>
          </a:p>
          <a:p>
            <a:r>
              <a:rPr sz="1000">
                <a:solidFill>
                  <a:srgbClr val="000000"/>
                </a:solidFill>
                <a:latin typeface="Courier New"/>
              </a:rPr>
              <a:t>                return;</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            var magnitud = ((Unidad)cmbMagnitud.SelectedItem!).Valor;</a:t>
            </a:r>
          </a:p>
          <a:p>
            <a:r>
              <a:rPr sz="1000">
                <a:solidFill>
                  <a:srgbClr val="000000"/>
                </a:solidFill>
                <a:latin typeface="Courier New"/>
              </a:rPr>
              <a:t>            var origen = ((Unidad)cmbOrigen.SelectedItem!).Valor;</a:t>
            </a:r>
          </a:p>
          <a:p>
            <a:r>
              <a:rPr sz="1000">
                <a:solidFill>
                  <a:srgbClr val="000000"/>
                </a:solidFill>
                <a:latin typeface="Courier New"/>
              </a:rPr>
              <a:t>            var destino = ((Unidad)cmbDestino.SelectedItem!).Valor;</a:t>
            </a:r>
          </a:p>
          <a:p>
            <a:r>
              <a:rPr sz="1000">
                <a:solidFill>
                  <a:srgbClr val="000000"/>
                </a:solidFill>
                <a:latin typeface="Courier New"/>
              </a:rPr>
              <a:t> </a:t>
            </a:r>
          </a:p>
          <a:p>
            <a:r>
              <a:rPr sz="1000">
                <a:solidFill>
                  <a:srgbClr val="000000"/>
                </a:solidFill>
                <a:latin typeface="Courier New"/>
              </a:rPr>
              <a:t>            btnConvertir.Enabled = false;</a:t>
            </a:r>
          </a:p>
          <a:p>
            <a:r>
              <a:rPr sz="1000">
                <a:solidFill>
                  <a:srgbClr val="000000"/>
                </a:solidFill>
                <a:latin typeface="Courier New"/>
              </a:rPr>
              <a:t>            Cursor = Cursors.WaitCursor;</a:t>
            </a:r>
          </a:p>
          <a:p>
            <a:r>
              <a:rPr sz="1000">
                <a:solidFill>
                  <a:srgbClr val="000000"/>
                </a:solidFill>
                <a:latin typeface="Courier New"/>
              </a:rPr>
              <a:t>            try</a:t>
            </a:r>
          </a:p>
          <a:p>
            <a:r>
              <a:rPr sz="1000">
                <a:solidFill>
                  <a:srgbClr val="000000"/>
                </a:solidFill>
                <a:latin typeface="Courier New"/>
              </a:rPr>
              <a:t>            {</a:t>
            </a:r>
          </a:p>
          <a:p>
            <a:r>
              <a:rPr sz="1000">
                <a:solidFill>
                  <a:srgbClr val="000000"/>
                </a:solidFill>
                <a:latin typeface="Courier New"/>
              </a:rPr>
              <a:t>                var resultado = await _soap.ConvertirAsync(_token, magnitud, origen, destino, valor);</a:t>
            </a:r>
          </a:p>
          <a:p>
            <a:r>
              <a:rPr sz="1000">
                <a:solidFill>
                  <a:srgbClr val="000000"/>
                </a:solidFill>
                <a:latin typeface="Courier New"/>
              </a:rPr>
              <a:t>                lblResultado.Text = $"{Formato(valor)} {origen.ToLowerInvariant()} = {Formato(resultado)} {destino.ToLowerInvariant()}";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 FrmConversor: BtnConvertir_Click (2/2)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378200"/>
          </a:xfrm>
          <a:prstGeom prst="rect">
            <a:avLst/>
          </a:prstGeom>
          <a:solidFill>
            <a:srgbClr val="FFFFFF"/>
          </a:solidFill>
          <a:ln w="12700">
            <a:solidFill>
              <a:srgbClr val="404040"/>
            </a:solidFill>
          </a:ln>
        </p:spPr>
        <p:txBody>
          <a:bodyPr wrap="square" anchor="t">
            <a:noAutofit/>
          </a:bodyPr>
          <a:lstStyle/>
          <a:p>
            <a:r>
              <a:rPr sz="1000">
                <a:solidFill>
                  <a:srgbClr val="000000"/>
                </a:solidFill>
                <a:latin typeface="Courier New"/>
              </a:rPr>
              <a:t>            }</a:t>
            </a:r>
          </a:p>
          <a:p>
            <a:r>
              <a:rPr sz="1000">
                <a:solidFill>
                  <a:srgbClr val="000000"/>
                </a:solidFill>
                <a:latin typeface="Courier New"/>
              </a:rPr>
              <a:t>            catch (SoapClienteException ex) when (ex.AccesoDenegado)</a:t>
            </a:r>
          </a:p>
          <a:p>
            <a:r>
              <a:rPr sz="1000">
                <a:solidFill>
                  <a:srgbClr val="000000"/>
                </a:solidFill>
                <a:latin typeface="Courier New"/>
              </a:rPr>
              <a:t>            {</a:t>
            </a:r>
          </a:p>
          <a:p>
            <a:r>
              <a:rPr sz="1000">
                <a:solidFill>
                  <a:srgbClr val="000000"/>
                </a:solidFill>
                <a:latin typeface="Courier New"/>
              </a:rPr>
              <a:t>                // El token ya no es válido (por ejemplo, el servidor se reinició): hay que iniciar sesión otra vez</a:t>
            </a:r>
          </a:p>
          <a:p>
            <a:r>
              <a:rPr sz="1000">
                <a:solidFill>
                  <a:srgbClr val="000000"/>
                </a:solidFill>
                <a:latin typeface="Courier New"/>
              </a:rPr>
              <a:t>                _sesionCerrada = true;</a:t>
            </a:r>
          </a:p>
          <a:p>
            <a:r>
              <a:rPr sz="1000">
                <a:solidFill>
                  <a:srgbClr val="000000"/>
                </a:solidFill>
                <a:latin typeface="Courier New"/>
              </a:rPr>
              <a:t>                MessageBox.Show(this, "Tu sesión expiró. Inicia sesión nuevamente.", "Sesión",</a:t>
            </a:r>
          </a:p>
          <a:p>
            <a:r>
              <a:rPr sz="1000">
                <a:solidFill>
                  <a:srgbClr val="000000"/>
                </a:solidFill>
                <a:latin typeface="Courier New"/>
              </a:rPr>
              <a:t>                    MessageBoxButtons.OK, MessageBoxIcon.Information);</a:t>
            </a:r>
          </a:p>
          <a:p>
            <a:r>
              <a:rPr sz="1000">
                <a:solidFill>
                  <a:srgbClr val="000000"/>
                </a:solidFill>
                <a:latin typeface="Courier New"/>
              </a:rPr>
              <a:t>                CerrarSesionSolicitada = true;</a:t>
            </a:r>
          </a:p>
          <a:p>
            <a:r>
              <a:rPr sz="1000">
                <a:solidFill>
                  <a:srgbClr val="000000"/>
                </a:solidFill>
                <a:latin typeface="Courier New"/>
              </a:rPr>
              <a:t>                Close();</a:t>
            </a:r>
          </a:p>
          <a:p>
            <a:r>
              <a:rPr sz="1000">
                <a:solidFill>
                  <a:srgbClr val="000000"/>
                </a:solidFill>
                <a:latin typeface="Courier New"/>
              </a:rPr>
              <a:t>            }</a:t>
            </a:r>
          </a:p>
          <a:p>
            <a:r>
              <a:rPr sz="1000">
                <a:solidFill>
                  <a:srgbClr val="000000"/>
                </a:solidFill>
                <a:latin typeface="Courier New"/>
              </a:rPr>
              <a:t>            catch (SoapClienteException ex)</a:t>
            </a:r>
          </a:p>
          <a:p>
            <a:r>
              <a:rPr sz="1000">
                <a:solidFill>
                  <a:srgbClr val="000000"/>
                </a:solidFill>
                <a:latin typeface="Courier New"/>
              </a:rPr>
              <a:t>            {</a:t>
            </a:r>
          </a:p>
          <a:p>
            <a:r>
              <a:rPr sz="1000">
                <a:solidFill>
                  <a:srgbClr val="000000"/>
                </a:solidFill>
                <a:latin typeface="Courier New"/>
              </a:rPr>
              <a:t>                lblError.Text = ex.Message;</a:t>
            </a:r>
          </a:p>
          <a:p>
            <a:r>
              <a:rPr sz="1000">
                <a:solidFill>
                  <a:srgbClr val="000000"/>
                </a:solidFill>
                <a:latin typeface="Courier New"/>
              </a:rPr>
              <a:t>            }</a:t>
            </a:r>
          </a:p>
          <a:p>
            <a:r>
              <a:rPr sz="1000">
                <a:solidFill>
                  <a:srgbClr val="000000"/>
                </a:solidFill>
                <a:latin typeface="Courier New"/>
              </a:rPr>
              <a:t>            finally</a:t>
            </a:r>
          </a:p>
          <a:p>
            <a:r>
              <a:rPr sz="1000">
                <a:solidFill>
                  <a:srgbClr val="000000"/>
                </a:solidFill>
                <a:latin typeface="Courier New"/>
              </a:rPr>
              <a:t>            {</a:t>
            </a:r>
          </a:p>
          <a:p>
            <a:r>
              <a:rPr sz="1000">
                <a:solidFill>
                  <a:srgbClr val="000000"/>
                </a:solidFill>
                <a:latin typeface="Courier New"/>
              </a:rPr>
              <a:t>                btnConvertir.Enabled = true;</a:t>
            </a:r>
          </a:p>
          <a:p>
            <a:r>
              <a:rPr sz="1000">
                <a:solidFill>
                  <a:srgbClr val="000000"/>
                </a:solidFill>
                <a:latin typeface="Courier New"/>
              </a:rPr>
              <a:t>                Cursor = Cursors.Default;</a:t>
            </a:r>
          </a:p>
          <a:p>
            <a:r>
              <a:rPr sz="1000">
                <a:solidFill>
                  <a:srgbClr val="000000"/>
                </a:solidFill>
                <a:latin typeface="Courier New"/>
              </a:rPr>
              <a:t>            }</a:t>
            </a:r>
          </a:p>
          <a:p>
            <a:r>
              <a:rPr sz="1000">
                <a:solidFill>
                  <a:srgbClr val="000000"/>
                </a:solidFill>
                <a:latin typeface="Courier New"/>
              </a:rPr>
              <a:t>        }</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 FrmLogin: BtnIngresar_Click (1/2)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2006600"/>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        private async void BtnIngresar_Click(object? sender, EventArgs e)</a:t>
            </a:r>
          </a:p>
          <a:p>
            <a:r>
              <a:rPr sz="1200">
                <a:solidFill>
                  <a:srgbClr val="000000"/>
                </a:solidFill>
                <a:latin typeface="Courier New"/>
              </a:rPr>
              <a:t>        {</a:t>
            </a:r>
          </a:p>
          <a:p>
            <a:r>
              <a:rPr sz="1200">
                <a:solidFill>
                  <a:srgbClr val="000000"/>
                </a:solidFill>
                <a:latin typeface="Courier New"/>
              </a:rPr>
              <a:t>            lblError.Text = "";</a:t>
            </a:r>
          </a:p>
          <a:p>
            <a:r>
              <a:rPr sz="1200">
                <a:solidFill>
                  <a:srgbClr val="000000"/>
                </a:solidFill>
                <a:latin typeface="Courier New"/>
              </a:rPr>
              <a:t>            var usuario = txtUsuario.Text.Trim();</a:t>
            </a:r>
          </a:p>
          <a:p>
            <a:r>
              <a:rPr sz="1200">
                <a:solidFill>
                  <a:srgbClr val="000000"/>
                </a:solidFill>
                <a:latin typeface="Courier New"/>
              </a:rPr>
              <a:t> </a:t>
            </a:r>
          </a:p>
          <a:p>
            <a:r>
              <a:rPr sz="1200">
                <a:solidFill>
                  <a:srgbClr val="000000"/>
                </a:solidFill>
                <a:latin typeface="Courier New"/>
              </a:rPr>
              <a:t>            if (usuario.Length == 0 || txtContrasena.Text.Length == 0)</a:t>
            </a:r>
          </a:p>
          <a:p>
            <a:r>
              <a:rPr sz="1200">
                <a:solidFill>
                  <a:srgbClr val="000000"/>
                </a:solidFill>
                <a:latin typeface="Courier New"/>
              </a:rPr>
              <a:t>            {</a:t>
            </a:r>
          </a:p>
          <a:p>
            <a:r>
              <a:rPr sz="1200">
                <a:solidFill>
                  <a:srgbClr val="000000"/>
                </a:solidFill>
                <a:latin typeface="Courier New"/>
              </a:rPr>
              <a:t>                lblError.Text = "Ingresa tu usuario y contraseña.";</a:t>
            </a:r>
          </a:p>
          <a:p>
            <a:r>
              <a:rPr sz="1200">
                <a:solidFill>
                  <a:srgbClr val="000000"/>
                </a:solidFill>
                <a:latin typeface="Courier New"/>
              </a:rPr>
              <a:t>                return;</a:t>
            </a:r>
          </a:p>
          <a:p>
            <a:r>
              <a:rPr sz="1200">
                <a:solidFill>
                  <a:srgbClr val="000000"/>
                </a:solidFill>
                <a:latin typeface="Courier New"/>
              </a:rPr>
              <a:t>            }</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 FrmLogin: BtnIngresar_Click (2/2)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835400"/>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            btnIngresar.Enabled = false;</a:t>
            </a:r>
          </a:p>
          <a:p>
            <a:r>
              <a:rPr sz="1200">
                <a:solidFill>
                  <a:srgbClr val="000000"/>
                </a:solidFill>
                <a:latin typeface="Courier New"/>
              </a:rPr>
              <a:t>            Cursor = Cursors.WaitCursor;</a:t>
            </a:r>
          </a:p>
          <a:p>
            <a:r>
              <a:rPr sz="1200">
                <a:solidFill>
                  <a:srgbClr val="000000"/>
                </a:solidFill>
                <a:latin typeface="Courier New"/>
              </a:rPr>
              <a:t>            try</a:t>
            </a:r>
          </a:p>
          <a:p>
            <a:r>
              <a:rPr sz="1200">
                <a:solidFill>
                  <a:srgbClr val="000000"/>
                </a:solidFill>
                <a:latin typeface="Courier New"/>
              </a:rPr>
              <a:t>            {</a:t>
            </a:r>
          </a:p>
          <a:p>
            <a:r>
              <a:rPr sz="1200">
                <a:solidFill>
                  <a:srgbClr val="000000"/>
                </a:solidFill>
                <a:latin typeface="Courier New"/>
              </a:rPr>
              <a:t>                Token = await _soap.LoginAsync(usuario, txtContrasena.Text);</a:t>
            </a:r>
          </a:p>
          <a:p>
            <a:r>
              <a:rPr sz="1200">
                <a:solidFill>
                  <a:srgbClr val="000000"/>
                </a:solidFill>
                <a:latin typeface="Courier New"/>
              </a:rPr>
              <a:t>                Usuario = usuario;</a:t>
            </a:r>
          </a:p>
          <a:p>
            <a:r>
              <a:rPr sz="1200">
                <a:solidFill>
                  <a:srgbClr val="000000"/>
                </a:solidFill>
                <a:latin typeface="Courier New"/>
              </a:rPr>
              <a:t>                DialogResult = DialogResult.OK;</a:t>
            </a:r>
          </a:p>
          <a:p>
            <a:r>
              <a:rPr sz="1200">
                <a:solidFill>
                  <a:srgbClr val="000000"/>
                </a:solidFill>
                <a:latin typeface="Courier New"/>
              </a:rPr>
              <a:t>            }</a:t>
            </a:r>
          </a:p>
          <a:p>
            <a:r>
              <a:rPr sz="1200">
                <a:solidFill>
                  <a:srgbClr val="000000"/>
                </a:solidFill>
                <a:latin typeface="Courier New"/>
              </a:rPr>
              <a:t>            catch (SoapClienteException ex)</a:t>
            </a:r>
          </a:p>
          <a:p>
            <a:r>
              <a:rPr sz="1200">
                <a:solidFill>
                  <a:srgbClr val="000000"/>
                </a:solidFill>
                <a:latin typeface="Courier New"/>
              </a:rPr>
              <a:t>            {</a:t>
            </a:r>
          </a:p>
          <a:p>
            <a:r>
              <a:rPr sz="1200">
                <a:solidFill>
                  <a:srgbClr val="000000"/>
                </a:solidFill>
                <a:latin typeface="Courier New"/>
              </a:rPr>
              <a:t>                lblError.Text = ex.Message;</a:t>
            </a:r>
          </a:p>
          <a:p>
            <a:r>
              <a:rPr sz="1200">
                <a:solidFill>
                  <a:srgbClr val="000000"/>
                </a:solidFill>
                <a:latin typeface="Courier New"/>
              </a:rPr>
              <a:t>                txtContrasena.Clear();</a:t>
            </a:r>
          </a:p>
          <a:p>
            <a:r>
              <a:rPr sz="1200">
                <a:solidFill>
                  <a:srgbClr val="000000"/>
                </a:solidFill>
                <a:latin typeface="Courier New"/>
              </a:rPr>
              <a:t>                txtContrasena.Focus();</a:t>
            </a:r>
          </a:p>
          <a:p>
            <a:r>
              <a:rPr sz="1200">
                <a:solidFill>
                  <a:srgbClr val="000000"/>
                </a:solidFill>
                <a:latin typeface="Courier New"/>
              </a:rPr>
              <a:t>            }</a:t>
            </a:r>
          </a:p>
          <a:p>
            <a:r>
              <a:rPr sz="1200">
                <a:solidFill>
                  <a:srgbClr val="000000"/>
                </a:solidFill>
                <a:latin typeface="Courier New"/>
              </a:rPr>
              <a:t>            finally</a:t>
            </a:r>
          </a:p>
          <a:p>
            <a:r>
              <a:rPr sz="1200">
                <a:solidFill>
                  <a:srgbClr val="000000"/>
                </a:solidFill>
                <a:latin typeface="Courier New"/>
              </a:rPr>
              <a:t>            {</a:t>
            </a:r>
          </a:p>
          <a:p>
            <a:r>
              <a:rPr sz="1200">
                <a:solidFill>
                  <a:srgbClr val="000000"/>
                </a:solidFill>
                <a:latin typeface="Courier New"/>
              </a:rPr>
              <a:t>                btnIngresar.Enabled = true;</a:t>
            </a:r>
          </a:p>
          <a:p>
            <a:r>
              <a:rPr sz="1200">
                <a:solidFill>
                  <a:srgbClr val="000000"/>
                </a:solidFill>
                <a:latin typeface="Courier New"/>
              </a:rPr>
              <a:t>                Cursor = Cursors.Default;</a:t>
            </a:r>
          </a:p>
          <a:p>
            <a:r>
              <a:rPr sz="1200">
                <a:solidFill>
                  <a:srgbClr val="000000"/>
                </a:solidFill>
                <a:latin typeface="Courier New"/>
              </a:rPr>
              <a:t>            }</a:t>
            </a:r>
          </a:p>
          <a:p>
            <a:r>
              <a:rPr sz="1200">
                <a:solidFill>
                  <a:srgbClr val="000000"/>
                </a:solidFill>
                <a:latin typeface="Courier New"/>
              </a:rPr>
              <a:t>        }</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95908"/>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 Paso 4: Clases de Servicio y Modelo (1/2)</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ServicioSoapOpciones y SoapClienteException. Fragmento.</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925908"/>
            <a:ext cx="8288808" cy="3378200"/>
          </a:xfrm>
          <a:prstGeom prst="rect">
            <a:avLst/>
          </a:prstGeom>
          <a:solidFill>
            <a:srgbClr val="FFFFFF"/>
          </a:solidFill>
          <a:ln w="12700">
            <a:solidFill>
              <a:srgbClr val="404040"/>
            </a:solidFill>
          </a:ln>
        </p:spPr>
        <p:txBody>
          <a:bodyPr wrap="square" anchor="t">
            <a:noAutofit/>
          </a:bodyPr>
          <a:lstStyle/>
          <a:p>
            <a:r>
              <a:rPr sz="1000">
                <a:solidFill>
                  <a:srgbClr val="000000"/>
                </a:solidFill>
                <a:latin typeface="Courier New"/>
              </a:rPr>
              <a:t>namespace WS_ConversionUnidades_Donet_CLIESC_GR8.Services</a:t>
            </a:r>
          </a:p>
          <a:p>
            <a:r>
              <a:rPr sz="1000">
                <a:solidFill>
                  <a:srgbClr val="000000"/>
                </a:solidFill>
                <a:latin typeface="Courier New"/>
              </a:rPr>
              <a:t>{</a:t>
            </a:r>
          </a:p>
          <a:p>
            <a:r>
              <a:rPr sz="1000">
                <a:solidFill>
                  <a:srgbClr val="000000"/>
                </a:solidFill>
                <a:latin typeface="Courier New"/>
              </a:rPr>
              <a:t>    public class ServicioSoapOpciones</a:t>
            </a:r>
          </a:p>
          <a:p>
            <a:r>
              <a:rPr sz="1000">
                <a:solidFill>
                  <a:srgbClr val="000000"/>
                </a:solidFill>
                <a:latin typeface="Courier New"/>
              </a:rPr>
              <a:t>    {</a:t>
            </a:r>
          </a:p>
          <a:p>
            <a:r>
              <a:rPr sz="1000">
                <a:solidFill>
                  <a:srgbClr val="000000"/>
                </a:solidFill>
                <a:latin typeface="Courier New"/>
              </a:rPr>
              <a:t>        public string UrlAutenticador { get; set; } = "http://localhost:62895/webservicio/WSAutenticador.svc";</a:t>
            </a:r>
          </a:p>
          <a:p>
            <a:r>
              <a:rPr sz="1000">
                <a:solidFill>
                  <a:srgbClr val="000000"/>
                </a:solidFill>
                <a:latin typeface="Courier New"/>
              </a:rPr>
              <a:t>        public string UrlConversor { get; set; } = "http://localhost:62895/webservicio/WSConversorUnidades.svc";</a:t>
            </a:r>
          </a:p>
          <a:p>
            <a:r>
              <a:rPr sz="1000">
                <a:solidFill>
                  <a:srgbClr val="000000"/>
                </a:solidFill>
                <a:latin typeface="Courier New"/>
              </a:rPr>
              <a:t>        public string NamespaceToken { get; set; } = "http://localhost:8080/";</a:t>
            </a:r>
          </a:p>
          <a:p>
            <a:r>
              <a:rPr sz="1000">
                <a:solidFill>
                  <a:srgbClr val="000000"/>
                </a:solidFill>
                <a:latin typeface="Courier New"/>
              </a:rPr>
              <a:t> </a:t>
            </a:r>
          </a:p>
          <a:p>
            <a:r>
              <a:rPr sz="1000">
                <a:solidFill>
                  <a:srgbClr val="000000"/>
                </a:solidFill>
                <a:latin typeface="Courier New"/>
              </a:rPr>
              <a:t>        /// &lt;summary&gt;</a:t>
            </a:r>
          </a:p>
          <a:p>
            <a:r>
              <a:rPr sz="1000">
                <a:solidFill>
                  <a:srgbClr val="000000"/>
                </a:solidFill>
                <a:latin typeface="Courier New"/>
              </a:rPr>
              <a:t>        /// Lee la sección "ServicioSoap" de appsettings.json (junto al .exe).</a:t>
            </a:r>
          </a:p>
          <a:p>
            <a:r>
              <a:rPr sz="1000">
                <a:solidFill>
                  <a:srgbClr val="000000"/>
                </a:solidFill>
                <a:latin typeface="Courier New"/>
              </a:rPr>
              <a:t>        /// Si el archivo no existe, usa los valores por defecto.</a:t>
            </a:r>
          </a:p>
          <a:p>
            <a:r>
              <a:rPr sz="1000">
                <a:solidFill>
                  <a:srgbClr val="000000"/>
                </a:solidFill>
                <a:latin typeface="Courier New"/>
              </a:rPr>
              <a:t>        /// &lt;/summary&gt;</a:t>
            </a:r>
          </a:p>
          <a:p>
            <a:r>
              <a:rPr sz="1000">
                <a:solidFill>
                  <a:srgbClr val="000000"/>
                </a:solidFill>
                <a:latin typeface="Courier New"/>
              </a:rPr>
              <a:t>        public static ServicioSoapOpciones Cargar(string rutaArchivo)</a:t>
            </a:r>
          </a:p>
          <a:p>
            <a:r>
              <a:rPr sz="1000">
                <a:solidFill>
                  <a:srgbClr val="000000"/>
                </a:solidFill>
                <a:latin typeface="Courier New"/>
              </a:rPr>
              <a:t>        {</a:t>
            </a:r>
          </a:p>
          <a:p>
            <a:r>
              <a:rPr sz="1000">
                <a:solidFill>
                  <a:srgbClr val="000000"/>
                </a:solidFill>
                <a:latin typeface="Courier New"/>
              </a:rPr>
              <a:t>            if (!File.Exists(rutaArchivo)) return new ServicioSoapOpciones();</a:t>
            </a:r>
          </a:p>
          <a:p>
            <a:r>
              <a:rPr sz="1000">
                <a:solidFill>
                  <a:srgbClr val="000000"/>
                </a:solidFill>
                <a:latin typeface="Courier New"/>
              </a:rPr>
              <a:t> </a:t>
            </a:r>
          </a:p>
          <a:p>
            <a:r>
              <a:rPr sz="1000">
                <a:solidFill>
                  <a:srgbClr val="000000"/>
                </a:solidFill>
                <a:latin typeface="Courier New"/>
              </a:rPr>
              <a:t>            using var doc = JsonDocument.Parse(File.ReadAllText(rutaArchivo));</a:t>
            </a:r>
          </a:p>
          <a:p>
            <a:r>
              <a:rPr sz="1000">
                <a:solidFill>
                  <a:srgbClr val="000000"/>
                </a:solidFill>
                <a:latin typeface="Courier New"/>
              </a:rPr>
              <a:t>            if (!doc.RootElement.TryGetProperty("ServicioSoap", out var seccion)) return new ServicioSoapOpciones();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 Paso 4: Clases de Servicio y Modelo (2/2)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3987800"/>
          </a:xfrm>
          <a:prstGeom prst="rect">
            <a:avLst/>
          </a:prstGeom>
          <a:solidFill>
            <a:srgbClr val="FFFFFF"/>
          </a:solidFill>
          <a:ln w="12700">
            <a:solidFill>
              <a:srgbClr val="404040"/>
            </a:solidFill>
          </a:ln>
        </p:spPr>
        <p:txBody>
          <a:bodyPr wrap="square" anchor="t">
            <a:noAutofit/>
          </a:bodyPr>
          <a:lstStyle/>
          <a:p>
            <a:r>
              <a:rPr sz="1000">
                <a:solidFill>
                  <a:srgbClr val="000000"/>
                </a:solidFill>
                <a:latin typeface="Courier New"/>
              </a:rPr>
              <a:t>            var opciones = new ServicioSoapOpciones();</a:t>
            </a:r>
          </a:p>
          <a:p>
            <a:r>
              <a:rPr sz="1000">
                <a:solidFill>
                  <a:srgbClr val="000000"/>
                </a:solidFill>
                <a:latin typeface="Courier New"/>
              </a:rPr>
              <a:t>            if (seccion.TryGetProperty("UrlAutenticador", out var a) &amp;&amp; a.GetString() is { Length: &gt; 0 } ua) opciones.UrlAutenticador = ua;</a:t>
            </a:r>
          </a:p>
          <a:p>
            <a:r>
              <a:rPr sz="1000">
                <a:solidFill>
                  <a:srgbClr val="000000"/>
                </a:solidFill>
                <a:latin typeface="Courier New"/>
              </a:rPr>
              <a:t>            if (seccion.TryGetProperty("UrlConversor", out var c) &amp;&amp; c.GetString() is { Length: &gt; 0 } uc) opciones.UrlConversor = uc;</a:t>
            </a:r>
          </a:p>
          <a:p>
            <a:r>
              <a:rPr sz="1000">
                <a:solidFill>
                  <a:srgbClr val="000000"/>
                </a:solidFill>
                <a:latin typeface="Courier New"/>
              </a:rPr>
              <a:t>            if (seccion.TryGetProperty("NamespaceToken", out var n) &amp;&amp; n.GetString() is { Length: &gt; 0 } un) opciones.NamespaceToken = un;</a:t>
            </a:r>
          </a:p>
          <a:p>
            <a:r>
              <a:rPr sz="1000">
                <a:solidFill>
                  <a:srgbClr val="000000"/>
                </a:solidFill>
                <a:latin typeface="Courier New"/>
              </a:rPr>
              <a:t>            return opciones;</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a:t>
            </a:r>
          </a:p>
          <a:p>
            <a:r>
              <a:rPr sz="1000">
                <a:solidFill>
                  <a:srgbClr val="000000"/>
                </a:solidFill>
                <a:latin typeface="Courier New"/>
              </a:rPr>
              <a:t> </a:t>
            </a:r>
          </a:p>
          <a:p>
            <a:r>
              <a:rPr sz="1000">
                <a:solidFill>
                  <a:srgbClr val="000000"/>
                </a:solidFill>
                <a:latin typeface="Courier New"/>
              </a:rPr>
              <a:t>namespace WS_ConversionUnidades_Donet_CLIESC_GR8.Services</a:t>
            </a:r>
          </a:p>
          <a:p>
            <a:r>
              <a:rPr sz="1000">
                <a:solidFill>
                  <a:srgbClr val="000000"/>
                </a:solidFill>
                <a:latin typeface="Courier New"/>
              </a:rPr>
              <a:t>{</a:t>
            </a:r>
          </a:p>
          <a:p>
            <a:r>
              <a:rPr sz="1000">
                <a:solidFill>
                  <a:srgbClr val="000000"/>
                </a:solidFill>
                <a:latin typeface="Courier New"/>
              </a:rPr>
              <a:t>    public class SoapClienteException : Exception</a:t>
            </a:r>
          </a:p>
          <a:p>
            <a:r>
              <a:rPr sz="1000">
                <a:solidFill>
                  <a:srgbClr val="000000"/>
                </a:solidFill>
                <a:latin typeface="Courier New"/>
              </a:rPr>
              <a:t>    {</a:t>
            </a:r>
          </a:p>
          <a:p>
            <a:r>
              <a:rPr sz="1000">
                <a:solidFill>
                  <a:srgbClr val="000000"/>
                </a:solidFill>
                <a:latin typeface="Courier New"/>
              </a:rPr>
              <a:t>        // true cuando el servicio rechazó el token (falta, es inválido o la sesión expiró)</a:t>
            </a:r>
          </a:p>
          <a:p>
            <a:r>
              <a:rPr sz="1000">
                <a:solidFill>
                  <a:srgbClr val="000000"/>
                </a:solidFill>
                <a:latin typeface="Courier New"/>
              </a:rPr>
              <a:t>        public bool AccesoDenegado { get; }</a:t>
            </a:r>
          </a:p>
          <a:p>
            <a:r>
              <a:rPr sz="1000">
                <a:solidFill>
                  <a:srgbClr val="000000"/>
                </a:solidFill>
                <a:latin typeface="Courier New"/>
              </a:rPr>
              <a:t> </a:t>
            </a:r>
          </a:p>
          <a:p>
            <a:r>
              <a:rPr sz="1000">
                <a:solidFill>
                  <a:srgbClr val="000000"/>
                </a:solidFill>
                <a:latin typeface="Courier New"/>
              </a:rPr>
              <a:t>        public SoapClienteException(string mensaje, bool accesoDenegado = false) : base(mensaje)</a:t>
            </a:r>
          </a:p>
          <a:p>
            <a:r>
              <a:rPr sz="1000">
                <a:solidFill>
                  <a:srgbClr val="000000"/>
                </a:solidFill>
                <a:latin typeface="Courier New"/>
              </a:rPr>
              <a:t>        {</a:t>
            </a:r>
          </a:p>
          <a:p>
            <a:r>
              <a:rPr sz="1000">
                <a:solidFill>
                  <a:srgbClr val="000000"/>
                </a:solidFill>
                <a:latin typeface="Courier New"/>
              </a:rPr>
              <a:t>            AccesoDenegado = accesoDenegado;</a:t>
            </a:r>
          </a:p>
          <a:p>
            <a:r>
              <a:rPr sz="1000">
                <a:solidFill>
                  <a:srgbClr val="000000"/>
                </a:solidFill>
                <a:latin typeface="Courier New"/>
              </a:rPr>
              <a:t>        }</a:t>
            </a:r>
          </a:p>
          <a:p>
            <a:r>
              <a:rPr sz="1000">
                <a:solidFill>
                  <a:srgbClr val="000000"/>
                </a:solidFill>
                <a:latin typeface="Courier New"/>
              </a:rPr>
              <a:t>    }</a:t>
            </a:r>
          </a:p>
          <a:p>
            <a:r>
              <a:rPr sz="1000">
                <a:solidFill>
                  <a:srgbClr val="000000"/>
                </a:solidFill>
                <a:latin typeface="Courier New"/>
              </a:rPr>
              <a: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95908"/>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Web – Paso 1</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Para crear el proyecto web se necesita crear la solución de tipo .NET (Framework).</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24.png"/>
          <p:cNvPicPr>
            <a:picLocks noChangeAspect="1"/>
          </p:cNvPicPr>
          <p:nvPr/>
        </p:nvPicPr>
        <p:blipFill>
          <a:blip r:embed="rId2"/>
          <a:stretch>
            <a:fillRect/>
          </a:stretch>
        </p:blipFill>
        <p:spPr>
          <a:xfrm>
            <a:off x="1596337" y="2945908"/>
            <a:ext cx="6558516" cy="3654092"/>
          </a:xfrm>
          <a:prstGeom prst="rect">
            <a:avLst/>
          </a:prstGeom>
        </p:spPr>
      </p:pic>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Web – Paso 2</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Se crea el proyecto con el nombre WS_ConversionUnidades_Donet_CLIWEB_GR8 para el cliente Web.</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25.png"/>
          <p:cNvPicPr>
            <a:picLocks noChangeAspect="1"/>
          </p:cNvPicPr>
          <p:nvPr/>
        </p:nvPicPr>
        <p:blipFill>
          <a:blip r:embed="rId2"/>
          <a:stretch>
            <a:fillRect/>
          </a:stretch>
        </p:blipFill>
        <p:spPr>
          <a:xfrm>
            <a:off x="1850894" y="3206817"/>
            <a:ext cx="6049402" cy="3393183"/>
          </a:xfrm>
          <a:prstGeom prst="rect">
            <a:avLst/>
          </a:prstGeom>
        </p:spPr>
      </p:pic>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2900000" cy="1824989"/>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7000"/>
              </a:lnSpc>
              <a:spcBef>
                <a:spcPts val="0"/>
              </a:spcBef>
              <a:spcAft>
                <a:spcPts val="0"/>
              </a:spcAft>
              <a:buSzPts val="1785"/>
              <a:buChar char="∙"/>
            </a:pPr>
            <a:r>
              <a:rPr lang="es-ES" sz="1800" b="1">
                <a:latin typeface="Cambria"/>
                <a:ea typeface="Cambria"/>
                <a:cs typeface="Cambria"/>
                <a:sym typeface="Cambria"/>
              </a:rPr>
              <a:t>Cliente Web – Paso 3</a:t>
            </a:r>
            <a:endParaRPr sz="1800" b="1">
              <a:latin typeface="Cambria"/>
              <a:ea typeface="Cambria"/>
              <a:cs typeface="Cambria"/>
              <a:sym typeface="Cambria"/>
            </a:endParaRPr>
          </a:p>
          <a:p>
            <a:pPr marL="342900" marR="0" lvl="0" indent="-342900" algn="l" rtl="0">
              <a:lnSpc>
                <a:spcPct val="107000"/>
              </a:lnSpc>
              <a:spcBef>
                <a:spcPts val="600"/>
              </a:spcBef>
              <a:spcAft>
                <a:spcPts val="0"/>
              </a:spcAft>
              <a:buSzPts val="1656"/>
              <a:buFont typeface="Noto Sans Symbols"/>
              <a:buChar char="∙"/>
            </a:pPr>
            <a:r>
              <a:rPr lang="es-ES" sz="1500">
                <a:latin typeface="Cambria"/>
                <a:ea typeface="Cambria"/>
                <a:cs typeface="Cambria"/>
                <a:sym typeface="Cambria"/>
              </a:rPr>
              <a:t>La arquitectura se basa en Modelo, Vista y Controlador, por lo que se toma esta estructura para crear el proyecto.</a:t>
            </a:r>
            <a:endParaRPr sz="15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26.png"/>
          <p:cNvPicPr>
            <a:picLocks noChangeAspect="1"/>
          </p:cNvPicPr>
          <p:nvPr/>
        </p:nvPicPr>
        <p:blipFill>
          <a:blip r:embed="rId2"/>
          <a:stretch>
            <a:fillRect/>
          </a:stretch>
        </p:blipFill>
        <p:spPr>
          <a:xfrm>
            <a:off x="4580365" y="1950000"/>
            <a:ext cx="3640460" cy="4650000"/>
          </a:xfrm>
          <a:prstGeom prst="rect">
            <a:avLst/>
          </a:prstGeom>
        </p:spPr>
      </p:pic>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2900000" cy="1580388"/>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7000"/>
              </a:lnSpc>
              <a:spcBef>
                <a:spcPts val="0"/>
              </a:spcBef>
              <a:spcAft>
                <a:spcPts val="0"/>
              </a:spcAft>
              <a:buSzPts val="1785"/>
              <a:buChar char="∙"/>
            </a:pPr>
            <a:r>
              <a:rPr lang="es-ES" sz="1800" b="1">
                <a:latin typeface="Cambria"/>
                <a:ea typeface="Cambria"/>
                <a:cs typeface="Cambria"/>
                <a:sym typeface="Cambria"/>
              </a:rPr>
              <a:t>Cliente Web – Paso 4</a:t>
            </a:r>
            <a:endParaRPr sz="1800" b="1">
              <a:latin typeface="Cambria"/>
              <a:ea typeface="Cambria"/>
              <a:cs typeface="Cambria"/>
              <a:sym typeface="Cambria"/>
            </a:endParaRPr>
          </a:p>
          <a:p>
            <a:pPr marL="342900" marR="0" lvl="0" indent="-342900" algn="l" rtl="0">
              <a:lnSpc>
                <a:spcPct val="107000"/>
              </a:lnSpc>
              <a:spcBef>
                <a:spcPts val="600"/>
              </a:spcBef>
              <a:spcAft>
                <a:spcPts val="0"/>
              </a:spcAft>
              <a:buSzPts val="1656"/>
              <a:buFont typeface="Noto Sans Symbols"/>
              <a:buChar char="∙"/>
            </a:pPr>
            <a:r>
              <a:rPr lang="es-ES" sz="1500">
                <a:latin typeface="Cambria"/>
                <a:ea typeface="Cambria"/>
                <a:cs typeface="Cambria"/>
                <a:sym typeface="Cambria"/>
              </a:rPr>
              <a:t>Se crean los archivos que servirán para las vistas, servicios, modelos y controladores.</a:t>
            </a:r>
            <a:endParaRPr sz="15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27.png"/>
          <p:cNvPicPr>
            <a:picLocks noChangeAspect="1"/>
          </p:cNvPicPr>
          <p:nvPr/>
        </p:nvPicPr>
        <p:blipFill>
          <a:blip r:embed="rId2"/>
          <a:stretch>
            <a:fillRect/>
          </a:stretch>
        </p:blipFill>
        <p:spPr>
          <a:xfrm>
            <a:off x="5181902" y="1950000"/>
            <a:ext cx="2437386" cy="4650000"/>
          </a:xfrm>
          <a:prstGeom prst="rect">
            <a:avLst/>
          </a:prstGeom>
        </p:spPr>
      </p:pic>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Web – Paso 5</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Para abrir la aplicación e ingresar desde cualquier dispositivo, solo falta configurar el archivo de propiedades.</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28.png"/>
          <p:cNvPicPr>
            <a:picLocks noChangeAspect="1"/>
          </p:cNvPicPr>
          <p:nvPr/>
        </p:nvPicPr>
        <p:blipFill>
          <a:blip r:embed="rId2"/>
          <a:stretch>
            <a:fillRect/>
          </a:stretch>
        </p:blipFill>
        <p:spPr>
          <a:xfrm>
            <a:off x="581192" y="3312265"/>
            <a:ext cx="8588808" cy="3182285"/>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Móvil – Paso 1</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El proyecto se desarrolla en Android/Kotlin, con Android Studio como editor y Jetpack Compose.</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29.png"/>
          <p:cNvPicPr>
            <a:picLocks noChangeAspect="1"/>
          </p:cNvPicPr>
          <p:nvPr/>
        </p:nvPicPr>
        <p:blipFill>
          <a:blip r:embed="rId2"/>
          <a:stretch>
            <a:fillRect/>
          </a:stretch>
        </p:blipFill>
        <p:spPr>
          <a:xfrm>
            <a:off x="1722729" y="3206817"/>
            <a:ext cx="6305733" cy="3393183"/>
          </a:xfrm>
          <a:prstGeom prst="rect">
            <a:avLst/>
          </a:prstGeom>
        </p:spPr>
      </p:pic>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Móvil – Paso 2</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Se crea el proyecto con el nombre WS_ConversionUnidades_Donet_CLIMOV_GR8, con paquetes ec.edu.monster, y se da clic en Finish.</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30.png"/>
          <p:cNvPicPr>
            <a:picLocks noChangeAspect="1"/>
          </p:cNvPicPr>
          <p:nvPr/>
        </p:nvPicPr>
        <p:blipFill>
          <a:blip r:embed="rId2"/>
          <a:stretch>
            <a:fillRect/>
          </a:stretch>
        </p:blipFill>
        <p:spPr>
          <a:xfrm>
            <a:off x="2213082" y="3206817"/>
            <a:ext cx="5325027" cy="3393183"/>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Móvil – Paso 3</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En el archivo .env se configuran las variables de entorno para conectarse al servidor SOAP.</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31.png"/>
          <p:cNvPicPr>
            <a:picLocks noChangeAspect="1"/>
          </p:cNvPicPr>
          <p:nvPr/>
        </p:nvPicPr>
        <p:blipFill>
          <a:blip r:embed="rId2"/>
          <a:stretch>
            <a:fillRect/>
          </a:stretch>
        </p:blipFill>
        <p:spPr>
          <a:xfrm>
            <a:off x="581192" y="3711606"/>
            <a:ext cx="8588808" cy="2383604"/>
          </a:xfrm>
          <a:prstGeom prst="rect">
            <a:avLst/>
          </a:prstGeom>
        </p:spPr>
      </p:pic>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2900000" cy="1877568"/>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7000"/>
              </a:lnSpc>
              <a:spcBef>
                <a:spcPts val="0"/>
              </a:spcBef>
              <a:spcAft>
                <a:spcPts val="0"/>
              </a:spcAft>
              <a:buSzPts val="1785"/>
              <a:buChar char="∙"/>
            </a:pPr>
            <a:r>
              <a:rPr lang="es-ES" sz="1800" b="1">
                <a:latin typeface="Cambria"/>
                <a:ea typeface="Cambria"/>
                <a:cs typeface="Cambria"/>
                <a:sym typeface="Cambria"/>
              </a:rPr>
              <a:t>Cliente Móvil – Paso 4</a:t>
            </a:r>
            <a:endParaRPr sz="1800" b="1">
              <a:latin typeface="Cambria"/>
              <a:ea typeface="Cambria"/>
              <a:cs typeface="Cambria"/>
              <a:sym typeface="Cambria"/>
            </a:endParaRPr>
          </a:p>
          <a:p>
            <a:pPr marL="342900" marR="0" lvl="0" indent="-342900" algn="l" rtl="0">
              <a:lnSpc>
                <a:spcPct val="107000"/>
              </a:lnSpc>
              <a:spcBef>
                <a:spcPts val="600"/>
              </a:spcBef>
              <a:spcAft>
                <a:spcPts val="0"/>
              </a:spcAft>
              <a:buSzPts val="1656"/>
              <a:buFont typeface="Noto Sans Symbols"/>
              <a:buChar char="∙"/>
            </a:pPr>
            <a:r>
              <a:rPr lang="es-ES" sz="1500">
                <a:latin typeface="Cambria"/>
                <a:ea typeface="Cambria"/>
                <a:cs typeface="Cambria"/>
                <a:sym typeface="Cambria"/>
              </a:rPr>
              <a:t>Se crea la arquitectura orientada al patrón Modelo, Vista y Controlador en el proyecto.</a:t>
            </a:r>
            <a:endParaRPr sz="15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32.png"/>
          <p:cNvPicPr>
            <a:picLocks noChangeAspect="1"/>
          </p:cNvPicPr>
          <p:nvPr/>
        </p:nvPicPr>
        <p:blipFill>
          <a:blip r:embed="rId2"/>
          <a:stretch>
            <a:fillRect/>
          </a:stretch>
        </p:blipFill>
        <p:spPr>
          <a:xfrm>
            <a:off x="4151328" y="1950000"/>
            <a:ext cx="4498534" cy="4650000"/>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115681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Móvil – Paso 5: AndroidManifest.xml (1/2)</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Se configura el AndroidManifest.xml para permitir el acceso a internet y las peticiones HTTP.</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3186817"/>
            <a:ext cx="8288808" cy="2921000"/>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&lt;?xml version="1.0" encoding="utf-8"?&gt;</a:t>
            </a:r>
          </a:p>
          <a:p>
            <a:r>
              <a:rPr sz="1200">
                <a:solidFill>
                  <a:srgbClr val="000000"/>
                </a:solidFill>
                <a:latin typeface="Courier New"/>
              </a:rPr>
              <a:t>&lt;manifest xmlns:android="http://schemas.android.com/apk/res/android"</a:t>
            </a:r>
          </a:p>
          <a:p>
            <a:r>
              <a:rPr sz="1200">
                <a:solidFill>
                  <a:srgbClr val="000000"/>
                </a:solidFill>
                <a:latin typeface="Courier New"/>
              </a:rPr>
              <a:t>    xmlns:tools="http://schemas.android.com/tools"&gt;</a:t>
            </a:r>
          </a:p>
          <a:p>
            <a:r>
              <a:rPr sz="1200">
                <a:solidFill>
                  <a:srgbClr val="000000"/>
                </a:solidFill>
                <a:latin typeface="Courier New"/>
              </a:rPr>
              <a:t> </a:t>
            </a:r>
          </a:p>
          <a:p>
            <a:r>
              <a:rPr sz="1200">
                <a:solidFill>
                  <a:srgbClr val="000000"/>
                </a:solidFill>
                <a:latin typeface="Courier New"/>
              </a:rPr>
              <a:t>    &lt;uses-permission android:name="android.permission.INTERNET" /&gt;</a:t>
            </a:r>
          </a:p>
          <a:p>
            <a:r>
              <a:rPr sz="1200">
                <a:solidFill>
                  <a:srgbClr val="000000"/>
                </a:solidFill>
                <a:latin typeface="Courier New"/>
              </a:rPr>
              <a:t>    &lt;application</a:t>
            </a:r>
          </a:p>
          <a:p>
            <a:r>
              <a:rPr sz="1200">
                <a:solidFill>
                  <a:srgbClr val="000000"/>
                </a:solidFill>
                <a:latin typeface="Courier New"/>
              </a:rPr>
              <a:t>        android:allowBackup="true"</a:t>
            </a:r>
          </a:p>
          <a:p>
            <a:r>
              <a:rPr sz="1200">
                <a:solidFill>
                  <a:srgbClr val="000000"/>
                </a:solidFill>
                <a:latin typeface="Courier New"/>
              </a:rPr>
              <a:t>        android:usesCleartextTraffic="true"</a:t>
            </a:r>
          </a:p>
          <a:p>
            <a:r>
              <a:rPr sz="1200">
                <a:solidFill>
                  <a:srgbClr val="000000"/>
                </a:solidFill>
                <a:latin typeface="Courier New"/>
              </a:rPr>
              <a:t>        android:dataExtractionRules="@xml/data_extraction_rules"</a:t>
            </a:r>
          </a:p>
          <a:p>
            <a:r>
              <a:rPr sz="1200">
                <a:solidFill>
                  <a:srgbClr val="000000"/>
                </a:solidFill>
                <a:latin typeface="Courier New"/>
              </a:rPr>
              <a:t>        android:fullBackupContent="@xml/backup_rules"</a:t>
            </a:r>
          </a:p>
          <a:p>
            <a:r>
              <a:rPr sz="1200">
                <a:solidFill>
                  <a:srgbClr val="000000"/>
                </a:solidFill>
                <a:latin typeface="Courier New"/>
              </a:rPr>
              <a:t>        android:icon="@mipmap/ic_launcher"</a:t>
            </a:r>
          </a:p>
          <a:p>
            <a:r>
              <a:rPr sz="1200">
                <a:solidFill>
                  <a:srgbClr val="000000"/>
                </a:solidFill>
                <a:latin typeface="Courier New"/>
              </a:rPr>
              <a:t>        android:label="@string/app_name"</a:t>
            </a:r>
          </a:p>
          <a:p>
            <a:r>
              <a:rPr sz="1200">
                <a:solidFill>
                  <a:srgbClr val="000000"/>
                </a:solidFill>
                <a:latin typeface="Courier New"/>
              </a:rPr>
              <a:t>        android:roundIcon="@mipmap/ic_launcher_round"</a:t>
            </a:r>
          </a:p>
          <a:p>
            <a:r>
              <a:rPr sz="1200">
                <a:solidFill>
                  <a:srgbClr val="000000"/>
                </a:solidFill>
                <a:latin typeface="Courier New"/>
              </a:rPr>
              <a:t>        android:supportsRtl="true"</a:t>
            </a:r>
          </a:p>
          <a:p>
            <a:r>
              <a:rPr sz="1200">
                <a:solidFill>
                  <a:srgbClr val="000000"/>
                </a:solidFill>
                <a:latin typeface="Courier New"/>
              </a:rPr>
              <a:t>        android:theme="@style/Theme.WS_ConversionUnidades_Java_CLIMOV_GR8"&gt;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558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Móvil – Paso 5: AndroidManifest.xml (2/2)</a:t>
            </a:r>
            <a:endParaRPr sz="2000" b="1">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588800"/>
            <a:ext cx="8288808" cy="2738120"/>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        &lt;activity</a:t>
            </a:r>
          </a:p>
          <a:p>
            <a:r>
              <a:rPr sz="1200">
                <a:solidFill>
                  <a:srgbClr val="000000"/>
                </a:solidFill>
                <a:latin typeface="Courier New"/>
              </a:rPr>
              <a:t>            android:name=".MainActivity"</a:t>
            </a:r>
          </a:p>
          <a:p>
            <a:r>
              <a:rPr sz="1200">
                <a:solidFill>
                  <a:srgbClr val="000000"/>
                </a:solidFill>
                <a:latin typeface="Courier New"/>
              </a:rPr>
              <a:t>            android:exported="true"</a:t>
            </a:r>
          </a:p>
          <a:p>
            <a:r>
              <a:rPr sz="1200">
                <a:solidFill>
                  <a:srgbClr val="000000"/>
                </a:solidFill>
                <a:latin typeface="Courier New"/>
              </a:rPr>
              <a:t>            android:label="@string/app_name"</a:t>
            </a:r>
          </a:p>
          <a:p>
            <a:r>
              <a:rPr sz="1200">
                <a:solidFill>
                  <a:srgbClr val="000000"/>
                </a:solidFill>
                <a:latin typeface="Courier New"/>
              </a:rPr>
              <a:t>            android:theme="@style/Theme.WS_ConversionUnidades_Java_CLIMOV_GR8"&gt;</a:t>
            </a:r>
          </a:p>
          <a:p>
            <a:r>
              <a:rPr sz="1200">
                <a:solidFill>
                  <a:srgbClr val="000000"/>
                </a:solidFill>
                <a:latin typeface="Courier New"/>
              </a:rPr>
              <a:t>            &lt;intent-filter&gt;</a:t>
            </a:r>
          </a:p>
          <a:p>
            <a:r>
              <a:rPr sz="1200">
                <a:solidFill>
                  <a:srgbClr val="000000"/>
                </a:solidFill>
                <a:latin typeface="Courier New"/>
              </a:rPr>
              <a:t>                &lt;action android:name="android.intent.action.MAIN" /&gt;</a:t>
            </a:r>
          </a:p>
          <a:p>
            <a:r>
              <a:rPr sz="1200">
                <a:solidFill>
                  <a:srgbClr val="000000"/>
                </a:solidFill>
                <a:latin typeface="Courier New"/>
              </a:rPr>
              <a:t> </a:t>
            </a:r>
          </a:p>
          <a:p>
            <a:r>
              <a:rPr sz="1200">
                <a:solidFill>
                  <a:srgbClr val="000000"/>
                </a:solidFill>
                <a:latin typeface="Courier New"/>
              </a:rPr>
              <a:t>                &lt;category android:name="android.intent.category.LAUNCHER" /&gt;</a:t>
            </a:r>
          </a:p>
          <a:p>
            <a:r>
              <a:rPr sz="1200">
                <a:solidFill>
                  <a:srgbClr val="000000"/>
                </a:solidFill>
                <a:latin typeface="Courier New"/>
              </a:rPr>
              <a:t>            &lt;/intent-filter&gt;</a:t>
            </a:r>
          </a:p>
          <a:p>
            <a:r>
              <a:rPr sz="1200">
                <a:solidFill>
                  <a:srgbClr val="000000"/>
                </a:solidFill>
                <a:latin typeface="Courier New"/>
              </a:rPr>
              <a:t>        &lt;/activity&gt;</a:t>
            </a:r>
          </a:p>
          <a:p>
            <a:r>
              <a:rPr sz="1200">
                <a:solidFill>
                  <a:srgbClr val="000000"/>
                </a:solidFill>
                <a:latin typeface="Courier New"/>
              </a:rPr>
              <a:t>    &lt;/application&gt;</a:t>
            </a:r>
          </a:p>
          <a:p>
            <a:r>
              <a:rPr sz="1200">
                <a:solidFill>
                  <a:srgbClr val="000000"/>
                </a:solidFill>
                <a:latin typeface="Courier New"/>
              </a:rPr>
              <a:t> </a:t>
            </a:r>
          </a:p>
          <a:p>
            <a:r>
              <a:rPr sz="1200">
                <a:solidFill>
                  <a:srgbClr val="000000"/>
                </a:solidFill>
                <a:latin typeface="Courier New"/>
              </a:rPr>
              <a:t>&lt;/manifest&gt;</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95908"/>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Móvil – Paso 6: Dependencias</a:t>
            </a:r>
            <a:endParaRPr sz="2000" b="1">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600">
                <a:latin typeface="Cambria"/>
                <a:ea typeface="Cambria"/>
                <a:cs typeface="Cambria"/>
                <a:sym typeface="Cambria"/>
              </a:rPr>
              <a:t>Dependencias que necesita el proyecto (incluye ksoap2-android para consumir SOAP).</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TextBox 123"/>
          <p:cNvSpPr txBox="1"/>
          <p:nvPr/>
        </p:nvSpPr>
        <p:spPr>
          <a:xfrm>
            <a:off x="731192" y="2925908"/>
            <a:ext cx="8288808" cy="3652519"/>
          </a:xfrm>
          <a:prstGeom prst="rect">
            <a:avLst/>
          </a:prstGeom>
          <a:solidFill>
            <a:srgbClr val="FFFFFF"/>
          </a:solidFill>
          <a:ln w="12700">
            <a:solidFill>
              <a:srgbClr val="404040"/>
            </a:solidFill>
          </a:ln>
        </p:spPr>
        <p:txBody>
          <a:bodyPr wrap="square" anchor="t">
            <a:noAutofit/>
          </a:bodyPr>
          <a:lstStyle/>
          <a:p>
            <a:r>
              <a:rPr sz="1200">
                <a:solidFill>
                  <a:srgbClr val="000000"/>
                </a:solidFill>
                <a:latin typeface="Courier New"/>
              </a:rPr>
              <a:t>dependencies {</a:t>
            </a:r>
          </a:p>
          <a:p>
            <a:r>
              <a:rPr sz="1200">
                <a:solidFill>
                  <a:srgbClr val="000000"/>
                </a:solidFill>
                <a:latin typeface="Courier New"/>
              </a:rPr>
              <a:t>    implementation(libs.androidx.core.ktx)</a:t>
            </a:r>
          </a:p>
          <a:p>
            <a:r>
              <a:rPr sz="1200">
                <a:solidFill>
                  <a:srgbClr val="000000"/>
                </a:solidFill>
                <a:latin typeface="Courier New"/>
              </a:rPr>
              <a:t>    implementation(libs.androidx.lifecycle.runtime.ktx)</a:t>
            </a:r>
          </a:p>
          <a:p>
            <a:r>
              <a:rPr sz="1200">
                <a:solidFill>
                  <a:srgbClr val="000000"/>
                </a:solidFill>
                <a:latin typeface="Courier New"/>
              </a:rPr>
              <a:t>    implementation(libs.androidx.activity.compose)</a:t>
            </a:r>
          </a:p>
          <a:p>
            <a:r>
              <a:rPr sz="1200">
                <a:solidFill>
                  <a:srgbClr val="000000"/>
                </a:solidFill>
                <a:latin typeface="Courier New"/>
              </a:rPr>
              <a:t>    implementation(platform(libs.androidx.compose.bom))</a:t>
            </a:r>
          </a:p>
          <a:p>
            <a:r>
              <a:rPr sz="1200">
                <a:solidFill>
                  <a:srgbClr val="000000"/>
                </a:solidFill>
                <a:latin typeface="Courier New"/>
              </a:rPr>
              <a:t>    implementation(libs.androidx.compose.ui)</a:t>
            </a:r>
          </a:p>
          <a:p>
            <a:r>
              <a:rPr sz="1200">
                <a:solidFill>
                  <a:srgbClr val="000000"/>
                </a:solidFill>
                <a:latin typeface="Courier New"/>
              </a:rPr>
              <a:t>    implementation(libs.androidx.compose.ui.graphics)</a:t>
            </a:r>
          </a:p>
          <a:p>
            <a:r>
              <a:rPr sz="1200">
                <a:solidFill>
                  <a:srgbClr val="000000"/>
                </a:solidFill>
                <a:latin typeface="Courier New"/>
              </a:rPr>
              <a:t>    implementation(libs.androidx.compose.ui.tooling.preview)</a:t>
            </a:r>
          </a:p>
          <a:p>
            <a:r>
              <a:rPr sz="1200">
                <a:solidFill>
                  <a:srgbClr val="000000"/>
                </a:solidFill>
                <a:latin typeface="Courier New"/>
              </a:rPr>
              <a:t>    implementation(libs.androidx.compose.material3)</a:t>
            </a:r>
          </a:p>
          <a:p>
            <a:r>
              <a:rPr sz="1200">
                <a:solidFill>
                  <a:srgbClr val="000000"/>
                </a:solidFill>
                <a:latin typeface="Courier New"/>
              </a:rPr>
              <a:t>    implementation(libs.androidx.navigation.compose)</a:t>
            </a:r>
          </a:p>
          <a:p>
            <a:r>
              <a:rPr sz="1200">
                <a:solidFill>
                  <a:srgbClr val="000000"/>
                </a:solidFill>
                <a:latin typeface="Courier New"/>
              </a:rPr>
              <a:t>    testImplementation(libs.junit)</a:t>
            </a:r>
          </a:p>
          <a:p>
            <a:r>
              <a:rPr sz="1200">
                <a:solidFill>
                  <a:srgbClr val="000000"/>
                </a:solidFill>
                <a:latin typeface="Courier New"/>
              </a:rPr>
              <a:t>    androidTestImplementation(libs.androidx.junit)</a:t>
            </a:r>
          </a:p>
          <a:p>
            <a:r>
              <a:rPr sz="1200">
                <a:solidFill>
                  <a:srgbClr val="000000"/>
                </a:solidFill>
                <a:latin typeface="Courier New"/>
              </a:rPr>
              <a:t>    androidTestImplementation(libs.androidx.espresso.core)</a:t>
            </a:r>
          </a:p>
          <a:p>
            <a:r>
              <a:rPr sz="1200">
                <a:solidFill>
                  <a:srgbClr val="000000"/>
                </a:solidFill>
                <a:latin typeface="Courier New"/>
              </a:rPr>
              <a:t>    androidTestImplementation(platform(libs.androidx.compose.bom))</a:t>
            </a:r>
          </a:p>
          <a:p>
            <a:r>
              <a:rPr sz="1200">
                <a:solidFill>
                  <a:srgbClr val="000000"/>
                </a:solidFill>
                <a:latin typeface="Courier New"/>
              </a:rPr>
              <a:t>    androidTestImplementation(libs.androidx.compose.ui.test.junit4)</a:t>
            </a:r>
          </a:p>
          <a:p>
            <a:r>
              <a:rPr sz="1200">
                <a:solidFill>
                  <a:srgbClr val="000000"/>
                </a:solidFill>
                <a:latin typeface="Courier New"/>
              </a:rPr>
              <a:t>    debugImplementation(libs.androidx.compose.ui.tooling)</a:t>
            </a:r>
          </a:p>
          <a:p>
            <a:r>
              <a:rPr sz="1200">
                <a:solidFill>
                  <a:srgbClr val="000000"/>
                </a:solidFill>
                <a:latin typeface="Courier New"/>
              </a:rPr>
              <a:t>    debugImplementation(libs.androidx.compose.ui.test.manifest)</a:t>
            </a:r>
          </a:p>
          <a:p>
            <a:r>
              <a:rPr sz="1200">
                <a:solidFill>
                  <a:srgbClr val="000000"/>
                </a:solidFill>
                <a:latin typeface="Courier New"/>
              </a:rPr>
              <a:t>    implementation("com.google.code.ksoap2-android:ksoap2-android:3.6.4")</a:t>
            </a:r>
          </a:p>
          <a:p>
            <a:r>
              <a:rPr sz="1200">
                <a:solidFill>
                  <a:srgbClr val="000000"/>
                </a:solidFill>
                <a:latin typeface="Courier New"/>
              </a:rPr>
              <a: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7280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Web en funcionamiento: Login</a:t>
            </a:r>
            <a:endParaRPr sz="2000" b="1">
              <a:latin typeface="Cambria"/>
              <a:ea typeface="Cambria"/>
              <a:cs typeface="Cambria"/>
              <a:sym typeface="Cambria"/>
            </a:endParaRPr>
          </a:p>
          <a:p>
            <a:pPr marL="0" marR="0" lvl="0" indent="0" algn="just" rtl="0">
              <a:lnSpc>
                <a:spcPct val="107000"/>
              </a:lnSpc>
              <a:spcBef>
                <a:spcPts val="600"/>
              </a:spcBef>
              <a:spcAft>
                <a:spcPts val="0"/>
              </a:spcAft>
              <a:buNone/>
            </a:pPr>
            <a:r>
              <a:rPr lang="es-ES" sz="1400" i="1">
                <a:latin typeface="Cambria"/>
                <a:ea typeface="Cambria"/>
                <a:cs typeface="Cambria"/>
                <a:sym typeface="Cambria"/>
              </a:rPr>
              <a:t>Ilustración 15: Login.</a:t>
            </a:r>
            <a:endParaRPr sz="14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33.png"/>
          <p:cNvPicPr>
            <a:picLocks noChangeAspect="1"/>
          </p:cNvPicPr>
          <p:nvPr/>
        </p:nvPicPr>
        <p:blipFill>
          <a:blip r:embed="rId2"/>
          <a:stretch>
            <a:fillRect/>
          </a:stretch>
        </p:blipFill>
        <p:spPr>
          <a:xfrm>
            <a:off x="1442504" y="2922807"/>
            <a:ext cx="6866183" cy="3677193"/>
          </a:xfrm>
          <a:prstGeom prst="rect">
            <a:avLst/>
          </a:prstGeom>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7280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Web en funcionamiento: Conversor</a:t>
            </a:r>
            <a:endParaRPr sz="2000" b="1">
              <a:latin typeface="Cambria"/>
              <a:ea typeface="Cambria"/>
              <a:cs typeface="Cambria"/>
              <a:sym typeface="Cambria"/>
            </a:endParaRPr>
          </a:p>
          <a:p>
            <a:pPr marL="0" marR="0" lvl="0" indent="0" algn="just" rtl="0">
              <a:lnSpc>
                <a:spcPct val="107000"/>
              </a:lnSpc>
              <a:spcBef>
                <a:spcPts val="600"/>
              </a:spcBef>
              <a:spcAft>
                <a:spcPts val="0"/>
              </a:spcAft>
              <a:buNone/>
            </a:pPr>
            <a:r>
              <a:rPr lang="es-ES" sz="1400" i="1">
                <a:latin typeface="Cambria"/>
                <a:ea typeface="Cambria"/>
                <a:cs typeface="Cambria"/>
                <a:sym typeface="Cambria"/>
              </a:rPr>
              <a:t>Ilustración 16: Conversor.</a:t>
            </a:r>
            <a:endParaRPr sz="14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34.png"/>
          <p:cNvPicPr>
            <a:picLocks noChangeAspect="1"/>
          </p:cNvPicPr>
          <p:nvPr/>
        </p:nvPicPr>
        <p:blipFill>
          <a:blip r:embed="rId2"/>
          <a:stretch>
            <a:fillRect/>
          </a:stretch>
        </p:blipFill>
        <p:spPr>
          <a:xfrm>
            <a:off x="1451154" y="2922807"/>
            <a:ext cx="6848883" cy="3677193"/>
          </a:xfrm>
          <a:prstGeom prst="rect">
            <a:avLst/>
          </a:prstGeom>
        </p:spPr>
      </p:pic>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7280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Móvil en funcionamiento</a:t>
            </a:r>
            <a:endParaRPr sz="2000" b="1">
              <a:latin typeface="Cambria"/>
              <a:ea typeface="Cambria"/>
              <a:cs typeface="Cambria"/>
              <a:sym typeface="Cambria"/>
            </a:endParaRPr>
          </a:p>
          <a:p>
            <a:pPr marL="0" marR="0" lvl="0" indent="0" algn="just" rtl="0">
              <a:lnSpc>
                <a:spcPct val="107000"/>
              </a:lnSpc>
              <a:spcBef>
                <a:spcPts val="600"/>
              </a:spcBef>
              <a:spcAft>
                <a:spcPts val="0"/>
              </a:spcAft>
              <a:buNone/>
            </a:pPr>
            <a:r>
              <a:rPr lang="es-ES" sz="1400" i="1">
                <a:latin typeface="Cambria"/>
                <a:ea typeface="Cambria"/>
                <a:cs typeface="Cambria"/>
                <a:sym typeface="Cambria"/>
              </a:rPr>
              <a:t>Ilustración 17: Login y conversor del cliente móvil.</a:t>
            </a:r>
            <a:endParaRPr sz="14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35.jpeg"/>
          <p:cNvPicPr>
            <a:picLocks noChangeAspect="1"/>
          </p:cNvPicPr>
          <p:nvPr/>
        </p:nvPicPr>
        <p:blipFill>
          <a:blip r:embed="rId2"/>
          <a:stretch>
            <a:fillRect/>
          </a:stretch>
        </p:blipFill>
        <p:spPr>
          <a:xfrm>
            <a:off x="2249703" y="2922807"/>
            <a:ext cx="1649440" cy="3677193"/>
          </a:xfrm>
          <a:prstGeom prst="rect">
            <a:avLst/>
          </a:prstGeom>
        </p:spPr>
      </p:pic>
      <p:pic>
        <p:nvPicPr>
          <p:cNvPr id="125" name="Picture 124" descr="image36.jpg"/>
          <p:cNvPicPr>
            <a:picLocks noChangeAspect="1"/>
          </p:cNvPicPr>
          <p:nvPr/>
        </p:nvPicPr>
        <p:blipFill>
          <a:blip r:embed="rId3"/>
          <a:stretch>
            <a:fillRect/>
          </a:stretch>
        </p:blipFill>
        <p:spPr>
          <a:xfrm>
            <a:off x="4049143" y="2922807"/>
            <a:ext cx="1651172" cy="3677193"/>
          </a:xfrm>
          <a:prstGeom prst="rect">
            <a:avLst/>
          </a:prstGeom>
        </p:spPr>
      </p:pic>
      <p:pic>
        <p:nvPicPr>
          <p:cNvPr id="126" name="Picture 125" descr="image37.jpg"/>
          <p:cNvPicPr>
            <a:picLocks noChangeAspect="1"/>
          </p:cNvPicPr>
          <p:nvPr/>
        </p:nvPicPr>
        <p:blipFill>
          <a:blip r:embed="rId4"/>
          <a:stretch>
            <a:fillRect/>
          </a:stretch>
        </p:blipFill>
        <p:spPr>
          <a:xfrm>
            <a:off x="5850316" y="2922807"/>
            <a:ext cx="1651172" cy="3677193"/>
          </a:xfrm>
          <a:prstGeom prst="rect">
            <a:avLst/>
          </a:prstGeom>
        </p:spPr>
      </p:pic>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7280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Consola en funcionamiento</a:t>
            </a:r>
            <a:endParaRPr sz="2000" b="1">
              <a:latin typeface="Cambria"/>
              <a:ea typeface="Cambria"/>
              <a:cs typeface="Cambria"/>
              <a:sym typeface="Cambria"/>
            </a:endParaRPr>
          </a:p>
          <a:p>
            <a:pPr marL="0" marR="0" lvl="0" indent="0" algn="just" rtl="0">
              <a:lnSpc>
                <a:spcPct val="107000"/>
              </a:lnSpc>
              <a:spcBef>
                <a:spcPts val="600"/>
              </a:spcBef>
              <a:spcAft>
                <a:spcPts val="0"/>
              </a:spcAft>
              <a:buNone/>
            </a:pPr>
            <a:r>
              <a:rPr lang="es-ES" sz="1400" i="1">
                <a:latin typeface="Cambria"/>
                <a:ea typeface="Cambria"/>
                <a:cs typeface="Cambria"/>
                <a:sym typeface="Cambria"/>
              </a:rPr>
              <a:t>Ilustración 18: Login y conversor del cliente Consola.</a:t>
            </a:r>
            <a:endParaRPr sz="14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38.png"/>
          <p:cNvPicPr>
            <a:picLocks noChangeAspect="1"/>
          </p:cNvPicPr>
          <p:nvPr/>
        </p:nvPicPr>
        <p:blipFill>
          <a:blip r:embed="rId2"/>
          <a:stretch>
            <a:fillRect/>
          </a:stretch>
        </p:blipFill>
        <p:spPr>
          <a:xfrm>
            <a:off x="1152316" y="2922807"/>
            <a:ext cx="7446558" cy="3677193"/>
          </a:xfrm>
          <a:prstGeom prst="rect">
            <a:avLst/>
          </a:prstGeom>
        </p:spPr>
      </p:pic>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7280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en funcionamiento: Login</a:t>
            </a:r>
            <a:endParaRPr sz="2000" b="1">
              <a:latin typeface="Cambria"/>
              <a:ea typeface="Cambria"/>
              <a:cs typeface="Cambria"/>
              <a:sym typeface="Cambria"/>
            </a:endParaRPr>
          </a:p>
          <a:p>
            <a:pPr marL="0" marR="0" lvl="0" indent="0" algn="just" rtl="0">
              <a:lnSpc>
                <a:spcPct val="107000"/>
              </a:lnSpc>
              <a:spcBef>
                <a:spcPts val="600"/>
              </a:spcBef>
              <a:spcAft>
                <a:spcPts val="0"/>
              </a:spcAft>
              <a:buNone/>
            </a:pPr>
            <a:r>
              <a:rPr lang="es-ES" sz="1400" i="1">
                <a:latin typeface="Cambria"/>
                <a:ea typeface="Cambria"/>
                <a:cs typeface="Cambria"/>
                <a:sym typeface="Cambria"/>
              </a:rPr>
              <a:t>Ilustración 19: Login y conversor del cliente Escritorio.</a:t>
            </a:r>
            <a:endParaRPr sz="14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39.png"/>
          <p:cNvPicPr>
            <a:picLocks noChangeAspect="1"/>
          </p:cNvPicPr>
          <p:nvPr/>
        </p:nvPicPr>
        <p:blipFill>
          <a:blip r:embed="rId2"/>
          <a:stretch>
            <a:fillRect/>
          </a:stretch>
        </p:blipFill>
        <p:spPr>
          <a:xfrm>
            <a:off x="1386538" y="2922807"/>
            <a:ext cx="6978115" cy="3677193"/>
          </a:xfrm>
          <a:prstGeom prst="rect">
            <a:avLst/>
          </a:prstGeom>
        </p:spPr>
      </p:pic>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7280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Cliente Escritorio en funcionamiento: Conversor</a:t>
            </a:r>
            <a:endParaRPr sz="2000" b="1">
              <a:latin typeface="Cambria"/>
              <a:ea typeface="Cambria"/>
              <a:cs typeface="Cambria"/>
              <a:sym typeface="Cambria"/>
            </a:endParaRPr>
          </a:p>
          <a:p>
            <a:pPr marL="0" marR="0" lvl="0" indent="0" algn="just" rtl="0">
              <a:lnSpc>
                <a:spcPct val="107000"/>
              </a:lnSpc>
              <a:spcBef>
                <a:spcPts val="600"/>
              </a:spcBef>
              <a:spcAft>
                <a:spcPts val="0"/>
              </a:spcAft>
              <a:buNone/>
            </a:pPr>
            <a:r>
              <a:rPr lang="es-ES" sz="1400" i="1">
                <a:latin typeface="Cambria"/>
                <a:ea typeface="Cambria"/>
                <a:cs typeface="Cambria"/>
                <a:sym typeface="Cambria"/>
              </a:rPr>
              <a:t>Ilustración 19: Login y conversor del cliente Escritorio.</a:t>
            </a:r>
            <a:endParaRPr sz="14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40.png"/>
          <p:cNvPicPr>
            <a:picLocks noChangeAspect="1"/>
          </p:cNvPicPr>
          <p:nvPr/>
        </p:nvPicPr>
        <p:blipFill>
          <a:blip r:embed="rId2"/>
          <a:stretch>
            <a:fillRect/>
          </a:stretch>
        </p:blipFill>
        <p:spPr>
          <a:xfrm>
            <a:off x="784535" y="2922807"/>
            <a:ext cx="8182120" cy="3677193"/>
          </a:xfrm>
          <a:prstGeom prst="rect">
            <a:avLst/>
          </a:prstGeom>
        </p:spPr>
      </p:pic>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0000"/>
            <a:ext cx="8588808" cy="87280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2000" b="1">
                <a:latin typeface="Cambria"/>
                <a:ea typeface="Cambria"/>
                <a:cs typeface="Cambria"/>
                <a:sym typeface="Cambria"/>
              </a:rPr>
              <a:t>Servidor en funcionamiento</a:t>
            </a:r>
            <a:endParaRPr sz="2000" b="1">
              <a:latin typeface="Cambria"/>
              <a:ea typeface="Cambria"/>
              <a:cs typeface="Cambria"/>
              <a:sym typeface="Cambria"/>
            </a:endParaRPr>
          </a:p>
          <a:p>
            <a:pPr marL="0" marR="0" lvl="0" indent="0" algn="just" rtl="0">
              <a:lnSpc>
                <a:spcPct val="107000"/>
              </a:lnSpc>
              <a:spcBef>
                <a:spcPts val="600"/>
              </a:spcBef>
              <a:spcAft>
                <a:spcPts val="0"/>
              </a:spcAft>
              <a:buNone/>
            </a:pPr>
            <a:r>
              <a:rPr lang="es-ES" sz="1400" i="1">
                <a:latin typeface="Cambria"/>
                <a:ea typeface="Cambria"/>
                <a:cs typeface="Cambria"/>
                <a:sym typeface="Cambria"/>
              </a:rPr>
              <a:t>Ilustración 20: Login y conversor del servidor.</a:t>
            </a:r>
            <a:endParaRPr sz="14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Picture 123" descr="image41.png"/>
          <p:cNvPicPr>
            <a:picLocks noChangeAspect="1"/>
          </p:cNvPicPr>
          <p:nvPr/>
        </p:nvPicPr>
        <p:blipFill>
          <a:blip r:embed="rId2"/>
          <a:stretch>
            <a:fillRect/>
          </a:stretch>
        </p:blipFill>
        <p:spPr>
          <a:xfrm>
            <a:off x="581192" y="3457695"/>
            <a:ext cx="8588808" cy="2607416"/>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CONCLUSIONES</a:t>
            </a:r>
            <a:endParaRPr/>
          </a:p>
        </p:txBody>
      </p:sp>
      <p:sp>
        <p:nvSpPr>
          <p:cNvPr id="122" name="Google Shape;122;p16"/>
          <p:cNvSpPr txBox="1">
            <a:spLocks noGrp="1"/>
          </p:cNvSpPr>
          <p:nvPr>
            <p:ph type="body" idx="1"/>
          </p:nvPr>
        </p:nvSpPr>
        <p:spPr>
          <a:xfrm>
            <a:off x="581192" y="1950000"/>
            <a:ext cx="8588808" cy="2652979"/>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600"/>
              </a:spcBef>
              <a:spcAft>
                <a:spcPts val="0"/>
              </a:spcAft>
              <a:buSzPts val="1656"/>
              <a:buFont typeface="Noto Sans Symbols"/>
              <a:buChar char="∙"/>
            </a:pPr>
            <a:r>
              <a:rPr lang="es-ES" sz="1800">
                <a:latin typeface="Cambria"/>
                <a:ea typeface="Cambria"/>
                <a:cs typeface="Cambria"/>
                <a:sym typeface="Cambria"/>
              </a:rPr>
              <a:t>Se comprobó que el uso de la arquitectura SOAP y el estándar WSDL permite una comunicación fluida e independiente de la plataforma, logrando integrar con éxito clientes desarrollados en diferentes tecnologías (Web, Consola, Escritorio y Móvil) hacia un núcleo centralizado en WCF.</a:t>
            </a:r>
            <a:endParaRPr sz="1800">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800">
                <a:latin typeface="Cambria"/>
                <a:ea typeface="Cambria"/>
                <a:cs typeface="Cambria"/>
                <a:sym typeface="Cambria"/>
              </a:rPr>
              <a:t>La implementación del patrón Modelo-Vista-Controlador (MVC) junto con una Arquitectura Orientada a Servicios (SOA) facilitó la modularidad del código, aislando la lógica de negocio y las operaciones matemáticas de las diferentes interfaces de usuario.</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RECOMENDACIONES</a:t>
            </a:r>
            <a:endParaRPr/>
          </a:p>
        </p:txBody>
      </p:sp>
      <p:sp>
        <p:nvSpPr>
          <p:cNvPr id="122" name="Google Shape;122;p16"/>
          <p:cNvSpPr txBox="1">
            <a:spLocks noGrp="1"/>
          </p:cNvSpPr>
          <p:nvPr>
            <p:ph type="body" idx="1"/>
          </p:nvPr>
        </p:nvSpPr>
        <p:spPr>
          <a:xfrm>
            <a:off x="581192" y="1950000"/>
            <a:ext cx="8588808" cy="2652979"/>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600"/>
              </a:spcBef>
              <a:spcAft>
                <a:spcPts val="0"/>
              </a:spcAft>
              <a:buSzPts val="1656"/>
              <a:buFont typeface="Noto Sans Symbols"/>
              <a:buChar char="∙"/>
            </a:pPr>
            <a:r>
              <a:rPr lang="es-ES" sz="1800">
                <a:latin typeface="Cambria"/>
                <a:ea typeface="Cambria"/>
                <a:cs typeface="Cambria"/>
                <a:sym typeface="Cambria"/>
              </a:rPr>
              <a:t>Se recomienda configurar un certificado SSL en el servidor IIS para habilitar HTTPS, garantizando que los tokens de autenticación y los datos transmitidos en las cabeceras SOAP viajen cifrados y protegidos contra posibles interceptaciones en la red.</a:t>
            </a:r>
            <a:endParaRPr sz="1800">
              <a:latin typeface="Cambria"/>
              <a:ea typeface="Cambria"/>
              <a:cs typeface="Cambria"/>
              <a:sym typeface="Cambria"/>
            </a:endParaRPr>
          </a:p>
          <a:p>
            <a:pPr marL="342900" marR="0" lvl="0" indent="-342900" algn="just" rtl="0">
              <a:lnSpc>
                <a:spcPct val="107000"/>
              </a:lnSpc>
              <a:spcBef>
                <a:spcPts val="600"/>
              </a:spcBef>
              <a:spcAft>
                <a:spcPts val="0"/>
              </a:spcAft>
              <a:buSzPts val="1656"/>
              <a:buFont typeface="Noto Sans Symbols"/>
              <a:buChar char="∙"/>
            </a:pPr>
            <a:r>
              <a:rPr lang="es-ES" sz="1800">
                <a:latin typeface="Cambria"/>
                <a:ea typeface="Cambria"/>
                <a:cs typeface="Cambria"/>
                <a:sym typeface="Cambria"/>
              </a:rPr>
              <a:t>Se sugiere incorporar formalmente FaultContracts en los servicios WCF para estandarizar el manejo de excepciones y errores lógicos, permitiendo enviar mensajes descriptivos y controlados hacia los clientes en lugar de exponer fallas genéricas.</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FUNCIONAMIENTO DEL SISTEMA</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10211</Words>
  <Application>Microsoft Office PowerPoint</Application>
  <PresentationFormat>Panorámica</PresentationFormat>
  <Paragraphs>1887</Paragraphs>
  <Slides>77</Slides>
  <Notes>77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77</vt:i4>
      </vt:variant>
    </vt:vector>
  </HeadingPairs>
  <TitlesOfParts>
    <vt:vector size="83" baseType="lpstr">
      <vt:lpstr>Gill Sans</vt:lpstr>
      <vt:lpstr>Calibri</vt:lpstr>
      <vt:lpstr>Arial</vt:lpstr>
      <vt:lpstr>Cambria</vt:lpstr>
      <vt:lpstr>Noto Sans Symbols</vt:lpstr>
      <vt:lpstr>Dividendo</vt:lpstr>
      <vt:lpstr>MANUAL CONVERSION UNIDADES SOAP DOTNET</vt:lpstr>
      <vt:lpstr>Presentación de PowerPoint</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JUAN</cp:lastModifiedBy>
  <cp:revision>2</cp:revision>
  <dcterms:modified xsi:type="dcterms:W3CDTF">2026-10-25T17:31:49Z</dcterms:modified>
</cp:coreProperties>
</file>