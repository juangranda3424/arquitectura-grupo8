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9"/>
  </p:notesMasterIdLst>
  <p:sldIdLst>
    <p:sldId id="256" r:id="rId2"/>
    <p:sldId id="257" r:id="rId3"/>
    <p:sldId id="337" r:id="rId90"/>
    <p:sldId id="338" r:id="rId91"/>
    <p:sldId id="411" r:id="rId78"/>
    <p:sldId id="412" r:id="rId77"/>
    <p:sldId id="413" r:id="rId76"/>
    <p:sldId id="414" r:id="rId75"/>
    <p:sldId id="415" r:id="rId74"/>
    <p:sldId id="416" r:id="rId73"/>
    <p:sldId id="417" r:id="rId72"/>
    <p:sldId id="418" r:id="rId71"/>
    <p:sldId id="419" r:id="rId70"/>
    <p:sldId id="420" r:id="rId69"/>
    <p:sldId id="421" r:id="rId68"/>
    <p:sldId id="422" r:id="rId67"/>
    <p:sldId id="423" r:id="rId66"/>
    <p:sldId id="424" r:id="rId65"/>
    <p:sldId id="425" r:id="rId64"/>
    <p:sldId id="426" r:id="rId63"/>
    <p:sldId id="427" r:id="rId62"/>
    <p:sldId id="428" r:id="rId61"/>
    <p:sldId id="429" r:id="rId60"/>
    <p:sldId id="430" r:id="rId59"/>
    <p:sldId id="431" r:id="rId58"/>
    <p:sldId id="432" r:id="rId57"/>
    <p:sldId id="433" r:id="rId56"/>
    <p:sldId id="434" r:id="rId55"/>
    <p:sldId id="435" r:id="rId54"/>
    <p:sldId id="436" r:id="rId53"/>
    <p:sldId id="437" r:id="rId52"/>
    <p:sldId id="438" r:id="rId51"/>
    <p:sldId id="439" r:id="rId50"/>
    <p:sldId id="440" r:id="rId49"/>
    <p:sldId id="441" r:id="rId48"/>
    <p:sldId id="442" r:id="rId47"/>
    <p:sldId id="443" r:id="rId46"/>
    <p:sldId id="444" r:id="rId45"/>
    <p:sldId id="445" r:id="rId44"/>
    <p:sldId id="446" r:id="rId43"/>
    <p:sldId id="447" r:id="rId42"/>
    <p:sldId id="448" r:id="rId41"/>
    <p:sldId id="449" r:id="rId40"/>
    <p:sldId id="450" r:id="rId39"/>
    <p:sldId id="451" r:id="rId38"/>
    <p:sldId id="452" r:id="rId37"/>
    <p:sldId id="453" r:id="rId36"/>
    <p:sldId id="454" r:id="rId35"/>
    <p:sldId id="455" r:id="rId34"/>
    <p:sldId id="456" r:id="rId33"/>
    <p:sldId id="457" r:id="rId32"/>
    <p:sldId id="458" r:id="rId31"/>
    <p:sldId id="459" r:id="rId30"/>
    <p:sldId id="460" r:id="rId29"/>
    <p:sldId id="461" r:id="rId28"/>
    <p:sldId id="462" r:id="rId27"/>
    <p:sldId id="463" r:id="rId26"/>
    <p:sldId id="464" r:id="rId25"/>
    <p:sldId id="465" r:id="rId24"/>
    <p:sldId id="466" r:id="rId23"/>
    <p:sldId id="467" r:id="rId22"/>
    <p:sldId id="468" r:id="rId21"/>
    <p:sldId id="469" r:id="rId20"/>
    <p:sldId id="470" r:id="rId19"/>
    <p:sldId id="471" r:id="rId18"/>
    <p:sldId id="472" r:id="rId17"/>
    <p:sldId id="473" r:id="rId16"/>
    <p:sldId id="474" r:id="rId15"/>
    <p:sldId id="475" r:id="rId14"/>
    <p:sldId id="409" r:id="rId162"/>
    <p:sldId id="410" r:id="rId163"/>
  </p:sldIdLst>
  <p:sldSz cx="12192000" cy="6858000"/>
  <p:notesSz cx="6858000" cy="9144000"/>
  <p:embeddedFontLst>
    <p:embeddedFont>
      <p:font typeface="Cambria" panose="02040503050406030204" pitchFamily="18" charset="0"/>
      <p:regular r:id="rId80"/>
      <p:bold r:id="rId81"/>
      <p:italic r:id="rId82"/>
      <p:boldItalic r:id="rId83"/>
    </p:embeddedFont>
    <p:embeddedFont>
      <p:font typeface="Gill Sans" panose="020B0604020202020204" charset="0"/>
      <p:regular r:id="rId84"/>
      <p:bold r:id="rId8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0F2D98E-0062-4CEB-BF75-F90E3C6509C4}">
  <a:tblStyle styleId="{00F2D98E-0062-4CEB-BF75-F90E3C6509C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14" Type="http://schemas.openxmlformats.org/officeDocument/2006/relationships/slide" Target="slides/slide141.xml"/><Relationship Id="rId15" Type="http://schemas.openxmlformats.org/officeDocument/2006/relationships/slide" Target="slides/slide140.xml"/><Relationship Id="rId16" Type="http://schemas.openxmlformats.org/officeDocument/2006/relationships/slide" Target="slides/slide139.xml"/><Relationship Id="rId17" Type="http://schemas.openxmlformats.org/officeDocument/2006/relationships/slide" Target="slides/slide138.xml"/><Relationship Id="rId18" Type="http://schemas.openxmlformats.org/officeDocument/2006/relationships/slide" Target="slides/slide137.xml"/><Relationship Id="rId19" Type="http://schemas.openxmlformats.org/officeDocument/2006/relationships/slide" Target="slides/slide136.xml"/><Relationship Id="rId20" Type="http://schemas.openxmlformats.org/officeDocument/2006/relationships/slide" Target="slides/slide135.xml"/><Relationship Id="rId21" Type="http://schemas.openxmlformats.org/officeDocument/2006/relationships/slide" Target="slides/slide134.xml"/><Relationship Id="rId22" Type="http://schemas.openxmlformats.org/officeDocument/2006/relationships/slide" Target="slides/slide133.xml"/><Relationship Id="rId23" Type="http://schemas.openxmlformats.org/officeDocument/2006/relationships/slide" Target="slides/slide132.xml"/><Relationship Id="rId24" Type="http://schemas.openxmlformats.org/officeDocument/2006/relationships/slide" Target="slides/slide131.xml"/><Relationship Id="rId25" Type="http://schemas.openxmlformats.org/officeDocument/2006/relationships/slide" Target="slides/slide130.xml"/><Relationship Id="rId26" Type="http://schemas.openxmlformats.org/officeDocument/2006/relationships/slide" Target="slides/slide129.xml"/><Relationship Id="rId27" Type="http://schemas.openxmlformats.org/officeDocument/2006/relationships/slide" Target="slides/slide128.xml"/><Relationship Id="rId28" Type="http://schemas.openxmlformats.org/officeDocument/2006/relationships/slide" Target="slides/slide127.xml"/><Relationship Id="rId29" Type="http://schemas.openxmlformats.org/officeDocument/2006/relationships/slide" Target="slides/slide126.xml"/><Relationship Id="rId30" Type="http://schemas.openxmlformats.org/officeDocument/2006/relationships/slide" Target="slides/slide125.xml"/><Relationship Id="rId31" Type="http://schemas.openxmlformats.org/officeDocument/2006/relationships/slide" Target="slides/slide124.xml"/><Relationship Id="rId32" Type="http://schemas.openxmlformats.org/officeDocument/2006/relationships/slide" Target="slides/slide123.xml"/><Relationship Id="rId33" Type="http://schemas.openxmlformats.org/officeDocument/2006/relationships/slide" Target="slides/slide122.xml"/><Relationship Id="rId34" Type="http://schemas.openxmlformats.org/officeDocument/2006/relationships/slide" Target="slides/slide121.xml"/><Relationship Id="rId35" Type="http://schemas.openxmlformats.org/officeDocument/2006/relationships/slide" Target="slides/slide120.xml"/><Relationship Id="rId36" Type="http://schemas.openxmlformats.org/officeDocument/2006/relationships/slide" Target="slides/slide119.xml"/><Relationship Id="rId37" Type="http://schemas.openxmlformats.org/officeDocument/2006/relationships/slide" Target="slides/slide118.xml"/><Relationship Id="rId38" Type="http://schemas.openxmlformats.org/officeDocument/2006/relationships/slide" Target="slides/slide117.xml"/><Relationship Id="rId39" Type="http://schemas.openxmlformats.org/officeDocument/2006/relationships/slide" Target="slides/slide116.xml"/><Relationship Id="rId40" Type="http://schemas.openxmlformats.org/officeDocument/2006/relationships/slide" Target="slides/slide115.xml"/><Relationship Id="rId41" Type="http://schemas.openxmlformats.org/officeDocument/2006/relationships/slide" Target="slides/slide114.xml"/><Relationship Id="rId42" Type="http://schemas.openxmlformats.org/officeDocument/2006/relationships/slide" Target="slides/slide113.xml"/><Relationship Id="rId43" Type="http://schemas.openxmlformats.org/officeDocument/2006/relationships/slide" Target="slides/slide112.xml"/><Relationship Id="rId44" Type="http://schemas.openxmlformats.org/officeDocument/2006/relationships/slide" Target="slides/slide111.xml"/><Relationship Id="rId45" Type="http://schemas.openxmlformats.org/officeDocument/2006/relationships/slide" Target="slides/slide110.xml"/><Relationship Id="rId46" Type="http://schemas.openxmlformats.org/officeDocument/2006/relationships/slide" Target="slides/slide109.xml"/><Relationship Id="rId47" Type="http://schemas.openxmlformats.org/officeDocument/2006/relationships/slide" Target="slides/slide108.xml"/><Relationship Id="rId48" Type="http://schemas.openxmlformats.org/officeDocument/2006/relationships/slide" Target="slides/slide107.xml"/><Relationship Id="rId49" Type="http://schemas.openxmlformats.org/officeDocument/2006/relationships/slide" Target="slides/slide106.xml"/><Relationship Id="rId50" Type="http://schemas.openxmlformats.org/officeDocument/2006/relationships/slide" Target="slides/slide105.xml"/><Relationship Id="rId51" Type="http://schemas.openxmlformats.org/officeDocument/2006/relationships/slide" Target="slides/slide104.xml"/><Relationship Id="rId52" Type="http://schemas.openxmlformats.org/officeDocument/2006/relationships/slide" Target="slides/slide103.xml"/><Relationship Id="rId53" Type="http://schemas.openxmlformats.org/officeDocument/2006/relationships/slide" Target="slides/slide102.xml"/><Relationship Id="rId54" Type="http://schemas.openxmlformats.org/officeDocument/2006/relationships/slide" Target="slides/slide101.xml"/><Relationship Id="rId55" Type="http://schemas.openxmlformats.org/officeDocument/2006/relationships/slide" Target="slides/slide100.xml"/><Relationship Id="rId56" Type="http://schemas.openxmlformats.org/officeDocument/2006/relationships/slide" Target="slides/slide99.xml"/><Relationship Id="rId57" Type="http://schemas.openxmlformats.org/officeDocument/2006/relationships/slide" Target="slides/slide98.xml"/><Relationship Id="rId58" Type="http://schemas.openxmlformats.org/officeDocument/2006/relationships/slide" Target="slides/slide97.xml"/><Relationship Id="rId59" Type="http://schemas.openxmlformats.org/officeDocument/2006/relationships/slide" Target="slides/slide96.xml"/><Relationship Id="rId60" Type="http://schemas.openxmlformats.org/officeDocument/2006/relationships/slide" Target="slides/slide95.xml"/><Relationship Id="rId61" Type="http://schemas.openxmlformats.org/officeDocument/2006/relationships/slide" Target="slides/slide94.xml"/><Relationship Id="rId62" Type="http://schemas.openxmlformats.org/officeDocument/2006/relationships/slide" Target="slides/slide93.xml"/><Relationship Id="rId63" Type="http://schemas.openxmlformats.org/officeDocument/2006/relationships/slide" Target="slides/slide92.xml"/><Relationship Id="rId64" Type="http://schemas.openxmlformats.org/officeDocument/2006/relationships/slide" Target="slides/slide91.xml"/><Relationship Id="rId65" Type="http://schemas.openxmlformats.org/officeDocument/2006/relationships/slide" Target="slides/slide90.xml"/><Relationship Id="rId66" Type="http://schemas.openxmlformats.org/officeDocument/2006/relationships/slide" Target="slides/slide89.xml"/><Relationship Id="rId67" Type="http://schemas.openxmlformats.org/officeDocument/2006/relationships/slide" Target="slides/slide88.xml"/><Relationship Id="rId68" Type="http://schemas.openxmlformats.org/officeDocument/2006/relationships/slide" Target="slides/slide87.xml"/><Relationship Id="rId69" Type="http://schemas.openxmlformats.org/officeDocument/2006/relationships/slide" Target="slides/slide86.xml"/><Relationship Id="rId70" Type="http://schemas.openxmlformats.org/officeDocument/2006/relationships/slide" Target="slides/slide85.xml"/><Relationship Id="rId71" Type="http://schemas.openxmlformats.org/officeDocument/2006/relationships/slide" Target="slides/slide84.xml"/><Relationship Id="rId72" Type="http://schemas.openxmlformats.org/officeDocument/2006/relationships/slide" Target="slides/slide83.xml"/><Relationship Id="rId73" Type="http://schemas.openxmlformats.org/officeDocument/2006/relationships/slide" Target="slides/slide82.xml"/><Relationship Id="rId74" Type="http://schemas.openxmlformats.org/officeDocument/2006/relationships/slide" Target="slides/slide81.xml"/><Relationship Id="rId75" Type="http://schemas.openxmlformats.org/officeDocument/2006/relationships/slide" Target="slides/slide80.xml"/><Relationship Id="rId76" Type="http://schemas.openxmlformats.org/officeDocument/2006/relationships/slide" Target="slides/slide79.xml"/><Relationship Id="rId77" Type="http://schemas.openxmlformats.org/officeDocument/2006/relationships/slide" Target="slides/slide78.xml"/><Relationship Id="rId78" Type="http://schemas.openxmlformats.org/officeDocument/2006/relationships/slide" Target="slides/slide77.xml"/><Relationship Id="rId79" Type="http://schemas.openxmlformats.org/officeDocument/2006/relationships/notesMaster" Target="notesMasters/notesMaster1.xml"/><Relationship Id="rId80" Type="http://schemas.openxmlformats.org/officeDocument/2006/relationships/font" Target="fonts/font1.fntdata"/><Relationship Id="rId81" Type="http://schemas.openxmlformats.org/officeDocument/2006/relationships/font" Target="fonts/font2.fntdata"/><Relationship Id="rId82" Type="http://schemas.openxmlformats.org/officeDocument/2006/relationships/font" Target="fonts/font3.fntdata"/><Relationship Id="rId83" Type="http://schemas.openxmlformats.org/officeDocument/2006/relationships/font" Target="fonts/font4.fntdata"/><Relationship Id="rId84" Type="http://schemas.openxmlformats.org/officeDocument/2006/relationships/font" Target="fonts/font5.fntdata"/><Relationship Id="rId85" Type="http://schemas.openxmlformats.org/officeDocument/2006/relationships/font" Target="fonts/font6.fntdata"/><Relationship Id="rId86" Type="http://schemas.openxmlformats.org/officeDocument/2006/relationships/presProps" Target="presProps.xml"/><Relationship Id="rId87" Type="http://schemas.openxmlformats.org/officeDocument/2006/relationships/viewProps" Target="viewProps.xml"/><Relationship Id="rId88" Type="http://schemas.openxmlformats.org/officeDocument/2006/relationships/theme" Target="theme/theme1.xml"/><Relationship Id="rId89" Type="http://schemas.openxmlformats.org/officeDocument/2006/relationships/tableStyles" Target="tableStyles.xml"/><Relationship Id="rId90" Type="http://schemas.openxmlformats.org/officeDocument/2006/relationships/slide" Target="slides/slide3.xml"/><Relationship Id="rId91" Type="http://schemas.openxmlformats.org/officeDocument/2006/relationships/slide" Target="slides/slide4.xml"/><Relationship Id="rId162" Type="http://schemas.openxmlformats.org/officeDocument/2006/relationships/slide" Target="slides/slide75.xml"/><Relationship Id="rId163" Type="http://schemas.openxmlformats.org/officeDocument/2006/relationships/slide" Target="slides/slide7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C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C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C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2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57" name="Google Shape;57;p7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9"/>
          <p:cNvSpPr txBox="1"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sz="2000" b="0"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388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sz="2400" b="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EC"/>
          </a:p>
        </p:txBody>
      </p:sp>
      <p:sp>
        <p:nvSpPr>
          <p:cNvPr id="74" name="Google Shape;74;p10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2"/>
          <p:cNvSpPr txBox="1"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2207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038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4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3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4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5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6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7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8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9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10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1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12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13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14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15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16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17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18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19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20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2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22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23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24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25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26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27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28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29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30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3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32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33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34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35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36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37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38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ctrTitle"/>
          </p:nvPr>
        </p:nvSpPr>
        <p:spPr>
          <a:xfrm>
            <a:off x="599226" y="3158569"/>
            <a:ext cx="10993549" cy="1578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s-ES">
                <a:solidFill>
                  <a:schemeClr val="lt1"/>
                </a:solidFill>
              </a:rPr>
              <a:t>MANUAL</a:t>
            </a:r>
            <a:br>
              <a:rPr lang="es-ES">
                <a:solidFill>
                  <a:schemeClr val="lt1"/>
                </a:solidFill>
              </a:rPr>
            </a:br>
            <a:r>
              <a:rPr lang="es-ES">
                <a:solidFill>
                  <a:schemeClr val="lt1"/>
                </a:solidFill>
              </a:rPr>
              <a:t>CONVERSION UNIDADES SOAP RESTFUL DOTNET</a:t>
            </a:r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1"/>
          </p:nvPr>
        </p:nvSpPr>
        <p:spPr>
          <a:xfrm>
            <a:off x="599226" y="4572000"/>
            <a:ext cx="4261500" cy="18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2"/>
              <a:buFont typeface="Arial"/>
              <a:buNone/>
            </a:pPr>
            <a:endParaRPr b="1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920"/>
              </a:spcBef>
              <a:spcAft>
                <a:spcPts val="0"/>
              </a:spcAft>
              <a:buClr>
                <a:schemeClr val="dk1"/>
              </a:buClr>
              <a:buSzPts val="1472"/>
              <a:buFont typeface="Arial"/>
              <a:buNone/>
            </a:pPr>
            <a:r>
              <a:rPr lang="es-ES" b="1" dirty="0">
                <a:solidFill>
                  <a:schemeClr val="lt1"/>
                </a:solidFill>
              </a:rPr>
              <a:t>INTEGRANTES:</a:t>
            </a:r>
            <a:r>
              <a:rPr lang="es-ES" dirty="0">
                <a:solidFill>
                  <a:schemeClr val="lt1"/>
                </a:solidFill>
              </a:rPr>
              <a:t> 	GUALLICHICO JOSUE</a:t>
            </a:r>
          </a:p>
          <a:p>
            <a:pPr marL="0" lvl="0" indent="0" algn="l" rtl="0">
              <a:spcBef>
                <a:spcPts val="920"/>
              </a:spcBef>
              <a:spcAft>
                <a:spcPts val="0"/>
              </a:spcAft>
              <a:buClr>
                <a:schemeClr val="dk1"/>
              </a:buClr>
              <a:buSzPts val="1472"/>
              <a:buFont typeface="Arial"/>
              <a:buNone/>
            </a:pPr>
            <a:r>
              <a:rPr lang="es-ES" dirty="0">
                <a:solidFill>
                  <a:schemeClr val="lt1"/>
                </a:solidFill>
              </a:rPr>
              <a:t>		GRANDA JUAN</a:t>
            </a:r>
          </a:p>
          <a:p>
            <a:pPr marL="0" lvl="0" indent="0" algn="l" rtl="0">
              <a:spcBef>
                <a:spcPts val="920"/>
              </a:spcBef>
              <a:spcAft>
                <a:spcPts val="0"/>
              </a:spcAft>
              <a:buClr>
                <a:schemeClr val="dk1"/>
              </a:buClr>
              <a:buSzPts val="1472"/>
              <a:buFont typeface="Arial"/>
              <a:buNone/>
            </a:pPr>
            <a:r>
              <a:rPr lang="es-ES" dirty="0">
                <a:solidFill>
                  <a:schemeClr val="lt1"/>
                </a:solidFill>
              </a:rPr>
              <a:t>		ASMAL KEVIN </a:t>
            </a:r>
            <a:endParaRPr b="1" dirty="0">
              <a:solidFill>
                <a:schemeClr val="lt1"/>
              </a:solidFill>
            </a:endParaRPr>
          </a:p>
        </p:txBody>
      </p:sp>
      <p:pic>
        <p:nvPicPr>
          <p:cNvPr id="98" name="Google Shape;98;p13" descr="Resultado de imagen para esp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597" y="716302"/>
            <a:ext cx="11647502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3"/>
          <p:cNvSpPr txBox="1"/>
          <p:nvPr/>
        </p:nvSpPr>
        <p:spPr>
          <a:xfrm>
            <a:off x="9037063" y="5301801"/>
            <a:ext cx="4261531" cy="123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FECHA:  04/11/2026</a:t>
            </a:r>
            <a:endParaRPr sz="1600" b="0" i="0" u="none" strike="noStrike" cap="none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ING: </a:t>
            </a:r>
            <a:r>
              <a:rPr lang="es-ES" sz="1600" b="0" i="0" u="none" strike="noStrike" cap="none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CAMPAÑA MAURICIO</a:t>
            </a:r>
            <a:endParaRPr sz="1600" b="1" i="0" u="none" strike="noStrike" cap="none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/>
          <p:nvPr/>
        </p:nvSpPr>
        <p:spPr>
          <a:xfrm>
            <a:off x="0" y="614406"/>
            <a:ext cx="12192000" cy="62435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7" name="Google Shape;107;p14"/>
          <p:cNvSpPr txBox="1">
            <a:spLocks noGrp="1"/>
          </p:cNvSpPr>
          <p:nvPr>
            <p:ph type="body" idx="1"/>
          </p:nvPr>
        </p:nvSpPr>
        <p:spPr>
          <a:xfrm>
            <a:off x="596348" y="701336"/>
            <a:ext cx="3389726" cy="542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DESARROLLO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>
                <a:solidFill>
                  <a:schemeClr val="lt1"/>
                </a:solidFill>
              </a:rPr>
              <a:t>OBJETIVO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>
                <a:solidFill>
                  <a:schemeClr val="lt1"/>
                </a:solidFill>
              </a:rPr>
              <a:t>CREACIÓN DEL SERVIDOR REST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CONSOLA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ESCRITORIO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WEB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MÓVIL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FUNCIONAMIENTO DEL SISTEMA</a:t>
            </a:r>
            <a:endParaRPr/>
          </a:p>
          <a:p>
            <a:pPr marL="306000" marR="0" lvl="0" indent="-306000" algn="l" rtl="0">
              <a:lnSpc>
                <a:spcPct val="100000"/>
              </a:lnSpc>
              <a:spcBef>
                <a:spcPts val="906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100000"/>
              </a:lnSpc>
              <a:spcBef>
                <a:spcPts val="906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RECOMENDACIONES</a:t>
            </a:r>
            <a:endParaRPr/>
          </a:p>
        </p:txBody>
      </p:sp>
      <p:pic>
        <p:nvPicPr>
          <p:cNvPr id="108" name="Google Shape;108;p14" descr="Resultado de imagen para AGENDA 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1522" y="1935576"/>
            <a:ext cx="6489819" cy="300747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2765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1.1  Objetivo general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Desarrollar un manual de documentación técnica que detalle el diseño e implementación de un sistema de conversión de magnitudes (masa, temperatura y longitud) bajo SOA, con un módulo de seguridad basado en tokens Bearer en el encabezado HTTP, entre un servidor RESTful ASP.NET Core Web API (.NET 10) y clientes de Escritorio (Windows Forms), Móvil (Android), Web (ASP.NET Core MVC) y Consola.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Se garantiza la interoperabilidad mediante HTTP/JSON y un envelope de respuesta único {estado, codigo, mensaje, resultado}, con el mismo contrato REST de TI.1.3 (Java).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2950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1.1  Objetivos específicos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Describir el diseño e implementación del servicio REST con ASP.NET Core: recursos (controladores), envelope JSON, lógica de conversiones y ejecución en Kestrel/IIS.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Proporcionar guías para consumir la API desde Consola, Escritorio, Web y Móvil con HttpClient / HttpURLConnection, enviando el token en Authorization: Bearer.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Explicar la configuración de Program.cs, launchSettings.json y appsettings.json, el middleware de errores y la publicación en IIS.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Analizar la separación de responsabilidades (recursos, soporte, seguridad, servicio, modelo, dto) y cómo facilita el mantenimiento y la escalabilidad.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CONCLUSIONES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265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Se comprobó que REST con JSON y un envelope de respuesta único permite una comunicación fluida e independiente de la plataforma, integrando clientes Web, Consola, Escritorio y Móvil con un núcleo en ASP.NET Core Web API.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MVC junto con SOA facilitó la modularidad: el paso de SOAP a REST solo afectó la capa de exposición y la lógica de negocio de TI.1.2 se reutilizó sin cambios.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RECOMENDACIONES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265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Se recomienda habilitar HTTPS en Kestrel o IIS para que los tokens Bearer y los datos JSON viajen cifrados.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Se sugiere agregar vencimiento a los tokens (por ejemplo JWT) y documentar la API con OpenAPI/Swagger.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Paso 1: Creación del proyecto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En Visual Studio se selecciona la plantilla ASP.NET Core Web API (.NET 10, con controladores) o se crea con dotnet new webapi.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Picture 12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192" y="3300000"/>
            <a:ext cx="8288808" cy="1507056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Paso 2: Nombramiento del proyecto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Se nombra WS_ConversionUnidades_Donet_GR8, con framework net10.0, Nullable e ImplicitUsings habilitados.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Picture 12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192" y="3300000"/>
            <a:ext cx="8288807" cy="1725425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Paso 3: Estructuración del proyecto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Se separan responsabilidades: api/recursos, api/soporte, seguridad, servicio, modelo, dto y el proyecto de pruebas xUnit.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Picture 12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5415" y="3300000"/>
            <a:ext cx="1660362" cy="340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Paso 4: Contrato de respuesta (envelope JSON) (1/2)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En REST no hay WSDL: toda respuesta usa el envelope {estado, codigo, mensaje, resultado} construido por RespuestaAPI.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7"/>
            <a:ext cx="8288808" cy="237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ourier New"/>
              </a:rPr>
              <a:t>    public static class RespuestaAPI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public const string ESTADO_OK = "OK";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public const string ESTADO_ERROR = "ERROR";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public const string TIPO_JSON = "application/json; charset=utf-8";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// Escritura sin escapar caracteres no ASCII (tildes, símbolo de grado).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private static readonly JsonSerializerOptions OPCIONES = new JsonSerializerOptions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Encoder = JavaScriptEncoder.UnsafeRelaxedJsonEscaping,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};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public static string ok(int codigo, string? mensaje, JsonNode? resultado)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return construir(ESTADO_OK, codigo, mensaje, resultado);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Paso 4: Contrato de respuesta (envelope JSON) (2/2)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/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7"/>
            <a:ext cx="8288808" cy="237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ourier New"/>
              </a:rPr>
              <a:t>        }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public static string error(int codigo, string? mensaje)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return construir(ESTADO_ERROR, codigo, mensaje, null);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}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public static ContentResult respuesta(int codigoHttp, string json)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return new ContentResult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StatusCode = codigoHttp,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Content = json,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ContentType = TIPO_JSON,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};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}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Paso 5: Recurso de conversión (1/2)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POST /api/conversiones/{magnitud}: la magnitud llega en la ruta y el valor y las unidades en el cuerpo JSON.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7"/>
            <a:ext cx="8288808" cy="237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ourier New"/>
              </a:rPr>
              <a:t>    [Route("api/conversiones")]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[RequiereToken]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public class ConversionRecurso : ControllerBase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private static readonly HashSet&lt;string&gt; MAGNITUDES_VALIDAS = new HashSet&lt;string&gt;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CatalogoUnidades.LONGITUD, CatalogoUnidades.MASA, CatalogoUnidades.TEMPERATURA,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};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private readonly ConversorServicio conversor = new ConversorServicio();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[HttpPost("{magnitud}")]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public async Task&lt;IActionResult&gt; convertir(string magnitud)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SoportePeticion.exigirTipoJSON(Request.ContentType);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Paso 5: Recurso de conversión (2/2)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/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7"/>
            <a:ext cx="8288808" cy="237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ourier New"/>
              </a:rPr>
              <a:t>            JsonElement datos = SoportePeticion.leerObjetoJSON(await SoportePeticion.leerCuerpo(Request));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string entrada = magnitud ?? "";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string tipoMagnitud = entrada.Trim().ToUpperInvariant();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if (!MAGNITUDES_VALIDAS.Contains(tipoMagnitud))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throw new ErrorAPI(404, $"La magnitud '{entrada}' no es válida. Debe ser LONGITUD, MASA o TEMPERATURA.");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}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var solicitud = new ConversionDTO(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SoportePeticion.numero(datos, "valorOrigen"),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null,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SoportePeticion.texto(datos, "unidadOrigen"),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SoportePeticion.texto(datos, "unidadDestino"),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tipoMagnitud);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Paso 5: Recurso de autenticación (1/2)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POST /api/auth/login devuelve el token; POST /api/auth/logout lo invalida.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7"/>
            <a:ext cx="8288808" cy="237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ourier New"/>
              </a:rPr>
              <a:t>        [HttpPost("login")]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public async Task&lt;IActionResult&gt; iniciarSesion()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SoportePeticion.exigirTipoJSON(Request.ContentType);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JsonElement datos = SoportePeticion.leerObjetoJSON(await SoportePeticion.leerCuerpo(Request));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string? usuario = SoportePeticion.texto(datos, "username");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string? contrasena = SoportePeticion.texto(datos, "password");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if (string.IsNullOrWhiteSpace(usuario) || string.IsNullOrWhiteSpace(contrasena))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throw new ErrorAPI(400, MENSAJE_CAMPOS_OBLIGATORIOS);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}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string token = autenticador.autenticadorLogin(new Usuario(usuario, contrasena));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if (AutenticadorServicio.USUARIO_INVALIDO.Equals(token))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Paso 5: Recurso de autenticación (2/2)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/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7"/>
            <a:ext cx="8288808" cy="237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ourier New"/>
              </a:rPr>
              <a:t>        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throw new ErrorAPI(401, AutenticadorServicio.USUARIO_INVALIDO);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}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// Los tokens de TI.1.2 no vencen: expiraEn se publica vacío, como hace TI.1.3 sin vencimiento.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var resultado = new JsonObject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["token"] = token,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["usuario"] = Constantes.usuario,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["expiraEn"] = "",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};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return RespuestaAPI.respuesta(200, RespuestaAPI.ok(200, MENSAJE_LOGIN_OK, resultado));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}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[HttpPost("logout")]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Paso 6: Filtro de seguridad (Authorization: Bearer)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RequiereTokenAttribute (IAuthorizationFilter) sustituye al inspector de WCF y valida el token antes de cada acción.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Picture 12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192" y="3300000"/>
            <a:ext cx="8288807" cy="3309884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Paso 6: Validación del token (continuación)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ValidadorToken extrae el token del esquema Bearer y responde 401 si falta o es inválido.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Picture 12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1965" y="3300000"/>
            <a:ext cx="3387261" cy="34080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Paso 7: Lógica de negocio – ConversorServicio (1/2)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La lógica matemática de TI.1.2 se mantiene intacta y se orquesta por magnitud.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7"/>
            <a:ext cx="8288808" cy="237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ourier New"/>
              </a:rPr>
              <a:t>    public class ConversorServicio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private readonly ValidadorConversion validador = new ValidadorConversion();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public ConversionDTO procesarConversion(ConversionDTO? dto)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// Validar datos (garantiza que los campos no son nulos ni vacíos)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validador.validarEstructuraEntrada(dto);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double valor = dto!.ValorOrigen!.Value;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string tipo = dto.TipoMagnitud!.Trim().ToUpperInvariant();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string unidadOrigenStr = dto.UnidadOrigen!.Trim().ToUpperInvariant();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string unidadDestinoStr = dto.UnidadDestino!.Trim().ToUpperInvariant();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double resultado;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switch (tipo)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Paso 7: Lógica de negocio – ConversorServicio (2/2)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/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7"/>
            <a:ext cx="8288808" cy="237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ourier New"/>
              </a:rPr>
              <a:t>        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case CatalogoUnidades.LONGITUD: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    validador.validarValorNoNegativo(valor, tipo);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    UnidadLongitud origenLongitud = validador.buscarEnumValido&lt;UnidadLongitud&gt;(unidadOrigenStr, tipo);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    UnidadLongitud destinoLongitud = validador.buscarEnumValido&lt;UnidadLongitud&gt;(unidadDestinoStr, tipo);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    resultado = origenLongitud.convertirA(valor, destinoLongitud);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    break;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case CatalogoUnidades.MASA: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    validador.validarValorNoNegativo(valor, tipo);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    UnidadMasa origenMasa = validador.buscarEnumValido&lt;UnidadMasa&gt;(unidadOrigenStr, tipo);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    UnidadMasa destinoMasa = validador.buscarEnumValido&lt;UnidadMasa&gt;(unidadDestinoStr, tipo);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    resultado = origenMasa.convertirA(valor, destinoMasa);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    break;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case CatalogoUnidades.TEMPERATURA: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Paso 7: Lógica de negocio – UnidadLongitud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Factores de conversión definidos sobre las enumeraciones del modelo.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7"/>
            <a:ext cx="8288808" cy="237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ourier New"/>
              </a:rPr>
              <a:t>namespace WS_ConversionUnidades_Donet_GR8.modelo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public enum UnidadLongitud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CENTIMETRO,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METRO,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PIE,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YARDA,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MILLA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}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public static class UnidadLongitudExtensions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// Método auxiliar privado para emular el factor en metros de cada unidad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private static double GetFactorEnMetros(this UnidadLongitud unidad)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{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Paso 8: Manejo centralizado de errores (1/2)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El middleware MapeadorExcepciones traduce excepciones y códigos 404/405 al envelope JSON.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7"/>
            <a:ext cx="8288808" cy="237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ourier New"/>
              </a:rPr>
              <a:t>    public class MapeadorExcepciones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public const string MENSAJE_NO_ENCONTRADO = "Recurso no encontrado.";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public const string MENSAJE_METODO_NO_PERMITIDO = "Método HTTP no permitido para este recurso.";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public const string MENSAJE_ERROR_INTERNO = "Error interno del servidor.";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public const string MENSAJE_SOLICITUD_INVALIDA = "Solicitud inválida.";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private readonly RequestDelegate siguiente;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private readonly ILogger&lt;MapeadorExcepciones&gt; registro;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public MapeadorExcepciones(RequestDelegate siguiente, ILogger&lt;MapeadorExcepciones&gt; registro)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this.siguiente = siguiente;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this.registro = registro;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}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Paso 8: Manejo centralizado de errores (2/2)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/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7"/>
            <a:ext cx="8288808" cy="237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ourier New"/>
              </a:rPr>
              <a:t>        public async Task InvokeAsync(HttpContext contexto)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try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await siguiente(contexto);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}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catch (Exception error) when (!contexto.Response.HasStarted)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(int codigo, string mensaje) = mapear(error);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if (codigo == 500)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    registro.LogError(error, "Error no controlado en {Ruta}", contexto.Request.Path);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}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contexto.Response.Clear();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await RespuestaAPI.escribir(contexto.Response, codigo, RespuestaAPI.error(codigo, mensaje));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}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Paso 9: Pipeline de ASP.NET Core (Program.cs)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Se registran controladores, middleware de errores y la ruta base /WS_ConversionUnidades_Donet_GR8.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7"/>
            <a:ext cx="8288808" cy="237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ourier New"/>
              </a:rPr>
              <a:t>using WS_ConversionUnidades_Donet_GR8.api.soporte;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using WS_ConversionUnidades_Donet_GR8.modelo;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var builder = WebApplication.CreateBuilder(args);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builder.Services.AddControllers();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var app = builder.Build();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// Toda excepción y todo código de error sin cuerpo (404/405 del enrutador) se devuelven con el envelope JSON.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app.UseMiddleware&lt;MapeadorExcepciones&gt;();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app.UseStatusCodePages(MapeadorExcepciones.escribirCodigoEstado);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// La API responde en /api/... y también bajo /WS_ConversionUnidades_Donet_GR8/api/..., equivalente al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// contexto del WAR de TI.1.3, para que los clientes conserven su esquema de URL base.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app.UsePathBase("/" + Constantes.NOMBRE_SERVICIO);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Paso 9: Puerto del servicio (launchSettings.json)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Kestrel escucha en http://*:5080.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7"/>
            <a:ext cx="8288808" cy="237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ourier New"/>
              </a:rPr>
              <a:t>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"$schema": "https://json.schemastore.org/launchsettings.json",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"profiles":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"http":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"commandName": "Project",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"dotnetRunMessages": true,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"launchBrowser": false,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"applicationUrl": "http://*:5080",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"environmentVariables":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"ASPNETCORE_ENVIRONMENT": "Development"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}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}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}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Paso 10: Compilación y ejecución en Kestrel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Con F5 o dotnet run el servicio queda escuchando en el puerto 5080.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Picture 12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192" y="3300000"/>
            <a:ext cx="8288808" cy="1863725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Paso 11: Verificación del servicio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GET /api/estado responde con el envelope JSON: servicio, versión, protocolo REST/JSON y hora.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Picture 12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192" y="3300000"/>
            <a:ext cx="8288808" cy="3164817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Paso 12: Perfil de publicación en carpeta local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Se selecciona el directorio de la carpeta donde se va a guardar la publicación.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Picture 12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531" y="3300000"/>
            <a:ext cx="6596129" cy="34080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Paso 13: Ejecución de la publicación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Una vez confirmado que el proyecto está listo, se da clic a Publicar.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Picture 12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531" y="3300000"/>
            <a:ext cx="6596129" cy="34080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Paso 14: Verificación de los artefactos de compilación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Se confirma que se generaron los archivos necesarios para la ejecución.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Picture 12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531" y="3300000"/>
            <a:ext cx="6596129" cy="34080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Paso 15: Instalación del ASP.NET Core Hosting Bundle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IIS requiere el Hosting Bundle de .NET 10 para alojar aplicaciones ASP.NET Core.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Picture 12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531" y="3300000"/>
            <a:ext cx="6596129" cy="34080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Paso 16: Creación del nuevo sitio web en IIS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Se abre la interfaz de IIS y se agrega un sitio.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Picture 12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531" y="3300000"/>
            <a:ext cx="6596129" cy="34080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Paso 17: Ruta física y configuración de red (Binding)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Se asigna la ruta donde se generaron los archivos publicados.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Picture 12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531" y="3300000"/>
            <a:ext cx="6596129" cy="340800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Paso 18: Permisos de seguridad (grupo IIS_IUSRS)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Se otorgan privilegios al grupo IIS_IUSRS; caso contrario se bloquea el acceso.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Picture 12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531" y="3300000"/>
            <a:ext cx="6596129" cy="3408000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Paso 19: Verificación final (sin token)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Un recurso protegido sin token responde 401 con el envelope de error.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Picture 12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192" y="3300000"/>
            <a:ext cx="8288808" cy="3164817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Paso 19: Verificación final (curl)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Con el token Bearer ya se pueden hacer login, catálogo y conversiones.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Picture 12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192" y="3300000"/>
            <a:ext cx="8288808" cy="2707677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Cliente Consola – Paso 1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En Visual Studio se selecciona crear proyecto y la plantilla “Aplicación de consola”.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Picture 12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531" y="3300000"/>
            <a:ext cx="6596129" cy="3408000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Cliente Consola – Paso 2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Se coloca un nombre al proyecto y se asigna el directorio.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Picture 12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531" y="3300000"/>
            <a:ext cx="6596129" cy="3408000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Cliente Consola – Paso 3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Se asigna la versión de framework .NET 10.0 y se crea el proyecto.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Picture 12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531" y="3300000"/>
            <a:ext cx="6596129" cy="3408000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Cliente Consola – Paso 4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Se crean los paquetes del proyecto: Models, Services y Consola.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Picture 12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062" y="3300000"/>
            <a:ext cx="7165067" cy="3408000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Cliente Consola – Services: RestClienteServicio (1/2)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HttpClient + System.Text.Json; el token viaja en Authorization: Bearer.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7"/>
            <a:ext cx="8288808" cy="237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ourier New"/>
              </a:rPr>
              <a:t>        public async Task&lt;string&gt; LoginAsync(string usuario, string contrasena)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JsonElement resultado;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try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resultado = await EnviarAsync(HttpMethod.Post, "auth/login", null,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    new { username = usuario, password = contrasena });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}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catch (RestClienteException ex) when (ex.AccesoDenegado)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// En el login un 401 significa credenciales incorrectas, no una sesión vencida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throw new RestClienteException("Usuario o contraseña incorrectos.");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}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var token = Texto(resultado, "token");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if (string.IsNullOrWhiteSpace(token))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Cliente Consola – Services: RestClienteServicio (2/2)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/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7"/>
            <a:ext cx="8288808" cy="237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ourier New"/>
              </a:rPr>
              <a:t>        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throw new RestClienteException("Usuario o contraseña incorrectos.");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}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return token;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}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public async Task&lt;bool&gt; LogoutAsync(string token)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var resultado = await EnviarAsync(HttpMethod.Post, "auth/logout", token, null);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return resultado.ValueKind == JsonValueKind.True;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}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public async Task&lt;IReadOnlyDictionary&lt;string, Unidad[]&gt;&gt; ObtenerCatalogoAsync(string token)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var resultado = await EnviarAsync(HttpMethod.Get, "catalogo", token, null);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if (resultado.ValueKind != JsonValueKind.Object)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Cliente Consola – Services: ConvertirAsync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POST /conversiones/{magnitud} y lectura de valorResultado.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7"/>
            <a:ext cx="8288808" cy="237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ourier New"/>
              </a:rPr>
              <a:t>        public async Task&lt;double&gt; ConvertirAsync(string token, string tipoMagnitud,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string unidadOrigen, string unidadDestino, double valorOrigen)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var resultado = await EnviarAsync(HttpMethod.Post,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"conversiones/" + Uri.EscapeDataString(tipoMagnitud), token,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new { valorOrigen, unidadOrigen, unidadDestino });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if (resultado.ValueKind != JsonValueKind.Object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|| !resultado.TryGetProperty("valorResultado", out var valor)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|| !valor.TryGetDouble(out var convertido))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throw new RestClienteException("El servicio devolvió una respuesta que no se pudo interpretar.");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}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return convertido;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}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Cliente Consola – Vista Entrada.cs (1/2)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Utilidades para leer datos y mostrar mensajes en la consola. Fragmento.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7"/>
            <a:ext cx="8288808" cy="237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ourier New"/>
              </a:rPr>
              <a:t>    public static class Entrada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public static string Texto(string mensaje)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Console.Write(mensaje);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return (Console.ReadLine() ?? "").Trim();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}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// Lee la contraseña mostrando asteriscos (si la entrada viene redirigida, la lee como texto normal)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public static string Contrasena(string mensaje)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Console.Write(mensaje);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if (Console.IsInputRedirected) return Console.ReadLine() ?? "";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var sb = new StringBuilder();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while (true)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Cliente Consola – Vista Entrada.cs (2/2)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/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7"/>
            <a:ext cx="8288808" cy="237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ourier New"/>
              </a:rPr>
              <a:t>        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var tecla = Console.ReadKey(intercept: true);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if (tecla.Key == ConsoleKey.Enter)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    Console.WriteLine();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    return sb.ToString();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}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if (tecla.Key == ConsoleKey.Backspace)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    if (sb.Length &gt; 0)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        sb.Length--;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        Console.Write("\b \b");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    }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}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else if (!char.IsControl(tecla.KeyChar))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Cliente Escritorio – Paso 1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Se usa Windows Forms (net10.0-windows); en Visual Studio se crea la solución.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Picture 12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531" y="3300000"/>
            <a:ext cx="6596129" cy="3408000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Cliente Escritorio – Paso 2: Arquitectura MVC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Forms (vista), Models y Services (RestClienteServicio).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Picture 12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082" y="3300000"/>
            <a:ext cx="6629027" cy="3408000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Cliente Escritorio – FrmLogin: BtnIngresar_Click (1/2)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Inicio de sesión contra POST /api/auth/login. Fragmento.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7"/>
            <a:ext cx="8288808" cy="237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ourier New"/>
              </a:rPr>
              <a:t>        private async void BtnIngresar_Click(object? sender, EventArgs e)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lblError.Text = "";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var usuario = txtUsuario.Text.Trim();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if (usuario.Length == 0 || txtContrasena.Text.Length == 0)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lblError.Text = "Ingresa tu usuario y contraseña.";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return;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}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btnIngresar.Enabled = false;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Cursor = Cursors.WaitCursor;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string? token = null;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try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{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Cliente Escritorio – FrmLogin: BtnIngresar_Click (2/2)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/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7"/>
            <a:ext cx="8288808" cy="237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token = await _rest.LoginAsync(usuario, txtContrasena.Text);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Catalogo = await _rest.ObtenerCatalogoAsync(token);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Token = token;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Usuario = usuario;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DialogResult = DialogResult.OK;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}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catch (RestClienteException ex)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// Si el login funcionó pero no llegó el catálogo, se invalida el token para no dejar la sesión abierta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if (token != null) await CerrarSesionSilenciosaAsync(token);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lblError.Text = ex.Message;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txtContrasena.Clear();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txtContrasena.Focus();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}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finally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Cliente Escritorio – FrmConversor: BtnConvertir_Click (1/2)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Conversión y manejo de sesión vencida (401). Fragmento.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7"/>
            <a:ext cx="8288808" cy="237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ourier New"/>
              </a:rPr>
              <a:t>        private async void BtnConvertir_Click(object? sender, EventArgs e)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lblError.Text = "";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lblResultado.Text = "";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if (!TryLeerValor(out var valor))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lblError.Text = "Ingresa un valor numérico válido.";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return;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}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var magnitud = ((Unidad)cmbMagnitud.SelectedItem!).Valor;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var origen = ((Unidad)cmbOrigen.SelectedItem!).Valor;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var destino = ((Unidad)cmbDestino.SelectedItem!).Valor;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btnConvertir.Enabled = false;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Cliente Escritorio – FrmConversor: BtnConvertir_Click (2/2)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/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7"/>
            <a:ext cx="8288808" cy="237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ourier New"/>
              </a:rPr>
              <a:t>            Cursor = Cursors.WaitCursor;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try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var resultado = await _rest.ConvertirAsync(_token, magnitud, origen, destino, valor);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lblResultado.Text = $"{Formato(valor)} {origen.ToLowerInvariant()} = {Formato(resultado)} {destino.ToLowerInvariant()}";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}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catch (RestClienteException ex) when (ex.AccesoDenegado)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// El token ya no es válido (por ejemplo, el servidor se reinició): hay que iniciar sesión otra vez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_sesionCerrada = true;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MessageBox.Show(this, "Tu sesión expiró. Inicia sesión nuevamente.", "Sesión",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    MessageBoxButtons.OK, MessageBoxIcon.Information);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CerrarSesionSolicitada = true;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Close();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}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catch (RestClienteException ex)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Cliente Escritorio – Servicio y modelo: ServicioRestOpciones (1/2)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Lee UrlBase y TiempoEsperaSegundos desde appsettings.json.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7"/>
            <a:ext cx="8288808" cy="237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ourier New"/>
              </a:rPr>
              <a:t>using System.Text.Json;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namespace WS_ConversionUnidades_Donet_CLIESC_GR8.Services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public class ServicioRestOpciones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// URL base de la API REST (sin la barra final): los recursos cuelgan de aquí (/auth/login, /catalogo, ...)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public string UrlBase { get; set; } = "http://localhost:5080/api";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// Tiempo máximo de espera por petición, en segundos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public int TiempoEsperaSegundos { get; set; } = 15;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public static ServicioRestOpciones Cargar(string rutaArchivo)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if (!File.Exists(rutaArchivo)) return new ServicioRestOpciones();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Cliente Escritorio – Servicio y modelo: ServicioRestOpciones (2/2)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/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7"/>
            <a:ext cx="8288808" cy="237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ourier New"/>
              </a:rPr>
              <a:t>            using var doc = JsonDocument.Parse(File.ReadAllText(rutaArchivo));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if (!doc.RootElement.TryGetProperty("ServicioRest", out var seccion)) return new ServicioRestOpciones();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var opciones = new ServicioRestOpciones();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if (seccion.TryGetProperty("UrlBase", out var u) &amp;&amp; u.GetString() is { Length: &gt; 0 } url) opciones.UrlBase = url;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if (seccion.TryGetProperty("TiempoEsperaSegundos", out var t) &amp;&amp; t.TryGetInt32(out var segundos) &amp;&amp; segundos &gt; 0)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opciones.TiempoEsperaSegundos = segundos;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}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return opciones;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}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}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Cliente Web – Paso 1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Se crea la solución de tipo ASP.NET Core Web App (Model-View-Controller) con .NET 10.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Picture 12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531" y="3300000"/>
            <a:ext cx="6596129" cy="3408000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Cliente Web – Paso 2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Se crea el proyecto WS_ConversionUnidades_Donet_CLIWEB_GR8.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Picture 12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531" y="3300000"/>
            <a:ext cx="6596129" cy="3408000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Cliente Web – Pasos 3 y 4: Arquitectura MVC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Controllers, Models, Services y Views (Razor). El token queda en la sesión del servidor web.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Picture 12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5293" y="3300000"/>
            <a:ext cx="3360606" cy="3407999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Cliente Web – Paso 5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En launchSettings.json se configura el puerto 5081 (el 5080 lo usa el servidor REST).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Picture 12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192" y="3300000"/>
            <a:ext cx="8288808" cy="2966520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Cliente Móvil – Paso 1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Android/Kotlin con Android Studio y Jetpack Compose; REST con HttpURLConnection y org.json.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Picture 12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531" y="3300000"/>
            <a:ext cx="6596129" cy="3408000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Cliente Móvil – Paso 2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Se crea WS_ConversionUnidades_Donet_CLIMOV_GR8 con paquetes ec.edu.monster.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Picture 12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531" y="3300000"/>
            <a:ext cx="6596129" cy="3408000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Cliente Móvil – Paso 3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En el archivo .env se configura URL_BASE del servidor REST (10.0.2.2 desde el emulador).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Picture 12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192" y="3300000"/>
            <a:ext cx="8288807" cy="2590252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Cliente Móvil – Paso 4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Arquitectura MVC: controlador (ViewModels), modelo, servicio (RestCliente) y vista.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Picture 12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3702" y="3300000"/>
            <a:ext cx="2943787" cy="3408000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Cliente Móvil – Paso 5: AndroidManifest.xml (1/2)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Permiso de INTERNET y tráfico HTTP (usesCleartextTraffic).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7"/>
            <a:ext cx="8288808" cy="237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ourier New"/>
              </a:rPr>
              <a:t>&lt;?xml version="1.0" encoding="utf-8"?&gt;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&lt;manifest xmlns:android="http://schemas.android.com/apk/res/android"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xmlns:tools="http://schemas.android.com/tools"&gt;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&lt;uses-permission android:name="android.permission.INTERNET" /&gt;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&lt;application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android:allowBackup="true"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android:usesCleartextTraffic="true"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android:dataExtractionRules="@xml/data_extraction_rules"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android:fullBackupContent="@xml/backup_rules"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android:icon="@mipmap/ic_launcher"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android:label="@string/app_name"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android:roundIcon="@mipmap/ic_launcher_round"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android:supportsRtl="true"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android:theme="@style/Theme.WS_ConversionUnidades_Java_CLIMOV_GR8"&gt;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&lt;activity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Cliente Móvil – Paso 5: AndroidManifest.xml (2/2)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/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7"/>
            <a:ext cx="8288808" cy="237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ourier New"/>
              </a:rPr>
              <a:t>            android:name=".MainActivity"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android:exported="true"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android:label="@string/app_name"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android:theme="@style/Theme.WS_ConversionUnidades_Java_CLIMOV_GR8"&gt;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&lt;intent-filter&gt;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&lt;action android:name="android.intent.action.MAIN" /&gt;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    &lt;category android:name="android.intent.category.LAUNCHER" /&gt;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    &lt;/intent-filter&gt;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    &lt;/activity&gt;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&lt;/application&gt;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&lt;/manifest&gt;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Cliente Móvil – Paso 6: Dependencias (1/2)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Sin librerías de terceros para REST (ya no se necesita ksoap2).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7"/>
            <a:ext cx="8288808" cy="237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ourier New"/>
              </a:rPr>
              <a:t>dependencies {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implementation(libs.androidx.core.ktx)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implementation(libs.androidx.lifecycle.runtime.ktx)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implementation(libs.androidx.activity.compose)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implementation(platform(libs.androidx.compose.bom))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implementation(libs.androidx.compose.ui)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implementation(libs.androidx.compose.ui.graphics)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implementation(libs.androidx.compose.ui.tooling.preview)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implementation(libs.androidx.compose.material3)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implementation(libs.androidx.navigation.compose)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testImplementation(libs.junit)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androidTestImplementation(libs.androidx.junit)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androidTestImplementation(libs.androidx.espresso.core)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androidTestImplementation(platform(libs.androidx.compose.bom))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androidTestImplementation(libs.androidx.compose.ui.test.junit4)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    debugImplementation(libs.androidx.compose.ui.tooling)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15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Cliente Móvil – Paso 6: Dependencias (2/2)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/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1192" y="3186817"/>
            <a:ext cx="8288808" cy="237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anchor="t">
            <a:noAutofit/>
          </a:bodyPr>
          <a:lstStyle/>
          <a:p>
            <a:r>
              <a:rPr sz="1200">
                <a:solidFill>
                  <a:srgbClr val="000000"/>
                </a:solidFill>
                <a:latin typeface="Courier New"/>
              </a:rPr>
              <a:t>    debugImplementation(libs.androidx.compose.ui.test.manifest)</a:t>
            </a:r>
          </a:p>
          <a:p>
            <a:r>
              <a:rPr sz="1200">
                <a:solidFill>
                  <a:srgbClr val="000000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Cliente Web en funcionamiento: Login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Ilustración 15: Login.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Picture 12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9196" y="3300000"/>
            <a:ext cx="5452800" cy="3408000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Cliente Web en funcionamiento: Conversor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Ilustración 16: Conversor.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Picture 12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9196" y="3300000"/>
            <a:ext cx="5452800" cy="3408000"/>
          </a:xfrm>
          <a:prstGeom prst="rect">
            <a:avLst/>
          </a:prstGeom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Cliente Móvil en funcionamiento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Ilustración 17: Login y conversor del cliente móvil.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Picture 12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531" y="3300000"/>
            <a:ext cx="6596129" cy="3408000"/>
          </a:xfrm>
          <a:prstGeom prst="rect">
            <a:avLst/>
          </a:prstGeom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Cliente Consola en funcionamiento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Ilustración 18: Login y conversor del cliente Consola.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Picture 12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1520" y="3300000"/>
            <a:ext cx="3028152" cy="3407999"/>
          </a:xfrm>
          <a:prstGeom prst="rect">
            <a:avLst/>
          </a:prstGeom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Cliente Escritorio en funcionamiento: Login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Ilustración 19: Login y conversor del cliente Escritorio.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Picture 12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531" y="3300000"/>
            <a:ext cx="6596129" cy="3408000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Cliente Escritorio en funcionamiento: Conversor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Ilustración 19: Login y conversor del cliente Escritorio.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Picture 12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531" y="3300000"/>
            <a:ext cx="6596129" cy="3408000"/>
          </a:xfrm>
          <a:prstGeom prst="rect">
            <a:avLst/>
          </a:prstGeom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192" y="1950000"/>
            <a:ext cx="8588808" cy="1417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2000" b="1">
                <a:latin typeface="Cambria"/>
                <a:ea typeface="Cambria"/>
                <a:cs typeface="Cambria"/>
                <a:sym typeface="Cambria"/>
              </a:rPr>
              <a:t>Servidor en funcionamiento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600">
                <a:latin typeface="Cambria"/>
                <a:ea typeface="Cambria"/>
                <a:cs typeface="Cambria"/>
                <a:sym typeface="Cambria"/>
              </a:rPr>
              <a:t>Ilustración 20: 115 pruebas xUnit superadas del servidor REST.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FUNCIONAMIENTO DEL SISTEMA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Picture 12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192" y="3300000"/>
            <a:ext cx="8288808" cy="17431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10211</Words>
  <Application>Microsoft Office PowerPoint</Application>
  <PresentationFormat>Panorámica</PresentationFormat>
  <Paragraphs>1887</Paragraphs>
  <Slides>77</Slides>
  <Notes>77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77</vt:i4>
      </vt:variant>
    </vt:vector>
  </HeadingPairs>
  <TitlesOfParts>
    <vt:vector size="83" baseType="lpstr">
      <vt:lpstr>Gill Sans</vt:lpstr>
      <vt:lpstr>Calibri</vt:lpstr>
      <vt:lpstr>Arial</vt:lpstr>
      <vt:lpstr>Cambria</vt:lpstr>
      <vt:lpstr>Noto Sans Symbols</vt:lpstr>
      <vt:lpstr>Dividendo</vt:lpstr>
      <vt:lpstr>MANUAL CONVERSION UNIDADES SOAP DOTNET</vt:lpstr>
      <vt:lpstr>Presentación de PowerPoint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CONCLUSIONES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RECOMENDACIONES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JUAN</cp:lastModifiedBy>
  <cp:revision>2</cp:revision>
  <dcterms:modified xsi:type="dcterms:W3CDTF">2026-10-25T17:31:49Z</dcterms:modified>
</cp:coreProperties>
</file>