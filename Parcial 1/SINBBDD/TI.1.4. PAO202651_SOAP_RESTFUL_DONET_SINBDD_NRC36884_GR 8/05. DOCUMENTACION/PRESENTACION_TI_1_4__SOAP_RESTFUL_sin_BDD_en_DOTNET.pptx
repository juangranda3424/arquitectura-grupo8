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45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46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47.xml" ContentType="application/vnd.openxmlformats-officedocument.presentationml.slide+xml"/>
  <Override PartName="/ppt/slides/slide3.xml" ContentType="application/vnd.openxmlformats-officedocument.presentationml.slide+xml"/>
  <Override PartName="/ppt/slides/slide40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42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43.xml" ContentType="application/vnd.openxmlformats-officedocument.presentationml.slide+xml"/>
  <Override PartName="/ppt/slides/slide7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49.xml" ContentType="application/vnd.openxmlformats-officedocument.presentationml.slide+xml"/>
  <Override PartName="/ppt/slides/slide14.xml" ContentType="application/vnd.openxmlformats-officedocument.presentationml.slide+xml"/>
  <Override PartName="/ppt/slides/slide48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44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0" r:id="rId57"/>
    <p:sldId id="311" r:id="rId58"/>
  </p:sldIdLst>
  <p:sldSz cx="12192000" cy="6858000"/>
  <p:notesSz cx="6858000" cy="9144000"/>
  <p:embeddedFontLst>
    <p:embeddedFont>
      <p:font typeface="Gill Sans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slide" Target="slides/slide43.xml"/><Relationship Id="rId46" Type="http://schemas.openxmlformats.org/officeDocument/2006/relationships/slide" Target="slides/slide44.xml"/><Relationship Id="rId47" Type="http://schemas.openxmlformats.org/officeDocument/2006/relationships/slide" Target="slides/slide45.xml"/><Relationship Id="rId48" Type="http://schemas.openxmlformats.org/officeDocument/2006/relationships/slide" Target="slides/slide46.xml"/><Relationship Id="rId49" Type="http://schemas.openxmlformats.org/officeDocument/2006/relationships/slide" Target="slides/slide47.xml"/><Relationship Id="rId50" Type="http://schemas.openxmlformats.org/officeDocument/2006/relationships/slide" Target="slides/slide48.xml"/><Relationship Id="rId51" Type="http://schemas.openxmlformats.org/officeDocument/2006/relationships/slide" Target="slides/slide49.xml"/><Relationship Id="rId52" Type="http://schemas.openxmlformats.org/officeDocument/2006/relationships/slide" Target="slides/slide50.xml"/><Relationship Id="rId53" Type="http://schemas.openxmlformats.org/officeDocument/2006/relationships/slide" Target="slides/slide51.xml"/><Relationship Id="rId54" Type="http://schemas.openxmlformats.org/officeDocument/2006/relationships/slide" Target="slides/slide52.xml"/><Relationship Id="rId55" Type="http://schemas.openxmlformats.org/officeDocument/2006/relationships/slide" Target="slides/slide53.xml"/><Relationship Id="rId56" Type="http://schemas.openxmlformats.org/officeDocument/2006/relationships/slide" Target="slides/slide54.xml"/><Relationship Id="rId57" Type="http://schemas.openxmlformats.org/officeDocument/2006/relationships/slide" Target="slides/slide55.xml"/><Relationship Id="rId58" Type="http://schemas.openxmlformats.org/officeDocument/2006/relationships/slide" Target="slides/slide56.xml"/><Relationship Id="rId5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1;p1"/>
          <p:cNvSpPr/>
          <p:nvPr/>
        </p:nvSpPr>
        <p:spPr>
          <a:xfrm>
            <a:off x="446400" y="457200"/>
            <a:ext cx="3702960" cy="94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7520" bIns="47520" anchor="ctr">
            <a:noAutofit/>
          </a:bodyPr>
          <a:p>
            <a:pPr/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Google Shape;12;p1"/>
          <p:cNvSpPr/>
          <p:nvPr/>
        </p:nvSpPr>
        <p:spPr>
          <a:xfrm>
            <a:off x="8042040" y="453600"/>
            <a:ext cx="3702960" cy="98280"/>
          </a:xfrm>
          <a:prstGeom prst="rect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9320" bIns="49320" anchor="ctr">
            <a:noAutofit/>
          </a:bodyPr>
          <a:p>
            <a:pPr/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Google Shape;13;p1"/>
          <p:cNvSpPr/>
          <p:nvPr/>
        </p:nvSpPr>
        <p:spPr>
          <a:xfrm>
            <a:off x="4241880" y="457200"/>
            <a:ext cx="3702960" cy="9108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/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Google Shape;15;p2"/>
          <p:cNvSpPr/>
          <p:nvPr/>
        </p:nvSpPr>
        <p:spPr>
          <a:xfrm>
            <a:off x="446400" y="3085920"/>
            <a:ext cx="11262600" cy="330444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581040" y="1020600"/>
            <a:ext cx="10993320" cy="1474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>
              <a:buNone/>
              <a:defRPr lang="es-ES" sz="3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s-ES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s-E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dt" idx="1"/>
          </p:nvPr>
        </p:nvSpPr>
        <p:spPr>
          <a:xfrm>
            <a:off x="7606080" y="595620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ftr" idx="2"/>
          </p:nvPr>
        </p:nvSpPr>
        <p:spPr>
          <a:xfrm>
            <a:off x="581040" y="5951880"/>
            <a:ext cx="69166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sldNum" idx="3"/>
          </p:nvPr>
        </p:nvSpPr>
        <p:spPr>
          <a:xfrm>
            <a:off x="10558440" y="5956200"/>
            <a:ext cx="10159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s-ES" sz="900" b="0" u="none" strike="noStrike">
                <a:solidFill>
                  <a:schemeClr val="accent2"/>
                </a:solidFill>
                <a:effectLst/>
                <a:uFillTx/>
                <a:latin typeface="Gill Sans"/>
                <a:ea typeface="Gill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AF28DCE-9138-42C3-8B1A-88DF9F93990B}" type="slidenum">
              <a:rPr lang="es-ES" sz="900" b="0" u="none" strike="noStrike">
                <a:solidFill>
                  <a:schemeClr val="accent2"/>
                </a:solidFill>
                <a:effectLst/>
                <a:uFillTx/>
                <a:latin typeface="Gill Sans"/>
                <a:ea typeface="Gill Sans"/>
              </a:rPr>
              <a:t>&lt;number&gt;</a:t>
            </a:fld>
            <a:endParaRPr lang="es-E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VERTICAL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1"/>
          <p:cNvSpPr/>
          <p:nvPr/>
        </p:nvSpPr>
        <p:spPr>
          <a:xfrm>
            <a:off x="446400" y="457200"/>
            <a:ext cx="3702960" cy="94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7520" bIns="47520" anchor="ctr">
            <a:noAutofit/>
          </a:bodyPr>
          <a:p>
            <a:pPr/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Google Shape;12;p1"/>
          <p:cNvSpPr/>
          <p:nvPr/>
        </p:nvSpPr>
        <p:spPr>
          <a:xfrm>
            <a:off x="8042040" y="453600"/>
            <a:ext cx="3702960" cy="98280"/>
          </a:xfrm>
          <a:prstGeom prst="rect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9320" bIns="49320" anchor="ctr">
            <a:noAutofit/>
          </a:bodyPr>
          <a:p>
            <a:pPr/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Google Shape;13;p1"/>
          <p:cNvSpPr/>
          <p:nvPr/>
        </p:nvSpPr>
        <p:spPr>
          <a:xfrm>
            <a:off x="4241880" y="457200"/>
            <a:ext cx="3702960" cy="9108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/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Google Shape;79;p11"/>
          <p:cNvSpPr/>
          <p:nvPr/>
        </p:nvSpPr>
        <p:spPr>
          <a:xfrm>
            <a:off x="440280" y="614520"/>
            <a:ext cx="11309040" cy="11890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>
              <a:buNone/>
              <a:defRPr lang="es-E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s-E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 rot="5400000">
            <a:off x="4334760" y="-1417320"/>
            <a:ext cx="3522600" cy="11029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3372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222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103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988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988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337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337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dt" idx="4"/>
          </p:nvPr>
        </p:nvSpPr>
        <p:spPr>
          <a:xfrm>
            <a:off x="7606080" y="595620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ftr" idx="5"/>
          </p:nvPr>
        </p:nvSpPr>
        <p:spPr>
          <a:xfrm>
            <a:off x="581040" y="5951880"/>
            <a:ext cx="69166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6"/>
          </p:nvPr>
        </p:nvSpPr>
        <p:spPr>
          <a:xfrm>
            <a:off x="10558440" y="5956200"/>
            <a:ext cx="10522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s-ES" sz="900" b="0" u="none" strike="noStrike">
                <a:solidFill>
                  <a:schemeClr val="accent2"/>
                </a:solidFill>
                <a:effectLst/>
                <a:uFillTx/>
                <a:latin typeface="Gill Sans"/>
                <a:ea typeface="Gill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9AFF31E-97AB-4846-A95C-40D9272775C1}" type="slidenum">
              <a:rPr lang="es-ES" sz="900" b="0" u="none" strike="noStrike">
                <a:solidFill>
                  <a:schemeClr val="accent2"/>
                </a:solidFill>
                <a:effectLst/>
                <a:uFillTx/>
                <a:latin typeface="Gill Sans"/>
                <a:ea typeface="Gill Sans"/>
              </a:rPr>
              <a:t>&lt;number&gt;</a:t>
            </a:fld>
            <a:endParaRPr lang="es-E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_TITLE_AND_VERTICAL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11;p1"/>
          <p:cNvSpPr/>
          <p:nvPr/>
        </p:nvSpPr>
        <p:spPr>
          <a:xfrm>
            <a:off x="446400" y="457200"/>
            <a:ext cx="3702960" cy="94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7520" bIns="47520" anchor="ctr">
            <a:noAutofit/>
          </a:bodyPr>
          <a:p>
            <a:pPr/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Google Shape;12;p1"/>
          <p:cNvSpPr/>
          <p:nvPr/>
        </p:nvSpPr>
        <p:spPr>
          <a:xfrm>
            <a:off x="8042040" y="453600"/>
            <a:ext cx="3702960" cy="98280"/>
          </a:xfrm>
          <a:prstGeom prst="rect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9320" bIns="49320" anchor="ctr">
            <a:noAutofit/>
          </a:bodyPr>
          <a:p>
            <a:pPr/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Google Shape;13;p1"/>
          <p:cNvSpPr/>
          <p:nvPr/>
        </p:nvSpPr>
        <p:spPr>
          <a:xfrm>
            <a:off x="4241880" y="457200"/>
            <a:ext cx="3702960" cy="9108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/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Google Shape;86;p12"/>
          <p:cNvSpPr/>
          <p:nvPr/>
        </p:nvSpPr>
        <p:spPr>
          <a:xfrm>
            <a:off x="8839080" y="599760"/>
            <a:ext cx="2906280" cy="581652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 rot="5400000">
            <a:off x="7250040" y="2265120"/>
            <a:ext cx="5182560" cy="200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>
              <a:buNone/>
              <a:defRPr lang="es-E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s-E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 rot="5400000">
            <a:off x="2131920" y="-680760"/>
            <a:ext cx="5182560" cy="789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3372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337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337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337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337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337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337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dt" idx="7"/>
          </p:nvPr>
        </p:nvSpPr>
        <p:spPr>
          <a:xfrm>
            <a:off x="8993520" y="5956200"/>
            <a:ext cx="13276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ftr" idx="8"/>
          </p:nvPr>
        </p:nvSpPr>
        <p:spPr>
          <a:xfrm>
            <a:off x="775080" y="5951880"/>
            <a:ext cx="78958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sldNum" idx="9"/>
          </p:nvPr>
        </p:nvSpPr>
        <p:spPr>
          <a:xfrm>
            <a:off x="10446480" y="5956200"/>
            <a:ext cx="11638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s-ES" sz="900" b="0" u="none" strike="noStrike">
                <a:solidFill>
                  <a:schemeClr val="accent2"/>
                </a:solidFill>
                <a:effectLst/>
                <a:uFillTx/>
                <a:latin typeface="Gill Sans"/>
                <a:ea typeface="Gill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34C56B8-CED9-47CF-9EC3-97DD486D9327}" type="slidenum">
              <a:rPr lang="es-ES" sz="900" b="0" u="none" strike="noStrike">
                <a:solidFill>
                  <a:schemeClr val="accent2"/>
                </a:solidFill>
                <a:effectLst/>
                <a:uFillTx/>
                <a:latin typeface="Gill Sans"/>
                <a:ea typeface="Gill Sans"/>
              </a:rPr>
              <a:t>&lt;number&gt;</a:t>
            </a:fld>
            <a:endParaRPr lang="es-E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OBJEC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11;p1"/>
          <p:cNvSpPr/>
          <p:nvPr/>
        </p:nvSpPr>
        <p:spPr>
          <a:xfrm>
            <a:off x="446400" y="457200"/>
            <a:ext cx="3702960" cy="94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7520" bIns="47520" anchor="ctr">
            <a:noAutofit/>
          </a:bodyPr>
          <a:p>
            <a:pPr/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Google Shape;12;p1"/>
          <p:cNvSpPr/>
          <p:nvPr/>
        </p:nvSpPr>
        <p:spPr>
          <a:xfrm>
            <a:off x="8042040" y="453600"/>
            <a:ext cx="3702960" cy="98280"/>
          </a:xfrm>
          <a:prstGeom prst="rect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9320" bIns="49320" anchor="ctr">
            <a:noAutofit/>
          </a:bodyPr>
          <a:p>
            <a:pPr/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Google Shape;13;p1"/>
          <p:cNvSpPr/>
          <p:nvPr/>
        </p:nvSpPr>
        <p:spPr>
          <a:xfrm>
            <a:off x="4241880" y="457200"/>
            <a:ext cx="3702960" cy="9108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/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Google Shape;22;p3"/>
          <p:cNvSpPr/>
          <p:nvPr/>
        </p:nvSpPr>
        <p:spPr>
          <a:xfrm>
            <a:off x="440280" y="614520"/>
            <a:ext cx="11309040" cy="11890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>
              <a:buNone/>
              <a:defRPr lang="es-E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s-E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581040" y="2180520"/>
            <a:ext cx="11029320" cy="3678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3372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337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337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337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337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337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337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0"/>
          </p:nvPr>
        </p:nvSpPr>
        <p:spPr>
          <a:xfrm>
            <a:off x="7606080" y="595620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11"/>
          </p:nvPr>
        </p:nvSpPr>
        <p:spPr>
          <a:xfrm>
            <a:off x="581040" y="5951880"/>
            <a:ext cx="69166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12"/>
          </p:nvPr>
        </p:nvSpPr>
        <p:spPr>
          <a:xfrm>
            <a:off x="10558440" y="5956200"/>
            <a:ext cx="10522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s-ES" sz="900" b="0" u="none" strike="noStrike">
                <a:solidFill>
                  <a:schemeClr val="accent2"/>
                </a:solidFill>
                <a:effectLst/>
                <a:uFillTx/>
                <a:latin typeface="Gill Sans"/>
                <a:ea typeface="Gill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9AFE9C8-58AB-4C9A-A5C0-67C11AC18885}" type="slidenum">
              <a:rPr lang="es-ES" sz="900" b="0" u="none" strike="noStrike">
                <a:solidFill>
                  <a:schemeClr val="accent2"/>
                </a:solidFill>
                <a:effectLst/>
                <a:uFillTx/>
                <a:latin typeface="Gill Sans"/>
                <a:ea typeface="Gill Sans"/>
              </a:rPr>
              <a:t>&lt;number&gt;</a:t>
            </a:fld>
            <a:endParaRPr lang="es-E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11;p1"/>
          <p:cNvSpPr/>
          <p:nvPr/>
        </p:nvSpPr>
        <p:spPr>
          <a:xfrm>
            <a:off x="446400" y="457200"/>
            <a:ext cx="3702960" cy="94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7520" bIns="47520" anchor="ctr">
            <a:noAutofit/>
          </a:bodyPr>
          <a:p>
            <a:pPr/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Google Shape;12;p1"/>
          <p:cNvSpPr/>
          <p:nvPr/>
        </p:nvSpPr>
        <p:spPr>
          <a:xfrm>
            <a:off x="8042040" y="453600"/>
            <a:ext cx="3702960" cy="98280"/>
          </a:xfrm>
          <a:prstGeom prst="rect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9320" bIns="49320" anchor="ctr">
            <a:noAutofit/>
          </a:bodyPr>
          <a:p>
            <a:pPr/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Google Shape;13;p1"/>
          <p:cNvSpPr/>
          <p:nvPr/>
        </p:nvSpPr>
        <p:spPr>
          <a:xfrm>
            <a:off x="4241880" y="457200"/>
            <a:ext cx="3702960" cy="9108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/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Google Shape;29;p4"/>
          <p:cNvSpPr/>
          <p:nvPr/>
        </p:nvSpPr>
        <p:spPr>
          <a:xfrm>
            <a:off x="447840" y="5141880"/>
            <a:ext cx="11290680" cy="125856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581040" y="3043800"/>
            <a:ext cx="11029320" cy="1497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>
              <a:buNone/>
              <a:defRPr lang="es-ES" sz="3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s-ES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s-E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581040" y="4541400"/>
            <a:ext cx="11029320" cy="60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25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dt" idx="13"/>
          </p:nvPr>
        </p:nvSpPr>
        <p:spPr>
          <a:xfrm>
            <a:off x="7606080" y="595620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ftr" idx="14"/>
          </p:nvPr>
        </p:nvSpPr>
        <p:spPr>
          <a:xfrm>
            <a:off x="581040" y="5951880"/>
            <a:ext cx="69166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sldNum" idx="15"/>
          </p:nvPr>
        </p:nvSpPr>
        <p:spPr>
          <a:xfrm>
            <a:off x="10558440" y="5956200"/>
            <a:ext cx="10522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s-ES" sz="900" b="0" u="none" strike="noStrike">
                <a:solidFill>
                  <a:schemeClr val="accent2"/>
                </a:solidFill>
                <a:effectLst/>
                <a:uFillTx/>
                <a:latin typeface="Gill Sans"/>
                <a:ea typeface="Gill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CC069AE-9ACA-4D9F-98B7-E7512A0DF1B3}" type="slidenum">
              <a:rPr lang="es-ES" sz="900" b="0" u="none" strike="noStrike">
                <a:solidFill>
                  <a:schemeClr val="accent2"/>
                </a:solidFill>
                <a:effectLst/>
                <a:uFillTx/>
                <a:latin typeface="Gill Sans"/>
                <a:ea typeface="Gill Sans"/>
              </a:rPr>
              <a:t>&lt;number&gt;</a:t>
            </a:fld>
            <a:endParaRPr lang="es-E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_OBJECTS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11;p1"/>
          <p:cNvSpPr/>
          <p:nvPr/>
        </p:nvSpPr>
        <p:spPr>
          <a:xfrm>
            <a:off x="446400" y="457200"/>
            <a:ext cx="3702960" cy="94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7520" bIns="47520" anchor="ctr">
            <a:noAutofit/>
          </a:bodyPr>
          <a:p>
            <a:pPr/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Google Shape;12;p1"/>
          <p:cNvSpPr/>
          <p:nvPr/>
        </p:nvSpPr>
        <p:spPr>
          <a:xfrm>
            <a:off x="8042040" y="453600"/>
            <a:ext cx="3702960" cy="98280"/>
          </a:xfrm>
          <a:prstGeom prst="rect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9320" bIns="49320" anchor="ctr">
            <a:noAutofit/>
          </a:bodyPr>
          <a:p>
            <a:pPr/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Google Shape;13;p1"/>
          <p:cNvSpPr/>
          <p:nvPr/>
        </p:nvSpPr>
        <p:spPr>
          <a:xfrm>
            <a:off x="4241880" y="457200"/>
            <a:ext cx="3702960" cy="9108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/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Google Shape;36;p5"/>
          <p:cNvSpPr/>
          <p:nvPr/>
        </p:nvSpPr>
        <p:spPr>
          <a:xfrm>
            <a:off x="446040" y="606600"/>
            <a:ext cx="11299680" cy="125856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581040" y="729720"/>
            <a:ext cx="11029320" cy="98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>
              <a:buNone/>
              <a:defRPr lang="es-E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s-E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581040" y="2228040"/>
            <a:ext cx="5421960" cy="3632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3372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337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337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337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337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337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337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6188400" y="2228040"/>
            <a:ext cx="5421960" cy="3632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3372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337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337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337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337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337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337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dt" idx="16"/>
          </p:nvPr>
        </p:nvSpPr>
        <p:spPr>
          <a:xfrm>
            <a:off x="7606080" y="595620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ftr" idx="17"/>
          </p:nvPr>
        </p:nvSpPr>
        <p:spPr>
          <a:xfrm>
            <a:off x="581040" y="5951880"/>
            <a:ext cx="69166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sldNum" idx="18"/>
          </p:nvPr>
        </p:nvSpPr>
        <p:spPr>
          <a:xfrm>
            <a:off x="10558440" y="5956200"/>
            <a:ext cx="10522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s-ES" sz="900" b="0" u="none" strike="noStrike">
                <a:solidFill>
                  <a:schemeClr val="accent2"/>
                </a:solidFill>
                <a:effectLst/>
                <a:uFillTx/>
                <a:latin typeface="Gill Sans"/>
                <a:ea typeface="Gill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4EE0D3D-8025-4F31-AFE3-1D6506871FF5}" type="slidenum">
              <a:rPr lang="es-ES" sz="900" b="0" u="none" strike="noStrike">
                <a:solidFill>
                  <a:schemeClr val="accent2"/>
                </a:solidFill>
                <a:effectLst/>
                <a:uFillTx/>
                <a:latin typeface="Gill Sans"/>
                <a:ea typeface="Gill Sans"/>
              </a:rPr>
              <a:t>&lt;number&gt;</a:t>
            </a:fld>
            <a:endParaRPr lang="es-E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_OBJECTS_WITH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11;p1"/>
          <p:cNvSpPr/>
          <p:nvPr/>
        </p:nvSpPr>
        <p:spPr>
          <a:xfrm>
            <a:off x="446400" y="457200"/>
            <a:ext cx="3702960" cy="94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7520" bIns="47520" anchor="ctr">
            <a:noAutofit/>
          </a:bodyPr>
          <a:p>
            <a:pPr/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Google Shape;12;p1"/>
          <p:cNvSpPr/>
          <p:nvPr/>
        </p:nvSpPr>
        <p:spPr>
          <a:xfrm>
            <a:off x="8042040" y="453600"/>
            <a:ext cx="3702960" cy="98280"/>
          </a:xfrm>
          <a:prstGeom prst="rect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9320" bIns="49320" anchor="ctr">
            <a:noAutofit/>
          </a:bodyPr>
          <a:p>
            <a:pPr/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Google Shape;13;p1"/>
          <p:cNvSpPr/>
          <p:nvPr/>
        </p:nvSpPr>
        <p:spPr>
          <a:xfrm>
            <a:off x="4241880" y="457200"/>
            <a:ext cx="3702960" cy="9108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/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Google Shape;44;p6"/>
          <p:cNvSpPr/>
          <p:nvPr/>
        </p:nvSpPr>
        <p:spPr>
          <a:xfrm>
            <a:off x="446040" y="606600"/>
            <a:ext cx="11299680" cy="125856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581040" y="729720"/>
            <a:ext cx="11029320" cy="98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>
              <a:buNone/>
              <a:defRPr lang="es-E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s-E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887040" y="2250720"/>
            <a:ext cx="5086800" cy="535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2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ES" sz="2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2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ES" sz="2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2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2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2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581040" y="2926080"/>
            <a:ext cx="5392800" cy="2934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3372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337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337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337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337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337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337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body"/>
          </p:nvPr>
        </p:nvSpPr>
        <p:spPr>
          <a:xfrm>
            <a:off x="6523560" y="2250720"/>
            <a:ext cx="5086800" cy="55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2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ES" sz="2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2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ES" sz="2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2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2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2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body"/>
          </p:nvPr>
        </p:nvSpPr>
        <p:spPr>
          <a:xfrm>
            <a:off x="6217560" y="2926080"/>
            <a:ext cx="5392800" cy="2934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3372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337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337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337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337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337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337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dt" idx="19"/>
          </p:nvPr>
        </p:nvSpPr>
        <p:spPr>
          <a:xfrm>
            <a:off x="7606080" y="595620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PlaceHolder 7"/>
          <p:cNvSpPr>
            <a:spLocks noGrp="1"/>
          </p:cNvSpPr>
          <p:nvPr>
            <p:ph type="ftr" idx="20"/>
          </p:nvPr>
        </p:nvSpPr>
        <p:spPr>
          <a:xfrm>
            <a:off x="581040" y="5951880"/>
            <a:ext cx="69166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8"/>
          <p:cNvSpPr>
            <a:spLocks noGrp="1"/>
          </p:cNvSpPr>
          <p:nvPr>
            <p:ph type="sldNum" idx="21"/>
          </p:nvPr>
        </p:nvSpPr>
        <p:spPr>
          <a:xfrm>
            <a:off x="10558440" y="5956200"/>
            <a:ext cx="10522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s-ES" sz="900" b="0" u="none" strike="noStrike">
                <a:solidFill>
                  <a:schemeClr val="accent2"/>
                </a:solidFill>
                <a:effectLst/>
                <a:uFillTx/>
                <a:latin typeface="Gill Sans"/>
                <a:ea typeface="Gill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613A8D-C699-4315-880D-9C94719CA75E}" type="slidenum">
              <a:rPr lang="es-ES" sz="900" b="0" u="none" strike="noStrike">
                <a:solidFill>
                  <a:schemeClr val="accent2"/>
                </a:solidFill>
                <a:effectLst/>
                <a:uFillTx/>
                <a:latin typeface="Gill Sans"/>
                <a:ea typeface="Gill Sans"/>
              </a:rPr>
              <a:t>&lt;number&gt;</a:t>
            </a:fld>
            <a:endParaRPr lang="es-E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11;p1"/>
          <p:cNvSpPr/>
          <p:nvPr/>
        </p:nvSpPr>
        <p:spPr>
          <a:xfrm>
            <a:off x="446400" y="457200"/>
            <a:ext cx="3702960" cy="94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7520" bIns="47520" anchor="ctr">
            <a:noAutofit/>
          </a:bodyPr>
          <a:p>
            <a:pPr/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Google Shape;12;p1"/>
          <p:cNvSpPr/>
          <p:nvPr/>
        </p:nvSpPr>
        <p:spPr>
          <a:xfrm>
            <a:off x="8042040" y="453600"/>
            <a:ext cx="3702960" cy="98280"/>
          </a:xfrm>
          <a:prstGeom prst="rect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9320" bIns="49320" anchor="ctr">
            <a:noAutofit/>
          </a:bodyPr>
          <a:p>
            <a:pPr/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Google Shape;13;p1"/>
          <p:cNvSpPr/>
          <p:nvPr/>
        </p:nvSpPr>
        <p:spPr>
          <a:xfrm>
            <a:off x="4241880" y="457200"/>
            <a:ext cx="3702960" cy="9108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/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1"/>
          <p:cNvSpPr>
            <a:spLocks noGrp="1"/>
          </p:cNvSpPr>
          <p:nvPr>
            <p:ph type="dt" idx="22"/>
          </p:nvPr>
        </p:nvSpPr>
        <p:spPr>
          <a:xfrm>
            <a:off x="7606080" y="595620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ftr" idx="23"/>
          </p:nvPr>
        </p:nvSpPr>
        <p:spPr>
          <a:xfrm>
            <a:off x="581040" y="5951880"/>
            <a:ext cx="69166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 type="sldNum" idx="24"/>
          </p:nvPr>
        </p:nvSpPr>
        <p:spPr>
          <a:xfrm>
            <a:off x="10558440" y="5956200"/>
            <a:ext cx="10522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s-ES" sz="900" b="0" u="none" strike="noStrike">
                <a:solidFill>
                  <a:schemeClr val="accent2"/>
                </a:solidFill>
                <a:effectLst/>
                <a:uFillTx/>
                <a:latin typeface="Gill Sans"/>
                <a:ea typeface="Gill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3126542-44E1-46D8-9010-D428A0BBCBF0}" type="slidenum">
              <a:rPr lang="es-ES" sz="900" b="0" u="none" strike="noStrike">
                <a:solidFill>
                  <a:schemeClr val="accent2"/>
                </a:solidFill>
                <a:effectLst/>
                <a:uFillTx/>
                <a:latin typeface="Gill Sans"/>
                <a:ea typeface="Gill Sans"/>
              </a:rPr>
              <a:t>&lt;number&gt;</a:t>
            </a:fld>
            <a:endParaRPr lang="es-E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Google Shape;57;p7"/>
          <p:cNvSpPr/>
          <p:nvPr/>
        </p:nvSpPr>
        <p:spPr>
          <a:xfrm>
            <a:off x="440640" y="606600"/>
            <a:ext cx="11299680" cy="125856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 type="title"/>
          </p:nvPr>
        </p:nvSpPr>
        <p:spPr>
          <a:xfrm>
            <a:off x="576000" y="729720"/>
            <a:ext cx="11029320" cy="98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>
              <a:buNone/>
              <a:defRPr lang="es-E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s-E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11;p1"/>
          <p:cNvSpPr/>
          <p:nvPr/>
        </p:nvSpPr>
        <p:spPr>
          <a:xfrm>
            <a:off x="446400" y="457200"/>
            <a:ext cx="3702960" cy="94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7520" bIns="47520" anchor="ctr">
            <a:noAutofit/>
          </a:bodyPr>
          <a:p>
            <a:pPr/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Google Shape;12;p1"/>
          <p:cNvSpPr/>
          <p:nvPr/>
        </p:nvSpPr>
        <p:spPr>
          <a:xfrm>
            <a:off x="8042040" y="453600"/>
            <a:ext cx="3702960" cy="98280"/>
          </a:xfrm>
          <a:prstGeom prst="rect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9320" bIns="49320" anchor="ctr">
            <a:noAutofit/>
          </a:bodyPr>
          <a:p>
            <a:pPr/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Google Shape;13;p1"/>
          <p:cNvSpPr/>
          <p:nvPr/>
        </p:nvSpPr>
        <p:spPr>
          <a:xfrm>
            <a:off x="4241880" y="457200"/>
            <a:ext cx="3702960" cy="9108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/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1"/>
          <p:cNvSpPr>
            <a:spLocks noGrp="1"/>
          </p:cNvSpPr>
          <p:nvPr>
            <p:ph type="dt" idx="25"/>
          </p:nvPr>
        </p:nvSpPr>
        <p:spPr>
          <a:xfrm>
            <a:off x="7606080" y="595620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ftr" idx="26"/>
          </p:nvPr>
        </p:nvSpPr>
        <p:spPr>
          <a:xfrm>
            <a:off x="581040" y="5951880"/>
            <a:ext cx="69166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 type="sldNum" idx="27"/>
          </p:nvPr>
        </p:nvSpPr>
        <p:spPr>
          <a:xfrm>
            <a:off x="10558440" y="5956200"/>
            <a:ext cx="10522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s-ES" sz="900" b="0" u="none" strike="noStrike">
                <a:solidFill>
                  <a:schemeClr val="accent2"/>
                </a:solidFill>
                <a:effectLst/>
                <a:uFillTx/>
                <a:latin typeface="Gill Sans"/>
                <a:ea typeface="Gill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4F4D750-CF79-4A5F-9E43-778A64D54C86}" type="slidenum">
              <a:rPr lang="es-ES" sz="900" b="0" u="none" strike="noStrike">
                <a:solidFill>
                  <a:schemeClr val="accent2"/>
                </a:solidFill>
                <a:effectLst/>
                <a:uFillTx/>
                <a:latin typeface="Gill Sans"/>
                <a:ea typeface="Gill Sans"/>
              </a:rPr>
              <a:t>&lt;number&gt;</a:t>
            </a:fld>
            <a:endParaRPr lang="es-E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WITH_CAPTION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11;p1"/>
          <p:cNvSpPr/>
          <p:nvPr/>
        </p:nvSpPr>
        <p:spPr>
          <a:xfrm>
            <a:off x="446400" y="457200"/>
            <a:ext cx="3702960" cy="94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7520" bIns="47520" anchor="ctr">
            <a:noAutofit/>
          </a:bodyPr>
          <a:p>
            <a:pPr/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Google Shape;12;p1"/>
          <p:cNvSpPr/>
          <p:nvPr/>
        </p:nvSpPr>
        <p:spPr>
          <a:xfrm>
            <a:off x="8042040" y="453600"/>
            <a:ext cx="3702960" cy="98280"/>
          </a:xfrm>
          <a:prstGeom prst="rect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9320" bIns="49320" anchor="ctr">
            <a:noAutofit/>
          </a:bodyPr>
          <a:p>
            <a:pPr/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Google Shape;13;p1"/>
          <p:cNvSpPr/>
          <p:nvPr/>
        </p:nvSpPr>
        <p:spPr>
          <a:xfrm>
            <a:off x="4241880" y="457200"/>
            <a:ext cx="3702960" cy="9108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/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Google Shape;64;p9"/>
          <p:cNvSpPr/>
          <p:nvPr/>
        </p:nvSpPr>
        <p:spPr>
          <a:xfrm>
            <a:off x="447840" y="5141880"/>
            <a:ext cx="11297880" cy="127440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581040" y="5262120"/>
            <a:ext cx="4908960" cy="689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>
              <a:buNone/>
              <a:def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447840" y="601200"/>
            <a:ext cx="11292480" cy="420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56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337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222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103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103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103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103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body"/>
          </p:nvPr>
        </p:nvSpPr>
        <p:spPr>
          <a:xfrm>
            <a:off x="5740920" y="5262120"/>
            <a:ext cx="5869800" cy="689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25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ES" sz="1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ES" sz="1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4"/>
          <p:cNvSpPr>
            <a:spLocks noGrp="1"/>
          </p:cNvSpPr>
          <p:nvPr>
            <p:ph type="dt" idx="28"/>
          </p:nvPr>
        </p:nvSpPr>
        <p:spPr>
          <a:xfrm>
            <a:off x="7606080" y="595620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PlaceHolder 5"/>
          <p:cNvSpPr>
            <a:spLocks noGrp="1"/>
          </p:cNvSpPr>
          <p:nvPr>
            <p:ph type="ftr" idx="29"/>
          </p:nvPr>
        </p:nvSpPr>
        <p:spPr>
          <a:xfrm>
            <a:off x="581040" y="5951880"/>
            <a:ext cx="69166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PlaceHolder 6"/>
          <p:cNvSpPr>
            <a:spLocks noGrp="1"/>
          </p:cNvSpPr>
          <p:nvPr>
            <p:ph type="sldNum" idx="30"/>
          </p:nvPr>
        </p:nvSpPr>
        <p:spPr>
          <a:xfrm>
            <a:off x="10558440" y="5956200"/>
            <a:ext cx="10522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s-ES" sz="900" b="0" u="none" strike="noStrike">
                <a:solidFill>
                  <a:schemeClr val="accent2"/>
                </a:solidFill>
                <a:effectLst/>
                <a:uFillTx/>
                <a:latin typeface="Gill Sans"/>
                <a:ea typeface="Gill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47CAEE8-187F-446C-9AC3-1BFF99E1D522}" type="slidenum">
              <a:rPr lang="es-ES" sz="900" b="0" u="none" strike="noStrike">
                <a:solidFill>
                  <a:schemeClr val="accent2"/>
                </a:solidFill>
                <a:effectLst/>
                <a:uFillTx/>
                <a:latin typeface="Gill Sans"/>
                <a:ea typeface="Gill Sans"/>
              </a:rPr>
              <a:t>&lt;number&gt;</a:t>
            </a:fld>
            <a:endParaRPr lang="es-E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_WITH_CAPTION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11;p1"/>
          <p:cNvSpPr/>
          <p:nvPr/>
        </p:nvSpPr>
        <p:spPr>
          <a:xfrm>
            <a:off x="446400" y="457200"/>
            <a:ext cx="3702960" cy="94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7520" bIns="47520" anchor="ctr">
            <a:noAutofit/>
          </a:bodyPr>
          <a:p>
            <a:pPr/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Google Shape;12;p1"/>
          <p:cNvSpPr/>
          <p:nvPr/>
        </p:nvSpPr>
        <p:spPr>
          <a:xfrm>
            <a:off x="8042040" y="453600"/>
            <a:ext cx="3702960" cy="98280"/>
          </a:xfrm>
          <a:prstGeom prst="rect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9320" bIns="49320" anchor="ctr">
            <a:noAutofit/>
          </a:bodyPr>
          <a:p>
            <a:pPr/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Google Shape;13;p1"/>
          <p:cNvSpPr/>
          <p:nvPr/>
        </p:nvSpPr>
        <p:spPr>
          <a:xfrm>
            <a:off x="4241880" y="457200"/>
            <a:ext cx="3702960" cy="9108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/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581040" y="4693320"/>
            <a:ext cx="1102932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>
              <a:buNone/>
              <a:defRPr lang="es-E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s-E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pic"/>
          </p:nvPr>
        </p:nvSpPr>
        <p:spPr>
          <a:xfrm>
            <a:off x="447840" y="599760"/>
            <a:ext cx="11290320" cy="3556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body"/>
          </p:nvPr>
        </p:nvSpPr>
        <p:spPr>
          <a:xfrm>
            <a:off x="581040" y="5259960"/>
            <a:ext cx="11029320" cy="598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25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 type="dt" idx="31"/>
          </p:nvPr>
        </p:nvSpPr>
        <p:spPr>
          <a:xfrm>
            <a:off x="7606080" y="595620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5"/>
          <p:cNvSpPr>
            <a:spLocks noGrp="1"/>
          </p:cNvSpPr>
          <p:nvPr>
            <p:ph type="ftr" idx="32"/>
          </p:nvPr>
        </p:nvSpPr>
        <p:spPr>
          <a:xfrm>
            <a:off x="581040" y="5951880"/>
            <a:ext cx="69166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PlaceHolder 6"/>
          <p:cNvSpPr>
            <a:spLocks noGrp="1"/>
          </p:cNvSpPr>
          <p:nvPr>
            <p:ph type="sldNum" idx="33"/>
          </p:nvPr>
        </p:nvSpPr>
        <p:spPr>
          <a:xfrm>
            <a:off x="10558440" y="5956200"/>
            <a:ext cx="10522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s-ES" sz="900" b="0" u="none" strike="noStrike">
                <a:solidFill>
                  <a:schemeClr val="accent2"/>
                </a:solidFill>
                <a:effectLst/>
                <a:uFillTx/>
                <a:latin typeface="Gill Sans"/>
                <a:ea typeface="Gill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2DC1DDE-E771-4EFD-AC0E-557E0F1EA933}" type="slidenum">
              <a:rPr lang="es-ES" sz="900" b="0" u="none" strike="noStrike">
                <a:solidFill>
                  <a:schemeClr val="accent2"/>
                </a:solidFill>
                <a:effectLst/>
                <a:uFillTx/>
                <a:latin typeface="Gill Sans"/>
                <a:ea typeface="Gill Sans"/>
              </a:rPr>
              <a:t>&lt;number&gt;</a:t>
            </a:fld>
            <a:endParaRPr lang="es-E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4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4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4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4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4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4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4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4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4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4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4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4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4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4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4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599400" y="3158640"/>
            <a:ext cx="10993320" cy="1577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lnSpcReduction="9999"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36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MANUAL</a:t>
            </a:r>
            <a:br>
              <a:rPr sz="3600"/>
            </a:br>
            <a:r>
              <a:rPr lang="es-ES" sz="36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CONVERSION UNIDADES SOAP RESTFUL DOTNET</a:t>
            </a:r>
            <a:endParaRPr lang="es-E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subTitle"/>
          </p:nvPr>
        </p:nvSpPr>
        <p:spPr>
          <a:xfrm>
            <a:off x="599400" y="4572000"/>
            <a:ext cx="4261320" cy="1812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921"/>
              </a:spcBef>
              <a:buNone/>
              <a:tabLst>
                <a:tab pos="0" algn="l"/>
              </a:tabLst>
            </a:pPr>
            <a:r>
              <a:rPr lang="es-ES" sz="16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INTEGRANTES:</a:t>
            </a:r>
            <a:r>
              <a:rPr lang="es-ES" sz="16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 </a:t>
            </a:r>
            <a:r>
              <a:rPr lang="es-ES" sz="16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	</a:t>
            </a:r>
            <a:r>
              <a:rPr lang="es-ES" sz="16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GUALLICHICO JOSUE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921"/>
              </a:spcBef>
              <a:buNone/>
              <a:tabLst>
                <a:tab pos="0" algn="l"/>
              </a:tabLst>
            </a:pPr>
            <a:r>
              <a:rPr lang="es-ES" sz="16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	</a:t>
            </a:r>
            <a:r>
              <a:rPr lang="es-ES" sz="16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	</a:t>
            </a:r>
            <a:r>
              <a:rPr lang="es-ES" sz="16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GRANDA JUAN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921"/>
              </a:spcBef>
              <a:buNone/>
              <a:tabLst>
                <a:tab pos="0" algn="l"/>
              </a:tabLst>
            </a:pPr>
            <a:r>
              <a:rPr lang="es-ES" sz="16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	</a:t>
            </a:r>
            <a:r>
              <a:rPr lang="es-ES" sz="16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	</a:t>
            </a:r>
            <a:r>
              <a:rPr lang="es-ES" sz="16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ASMAL KEVIN 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4" name="Google Shape;98;p13" descr="Resultado de imagen para espe"/>
          <p:cNvPicPr/>
          <p:nvPr/>
        </p:nvPicPr>
        <p:blipFill>
          <a:blip r:embed="rId1"/>
          <a:stretch/>
        </p:blipFill>
        <p:spPr>
          <a:xfrm>
            <a:off x="319680" y="716400"/>
            <a:ext cx="11647080" cy="2193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" name="Google Shape;99;p13"/>
          <p:cNvSpPr/>
          <p:nvPr/>
        </p:nvSpPr>
        <p:spPr>
          <a:xfrm>
            <a:off x="9037080" y="5301720"/>
            <a:ext cx="4261320" cy="123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600" b="1" u="none" strike="noStrike">
                <a:solidFill>
                  <a:srgbClr val="FFFFFF"/>
                </a:solidFill>
                <a:effectLst/>
                <a:uFillTx/>
                <a:latin typeface="Gill Sans"/>
                <a:ea typeface="Gill Sans"/>
              </a:rPr>
              <a:t>FECHA:  04/11/2026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921"/>
              </a:spcBef>
              <a:tabLst>
                <a:tab pos="0" algn="l"/>
              </a:tabLst>
            </a:pPr>
            <a:r>
              <a:rPr lang="es-ES" sz="1600" b="1" u="none" strike="noStrike">
                <a:solidFill>
                  <a:srgbClr val="FFFFFF"/>
                </a:solidFill>
                <a:effectLst/>
                <a:uFillTx/>
                <a:latin typeface="Gill Sans"/>
                <a:ea typeface="Gill Sans"/>
              </a:rPr>
              <a:t>ING: </a:t>
            </a:r>
            <a:r>
              <a:rPr lang="es-ES" sz="1600" b="0" u="none" strike="noStrike">
                <a:solidFill>
                  <a:srgbClr val="FFFFFF"/>
                </a:solidFill>
                <a:effectLst/>
                <a:uFillTx/>
                <a:latin typeface="Gill Sans"/>
                <a:ea typeface="Gill Sans"/>
              </a:rPr>
              <a:t>CAMPAÑA MAURICIO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Google Shape;100;p13"/>
          <p:cNvSpPr/>
          <p:nvPr/>
        </p:nvSpPr>
        <p:spPr>
          <a:xfrm>
            <a:off x="11817720" y="6473880"/>
            <a:ext cx="37404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Gill Sans"/>
                <a:ea typeface="Gill Sans"/>
              </a:rPr>
              <a:t>1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5;p14"/>
          <p:cNvSpPr/>
          <p:nvPr/>
        </p:nvSpPr>
        <p:spPr>
          <a:xfrm>
            <a:off x="0" y="614520"/>
            <a:ext cx="12191760" cy="624312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Gill Sans"/>
            </a:endParaRPr>
          </a:p>
        </p:txBody>
      </p:sp>
      <p:sp>
        <p:nvSpPr>
          <p:cNvPr id="108" name="Google Shape;106;p14"/>
          <p:cNvSpPr/>
          <p:nvPr/>
        </p:nvSpPr>
        <p:spPr>
          <a:xfrm>
            <a:off x="442440" y="614520"/>
            <a:ext cx="3707280" cy="561132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/>
            <a:endParaRPr lang="es-ES" sz="1800" b="0" u="none" strike="noStrike">
              <a:solidFill>
                <a:schemeClr val="lt1"/>
              </a:solidFill>
              <a:effectLst/>
              <a:uFillTx/>
              <a:latin typeface="Gill Sans"/>
            </a:endParaRPr>
          </a:p>
        </p:txBody>
      </p:sp>
      <p:sp>
        <p:nvSpPr>
          <p:cNvPr id="109" name="PlaceHolder 1"/>
          <p:cNvSpPr>
            <a:spLocks noGrp="1"/>
          </p:cNvSpPr>
          <p:nvPr>
            <p:ph/>
          </p:nvPr>
        </p:nvSpPr>
        <p:spPr>
          <a:xfrm>
            <a:off x="596520" y="701280"/>
            <a:ext cx="3389400" cy="542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85000" lnSpcReduction="9999"/>
          </a:bodyPr>
          <a:p>
            <a:pPr marL="306000" indent="-306000" algn="l">
              <a:lnSpc>
                <a:spcPct val="100000"/>
              </a:lnSpc>
              <a:buClr>
                <a:srgbClr val="4590B8"/>
              </a:buClr>
              <a:buFont typeface="Noto Sans Symbols"/>
              <a:buChar char="◼"/>
            </a:pPr>
            <a:r>
              <a:rPr lang="es-ES" sz="1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30000" lvl="1" indent="-320040" algn="l">
              <a:lnSpc>
                <a:spcPct val="100000"/>
              </a:lnSpc>
              <a:spcBef>
                <a:spcPts val="873"/>
              </a:spcBef>
              <a:buClr>
                <a:srgbClr val="4590B8"/>
              </a:buClr>
              <a:buFont typeface="Noto Sans Symbols"/>
              <a:buChar char="◼"/>
            </a:pPr>
            <a:r>
              <a:rPr lang="es-ES" sz="16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30000" lvl="1" indent="-320040" algn="l">
              <a:lnSpc>
                <a:spcPct val="100000"/>
              </a:lnSpc>
              <a:spcBef>
                <a:spcPts val="873"/>
              </a:spcBef>
              <a:buClr>
                <a:srgbClr val="4590B8"/>
              </a:buClr>
              <a:buFont typeface="Noto Sans Symbols"/>
              <a:buChar char="◼"/>
            </a:pPr>
            <a:r>
              <a:rPr lang="es-ES" sz="16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30000" lvl="1" indent="-320040" algn="l">
              <a:lnSpc>
                <a:spcPct val="100000"/>
              </a:lnSpc>
              <a:spcBef>
                <a:spcPts val="873"/>
              </a:spcBef>
              <a:buClr>
                <a:srgbClr val="4590B8"/>
              </a:buClr>
              <a:buFont typeface="Noto Sans Symbols"/>
              <a:buChar char="◼"/>
            </a:pPr>
            <a:r>
              <a:rPr lang="es-ES" sz="1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30000" lvl="1" indent="-320040" algn="l">
              <a:lnSpc>
                <a:spcPct val="100000"/>
              </a:lnSpc>
              <a:spcBef>
                <a:spcPts val="873"/>
              </a:spcBef>
              <a:buClr>
                <a:srgbClr val="4590B8"/>
              </a:buClr>
              <a:buFont typeface="Noto Sans Symbols"/>
              <a:buChar char="◼"/>
            </a:pPr>
            <a:r>
              <a:rPr lang="es-ES" sz="1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30000" lvl="1" indent="-320040" algn="l">
              <a:lnSpc>
                <a:spcPct val="100000"/>
              </a:lnSpc>
              <a:spcBef>
                <a:spcPts val="873"/>
              </a:spcBef>
              <a:buClr>
                <a:srgbClr val="4590B8"/>
              </a:buClr>
              <a:buFont typeface="Noto Sans Symbols"/>
              <a:buChar char="◼"/>
            </a:pPr>
            <a:r>
              <a:rPr lang="es-ES" sz="1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30000" lvl="1" indent="-320040" algn="l">
              <a:lnSpc>
                <a:spcPct val="100000"/>
              </a:lnSpc>
              <a:spcBef>
                <a:spcPts val="873"/>
              </a:spcBef>
              <a:buClr>
                <a:srgbClr val="4590B8"/>
              </a:buClr>
              <a:buFont typeface="Noto Sans Symbols"/>
              <a:buChar char="◼"/>
            </a:pPr>
            <a:r>
              <a:rPr lang="es-ES" sz="1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30000" lvl="1" indent="-320040" algn="l">
              <a:lnSpc>
                <a:spcPct val="100000"/>
              </a:lnSpc>
              <a:spcBef>
                <a:spcPts val="873"/>
              </a:spcBef>
              <a:buClr>
                <a:srgbClr val="4590B8"/>
              </a:buClr>
              <a:buFont typeface="Noto Sans Symbols"/>
              <a:buChar char="◼"/>
            </a:pPr>
            <a:r>
              <a:rPr lang="es-ES" sz="1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6000" indent="-306000" algn="l">
              <a:lnSpc>
                <a:spcPct val="100000"/>
              </a:lnSpc>
              <a:spcBef>
                <a:spcPts val="907"/>
              </a:spcBef>
              <a:buClr>
                <a:srgbClr val="4590B8"/>
              </a:buClr>
              <a:buFont typeface="Noto Sans Symbols"/>
              <a:buChar char="◼"/>
            </a:pPr>
            <a:r>
              <a:rPr lang="es-ES" sz="1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6000" indent="-306000" algn="l">
              <a:lnSpc>
                <a:spcPct val="100000"/>
              </a:lnSpc>
              <a:spcBef>
                <a:spcPts val="907"/>
              </a:spcBef>
              <a:buClr>
                <a:srgbClr val="4590B8"/>
              </a:buClr>
              <a:buFont typeface="Noto Sans Symbols"/>
              <a:buChar char="◼"/>
            </a:pPr>
            <a:r>
              <a:rPr lang="es-ES" sz="1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0" name="Google Shape;108;p14" descr="Resultado de imagen para AGENDA PNG"/>
          <p:cNvPicPr/>
          <p:nvPr/>
        </p:nvPicPr>
        <p:blipFill>
          <a:blip r:embed="rId1"/>
          <a:stretch/>
        </p:blipFill>
        <p:spPr>
          <a:xfrm>
            <a:off x="4791600" y="1935720"/>
            <a:ext cx="6489360" cy="300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" name="Google Shape;109;p14"/>
          <p:cNvSpPr/>
          <p:nvPr/>
        </p:nvSpPr>
        <p:spPr>
          <a:xfrm>
            <a:off x="11817720" y="6473880"/>
            <a:ext cx="37404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Gill Sans"/>
                <a:ea typeface="Gill Sans"/>
              </a:rPr>
              <a:t>2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2765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 lnSpcReduction="9999"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1.1  Objetivo general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just">
              <a:lnSpc>
                <a:spcPct val="107000"/>
              </a:lnSpc>
              <a:spcBef>
                <a:spcPts val="601"/>
              </a:spcBef>
              <a:buClr>
                <a:srgbClr val="4590B8"/>
              </a:buClr>
              <a:buFont typeface="Noto Sans Symbols"/>
              <a:buChar char="∙"/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Desarrollar un manual de documentación técnica que detalle el diseño e implementación de un sistema de conversión de magnitudes (masa, temperatura y longitud) bajo SOA, con un módulo de seguridad basado en tokens Bearer en el encabezado HTTP, entre un servidor RESTful ASP.NET Core Web API (.NET 10) y clientes de Escritorio (Windows Forms), Móvil (Android), Web (ASP.NET Core MVC) y Consola.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just">
              <a:lnSpc>
                <a:spcPct val="107000"/>
              </a:lnSpc>
              <a:spcBef>
                <a:spcPts val="601"/>
              </a:spcBef>
              <a:buClr>
                <a:srgbClr val="4590B8"/>
              </a:buClr>
              <a:buFont typeface="Noto Sans Symbols"/>
              <a:buChar char="∙"/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Se garantiza la interoperabilidad mediante HTTP/JSON y un envelope de respuesta único {estado, codigo, mensaje, resultado}, con el mismo contrato REST de TI.1.3 (Java).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2950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1.1  Objetivos específicos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just">
              <a:lnSpc>
                <a:spcPct val="107000"/>
              </a:lnSpc>
              <a:spcBef>
                <a:spcPts val="601"/>
              </a:spcBef>
              <a:buClr>
                <a:srgbClr val="4590B8"/>
              </a:buClr>
              <a:buFont typeface="Noto Sans Symbols"/>
              <a:buChar char="∙"/>
            </a:pPr>
            <a:r>
              <a:rPr lang="es-ES" sz="1600" b="0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Describir el diseño e implementación del servicio REST con ASP.NET Core: recursos (controladores), envelope JSON, lógica de conversiones y ejecución en Kestrel/IIS.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just">
              <a:lnSpc>
                <a:spcPct val="107000"/>
              </a:lnSpc>
              <a:spcBef>
                <a:spcPts val="601"/>
              </a:spcBef>
              <a:buClr>
                <a:srgbClr val="4590B8"/>
              </a:buClr>
              <a:buFont typeface="Noto Sans Symbols"/>
              <a:buChar char="∙"/>
            </a:pPr>
            <a:r>
              <a:rPr lang="es-ES" sz="1600" b="0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Proporcionar guías para consumir la API desde Consola, Escritorio, Web y Móvil con HttpClient / HttpURLConnection, enviando el token en Authorization: Bearer.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just">
              <a:lnSpc>
                <a:spcPct val="107000"/>
              </a:lnSpc>
              <a:spcBef>
                <a:spcPts val="601"/>
              </a:spcBef>
              <a:buClr>
                <a:srgbClr val="4590B8"/>
              </a:buClr>
              <a:buFont typeface="Noto Sans Symbols"/>
              <a:buChar char="∙"/>
            </a:pPr>
            <a:r>
              <a:rPr lang="es-ES" sz="1600" b="0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Explicar la configuración de Program.cs, launchSettings.json y appsettings.json, el middleware de errores y la publicación en IIS.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just">
              <a:lnSpc>
                <a:spcPct val="107000"/>
              </a:lnSpc>
              <a:spcBef>
                <a:spcPts val="601"/>
              </a:spcBef>
              <a:buClr>
                <a:srgbClr val="4590B8"/>
              </a:buClr>
              <a:buFont typeface="Noto Sans Symbols"/>
              <a:buChar char="∙"/>
            </a:pPr>
            <a:r>
              <a:rPr lang="es-ES" sz="1600" b="0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Analizar la separación de responsabilidades (recursos, soporte, seguridad, servicio, modelo, dto) y cómo facilita el mantenimiento y la escalabilidad.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417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Paso 1: Creación del proyecto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just">
              <a:lnSpc>
                <a:spcPct val="107000"/>
              </a:lnSpc>
              <a:spcBef>
                <a:spcPts val="601"/>
              </a:spcBef>
              <a:buClr>
                <a:srgbClr val="4590B8"/>
              </a:buClr>
              <a:buFont typeface="Noto Sans Symbols"/>
              <a:buChar char="∙"/>
            </a:pPr>
            <a:r>
              <a:rPr lang="es-ES" sz="1600" b="0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En Visual Studio se selecciona la plantilla ASP.NET Core Web API (.NET 10, con controladores) o se crea con dotnet new webapi.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1" name="Picture 123" descr="image2.png"/>
          <p:cNvPicPr/>
          <p:nvPr/>
        </p:nvPicPr>
        <p:blipFill>
          <a:blip r:embed="rId1"/>
          <a:stretch/>
        </p:blipFill>
        <p:spPr>
          <a:xfrm>
            <a:off x="731160" y="3300120"/>
            <a:ext cx="8288280" cy="1506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417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Paso 2: Nombramiento del proyecto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just">
              <a:lnSpc>
                <a:spcPct val="107000"/>
              </a:lnSpc>
              <a:spcBef>
                <a:spcPts val="601"/>
              </a:spcBef>
              <a:buClr>
                <a:srgbClr val="4590B8"/>
              </a:buClr>
              <a:buFont typeface="Noto Sans Symbols"/>
              <a:buChar char="∙"/>
            </a:pPr>
            <a:r>
              <a:rPr lang="es-ES" sz="1600" b="0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Se nombra WS_ConversionUnidades_Donet_GR8, con framework net10.0, Nullable e ImplicitUsings habilitados.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5" name="Picture 123" descr="image2.png"/>
          <p:cNvPicPr/>
          <p:nvPr/>
        </p:nvPicPr>
        <p:blipFill>
          <a:blip r:embed="rId1"/>
          <a:stretch/>
        </p:blipFill>
        <p:spPr>
          <a:xfrm>
            <a:off x="731160" y="3300120"/>
            <a:ext cx="8288280" cy="1725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417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Paso 3: Estructuración del proyecto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just">
              <a:lnSpc>
                <a:spcPct val="107000"/>
              </a:lnSpc>
              <a:spcBef>
                <a:spcPts val="601"/>
              </a:spcBef>
              <a:buClr>
                <a:srgbClr val="4590B8"/>
              </a:buClr>
              <a:buFont typeface="Noto Sans Symbols"/>
              <a:buChar char="∙"/>
            </a:pPr>
            <a:r>
              <a:rPr lang="es-ES" sz="1600" b="0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Se separan responsabilidades: api/recursos, api/soporte, seguridad, servicio, modelo, dto y el proyecto de pruebas xUnit.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9" name="Picture 123" descr="image2.png"/>
          <p:cNvPicPr/>
          <p:nvPr/>
        </p:nvPicPr>
        <p:blipFill>
          <a:blip r:embed="rId1"/>
          <a:stretch/>
        </p:blipFill>
        <p:spPr>
          <a:xfrm>
            <a:off x="4045320" y="3300120"/>
            <a:ext cx="1659960" cy="3407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156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Paso 4: Contrato de respuesta (envelope JSON) (1/2)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just">
              <a:lnSpc>
                <a:spcPct val="107000"/>
              </a:lnSpc>
              <a:spcBef>
                <a:spcPts val="601"/>
              </a:spcBef>
              <a:buClr>
                <a:srgbClr val="4590B8"/>
              </a:buClr>
              <a:buFont typeface="Noto Sans Symbols"/>
              <a:buChar char="∙"/>
            </a:pPr>
            <a:r>
              <a:rPr lang="es-ES" sz="1600" b="0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En REST no hay WSDL: toda respuesta usa el envelope {estado, codigo, mensaje, resultado} construido por RespuestaAPI.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Box 123"/>
          <p:cNvSpPr/>
          <p:nvPr/>
        </p:nvSpPr>
        <p:spPr>
          <a:xfrm>
            <a:off x="731160" y="3186720"/>
            <a:ext cx="8288280" cy="237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public static class RespuestaAPI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public const string ESTADO_OK = "OK";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public const string ESTADO_ERROR = "ERROR";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public const string TIPO_JSON = "application/json; charset=utf-8";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// Escritura sin escapar caracteres no ASCII (tildes, símbolo de grado).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private static readonly JsonSerializerOptions OPCIONES = new JsonSerializerOptions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Encoder = JavaScriptEncoder.UnsafeRelaxedJsonEscaping,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};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public static string ok(int codigo, string? mensaje, JsonNode? resultado)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return construir(ESTADO_OK, codigo, mensaje, resultado);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156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Paso 4: Contrato de respuesta (envelope JSON) (2/2)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7000"/>
              </a:lnSpc>
              <a:spcBef>
                <a:spcPts val="601"/>
              </a:spcBef>
              <a:buNone/>
            </a:pP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Box 123"/>
          <p:cNvSpPr/>
          <p:nvPr/>
        </p:nvSpPr>
        <p:spPr>
          <a:xfrm>
            <a:off x="731160" y="3186720"/>
            <a:ext cx="8288280" cy="237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}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public static string error(int codigo, string? mensaje)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return construir(ESTADO_ERROR, codigo, mensaje, null);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}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public static ContentResult respuesta(int codigoHttp, string json)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return new ContentResult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StatusCode = codigoHttp,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Content = json,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ContentType = TIPO_JSON,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};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}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156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Paso 5: Recurso de conversión (1/2)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just">
              <a:lnSpc>
                <a:spcPct val="107000"/>
              </a:lnSpc>
              <a:spcBef>
                <a:spcPts val="601"/>
              </a:spcBef>
              <a:buClr>
                <a:srgbClr val="4590B8"/>
              </a:buClr>
              <a:buFont typeface="Noto Sans Symbols"/>
              <a:buChar char="∙"/>
            </a:pPr>
            <a:r>
              <a:rPr lang="es-ES" sz="1600" b="0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POST /api/conversiones/{magnitud}: la magnitud llega en la ruta y el valor y las unidades en el cuerpo JSON.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Box 123"/>
          <p:cNvSpPr/>
          <p:nvPr/>
        </p:nvSpPr>
        <p:spPr>
          <a:xfrm>
            <a:off x="731160" y="3186720"/>
            <a:ext cx="8288280" cy="237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[Route("api/conversiones")]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[RequiereToken]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public class ConversionRecurso : ControllerBase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private static readonly HashSet&lt;string&gt; MAGNITUDES_VALIDAS = new HashSet&lt;string&gt;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CatalogoUnidades.LONGITUD, CatalogoUnidades.MASA, CatalogoUnidades.TEMPERATURA,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};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private readonly ConversorServicio conversor = new ConversorServicio();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[HttpPost("{magnitud}")]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public async Task&lt;IActionResult&gt; convertir(string magnitud)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SoportePeticion.exigirTipoJSON(Request.ContentType);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156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Paso 5: Recurso de conversión (2/2)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7000"/>
              </a:lnSpc>
              <a:spcBef>
                <a:spcPts val="601"/>
              </a:spcBef>
              <a:buNone/>
            </a:pP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Box 123"/>
          <p:cNvSpPr/>
          <p:nvPr/>
        </p:nvSpPr>
        <p:spPr>
          <a:xfrm>
            <a:off x="731160" y="3186720"/>
            <a:ext cx="8288280" cy="237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JsonElement datos = SoportePeticion.leerObjetoJSON(await SoportePeticion.leerCuerpo(Request));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string entrada = magnitud ?? "";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string tipoMagnitud = entrada.Trim().ToUpperInvariant();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if (!MAGNITUDES_VALIDAS.Contains(tipoMagnitud))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throw new ErrorAPI(404, $"La magnitud '{entrada}' no es válida. Debe ser LONGITUD, MASA o TEMPERATURA.");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}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var solicitud = new ConversionDTO(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SoportePeticion.numero(datos, "valorOrigen"),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null,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SoportePeticion.texto(datos, "unidadOrigen"),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SoportePeticion.texto(datos, "unidadDestino"),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tipoMagnitud);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156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Paso 5: Recurso de autenticación (1/2)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just">
              <a:lnSpc>
                <a:spcPct val="107000"/>
              </a:lnSpc>
              <a:spcBef>
                <a:spcPts val="601"/>
              </a:spcBef>
              <a:buClr>
                <a:srgbClr val="4590B8"/>
              </a:buClr>
              <a:buFont typeface="Noto Sans Symbols"/>
              <a:buChar char="∙"/>
            </a:pPr>
            <a:r>
              <a:rPr lang="es-ES" sz="1600" b="0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POST /api/auth/login devuelve el token; POST /api/auth/logout lo invalida.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Box 123"/>
          <p:cNvSpPr/>
          <p:nvPr/>
        </p:nvSpPr>
        <p:spPr>
          <a:xfrm>
            <a:off x="731160" y="3186720"/>
            <a:ext cx="8288280" cy="237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[HttpPost("login")]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public async Task&lt;IActionResult&gt; iniciarSesion()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SoportePeticion.exigirTipoJSON(Request.ContentType);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JsonElement datos = SoportePeticion.leerObjetoJSON(await SoportePeticion.leerCuerpo(Request));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string? usuario = SoportePeticion.texto(datos, "username");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string? contrasena = SoportePeticion.texto(datos, "password");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if (string.IsNullOrWhiteSpace(usuario) || string.IsNullOrWhiteSpace(contrasena))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throw new ErrorAPI(400, MENSAJE_CAMPOS_OBLIGATORIOS);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}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string token = autenticador.autenticadorLogin(new Usuario(usuario, contrasena));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if (AutenticadorServicio.USUARIO_INVALIDO.Equals(token))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156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Paso 5: Recurso de autenticación (2/2)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7000"/>
              </a:lnSpc>
              <a:spcBef>
                <a:spcPts val="601"/>
              </a:spcBef>
              <a:buNone/>
            </a:pP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Box 123"/>
          <p:cNvSpPr/>
          <p:nvPr/>
        </p:nvSpPr>
        <p:spPr>
          <a:xfrm>
            <a:off x="731160" y="3186720"/>
            <a:ext cx="8288280" cy="237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throw new ErrorAPI(401, AutenticadorServicio.USUARIO_INVALIDO);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}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// Los tokens de TI.1.2 no vencen: expiraEn se publica vacío, como hace TI.1.3 sin vencimiento.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var resultado = new JsonObject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["token"] = token,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["usuario"] = Constantes.usuario,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["expiraEn"] = "",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};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return RespuestaAPI.respuesta(200, RespuestaAPI.ok(200, MENSAJE_LOGIN_OK, resultado));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}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[HttpPost("logout")]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417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Paso 6: Filtro de seguridad (Authorization: Bearer)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just">
              <a:lnSpc>
                <a:spcPct val="107000"/>
              </a:lnSpc>
              <a:spcBef>
                <a:spcPts val="601"/>
              </a:spcBef>
              <a:buClr>
                <a:srgbClr val="4590B8"/>
              </a:buClr>
              <a:buFont typeface="Noto Sans Symbols"/>
              <a:buChar char="∙"/>
            </a:pPr>
            <a:r>
              <a:rPr lang="es-ES" sz="1600" b="0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RequiereTokenAttribute (IAuthorizationFilter) sustituye al inspector de WCF y valida el token antes de cada acción.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7" name="Picture 123" descr="image2.png"/>
          <p:cNvPicPr/>
          <p:nvPr/>
        </p:nvPicPr>
        <p:blipFill>
          <a:blip r:embed="rId1"/>
          <a:stretch/>
        </p:blipFill>
        <p:spPr>
          <a:xfrm>
            <a:off x="731160" y="3300120"/>
            <a:ext cx="8288280" cy="330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417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Paso 6: Validación del token (continuación)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just">
              <a:lnSpc>
                <a:spcPct val="107000"/>
              </a:lnSpc>
              <a:spcBef>
                <a:spcPts val="601"/>
              </a:spcBef>
              <a:buClr>
                <a:srgbClr val="4590B8"/>
              </a:buClr>
              <a:buFont typeface="Noto Sans Symbols"/>
              <a:buChar char="∙"/>
            </a:pPr>
            <a:r>
              <a:rPr lang="es-ES" sz="1600" b="0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ValidadorToken extrae el token del esquema Bearer y responde 401 si falta o es inválido.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1" name="Picture 123" descr="image2.png"/>
          <p:cNvPicPr/>
          <p:nvPr/>
        </p:nvPicPr>
        <p:blipFill>
          <a:blip r:embed="rId1"/>
          <a:stretch/>
        </p:blipFill>
        <p:spPr>
          <a:xfrm>
            <a:off x="3182040" y="3300120"/>
            <a:ext cx="3386880" cy="3407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156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Paso 7: Lógica de negocio – ConversorServicio (1/2)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just">
              <a:lnSpc>
                <a:spcPct val="107000"/>
              </a:lnSpc>
              <a:spcBef>
                <a:spcPts val="601"/>
              </a:spcBef>
              <a:buClr>
                <a:srgbClr val="4590B8"/>
              </a:buClr>
              <a:buFont typeface="Noto Sans Symbols"/>
              <a:buChar char="∙"/>
            </a:pPr>
            <a:r>
              <a:rPr lang="es-ES" sz="1600" b="0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La lógica matemática de TI.1.2 se mantiene intacta y se orquesta por magnitud.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Box 123"/>
          <p:cNvSpPr/>
          <p:nvPr/>
        </p:nvSpPr>
        <p:spPr>
          <a:xfrm>
            <a:off x="731160" y="3186720"/>
            <a:ext cx="8288280" cy="237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public class ConversorServicio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private readonly ValidadorConversion validador = new ValidadorConversion();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public ConversionDTO procesarConversion(ConversionDTO? dto)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// Validar datos (garantiza que los campos no son nulos ni vacíos)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validador.validarEstructuraEntrada(dto);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double valor = dto!.ValorOrigen!.Value;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string tipo = dto.TipoMagnitud!.Trim().ToUpperInvariant();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string unidadOrigenStr = dto.UnidadOrigen!.Trim().ToUpperInvariant();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string unidadDestinoStr = dto.UnidadDestino!.Trim().ToUpperInvariant();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double resultado;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switch (tipo)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156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Paso 7: Lógica de negocio – ConversorServicio (2/2)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7000"/>
              </a:lnSpc>
              <a:spcBef>
                <a:spcPts val="601"/>
              </a:spcBef>
              <a:buNone/>
            </a:pP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Box 123"/>
          <p:cNvSpPr/>
          <p:nvPr/>
        </p:nvSpPr>
        <p:spPr>
          <a:xfrm>
            <a:off x="731160" y="3186720"/>
            <a:ext cx="8288280" cy="237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case CatalogoUnidades.LONGITUD: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    validador.validarValorNoNegativo(valor, tipo);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    UnidadLongitud origenLongitud = validador.buscarEnumValido&lt;UnidadLongitud&gt;(unidadOrigenStr, tipo);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    UnidadLongitud destinoLongitud = validador.buscarEnumValido&lt;UnidadLongitud&gt;(unidadDestinoStr, tipo);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    resultado = origenLongitud.convertirA(valor, destinoLongitud);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    break;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case CatalogoUnidades.MASA: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    validador.validarValorNoNegativo(valor, tipo);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    UnidadMasa origenMasa = validador.buscarEnumValido&lt;UnidadMasa&gt;(unidadOrigenStr, tipo);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    UnidadMasa destinoMasa = validador.buscarEnumValido&lt;UnidadMasa&gt;(unidadDestinoStr, tipo);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    resultado = origenMasa.convertirA(valor, destinoMasa);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    break;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case CatalogoUnidades.TEMPERATURA: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156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Paso 7: Lógica de negocio – UnidadLongitud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just">
              <a:lnSpc>
                <a:spcPct val="107000"/>
              </a:lnSpc>
              <a:spcBef>
                <a:spcPts val="601"/>
              </a:spcBef>
              <a:buClr>
                <a:srgbClr val="4590B8"/>
              </a:buClr>
              <a:buFont typeface="Noto Sans Symbols"/>
              <a:buChar char="∙"/>
            </a:pPr>
            <a:r>
              <a:rPr lang="es-ES" sz="1600" b="0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Factores de conversión definidos sobre las enumeraciones del modelo.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Box 123"/>
          <p:cNvSpPr/>
          <p:nvPr/>
        </p:nvSpPr>
        <p:spPr>
          <a:xfrm>
            <a:off x="731160" y="3186720"/>
            <a:ext cx="8288280" cy="237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namespace WS_ConversionUnidades_Donet_GR8.modelo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public enum UnidadLongitud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CENTIMETRO,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METRO,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PIE,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YARDA,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MILLA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}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public static class UnidadLongitudExtensions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// Método auxiliar privado para emular el factor en metros de cada unidad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private static double GetFactorEnMetros(this UnidadLongitud unidad)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156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Paso 8: Manejo centralizado de errores (1/2)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just">
              <a:lnSpc>
                <a:spcPct val="107000"/>
              </a:lnSpc>
              <a:spcBef>
                <a:spcPts val="601"/>
              </a:spcBef>
              <a:buClr>
                <a:srgbClr val="4590B8"/>
              </a:buClr>
              <a:buFont typeface="Noto Sans Symbols"/>
              <a:buChar char="∙"/>
            </a:pPr>
            <a:r>
              <a:rPr lang="es-ES" sz="1600" b="0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El middleware MapeadorExcepciones traduce excepciones y códigos 404/405 al envelope JSON.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Box 123"/>
          <p:cNvSpPr/>
          <p:nvPr/>
        </p:nvSpPr>
        <p:spPr>
          <a:xfrm>
            <a:off x="731160" y="3186720"/>
            <a:ext cx="8288280" cy="237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public class MapeadorExcepciones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public const string MENSAJE_NO_ENCONTRADO = "Recurso no encontrado.";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public const string MENSAJE_METODO_NO_PERMITIDO = "Método HTTP no permitido para este recurso.";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public const string MENSAJE_ERROR_INTERNO = "Error interno del servidor.";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public const string MENSAJE_SOLICITUD_INVALIDA = "Solicitud inválida.";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private readonly RequestDelegate siguiente;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private readonly ILogger&lt;MapeadorExcepciones&gt; registro;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public MapeadorExcepciones(RequestDelegate siguiente, ILogger&lt;MapeadorExcepciones&gt; registro)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this.siguiente = siguiente;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this.registro = registro;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}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156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Paso 8: Manejo centralizado de errores (2/2)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7000"/>
              </a:lnSpc>
              <a:spcBef>
                <a:spcPts val="601"/>
              </a:spcBef>
              <a:buNone/>
            </a:pP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Box 123"/>
          <p:cNvSpPr/>
          <p:nvPr/>
        </p:nvSpPr>
        <p:spPr>
          <a:xfrm>
            <a:off x="731160" y="3186720"/>
            <a:ext cx="8288280" cy="237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public async Task InvokeAsync(HttpContext contexto)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try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await siguiente(contexto);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}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catch (Exception error) when (!contexto.Response.HasStarted)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(int codigo, string mensaje) = mapear(error);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if (codigo == 500)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    registro.LogError(error, "Error no controlado en {Ruta}", contexto.Request.Path);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}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contexto.Response.Clear();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await RespuestaAPI.escribir(contexto.Response, codigo, RespuestaAPI.error(codigo, mensaje));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}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156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Paso 9: Pipeline de ASP.NET Core (Program.cs)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just">
              <a:lnSpc>
                <a:spcPct val="107000"/>
              </a:lnSpc>
              <a:spcBef>
                <a:spcPts val="601"/>
              </a:spcBef>
              <a:buClr>
                <a:srgbClr val="4590B8"/>
              </a:buClr>
              <a:buFont typeface="Noto Sans Symbols"/>
              <a:buChar char="∙"/>
            </a:pPr>
            <a:r>
              <a:rPr lang="es-ES" sz="1600" b="0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Se registran controladores, middleware de errores y la ruta base /WS_ConversionUnidades_Donet_GR8.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Box 123"/>
          <p:cNvSpPr/>
          <p:nvPr/>
        </p:nvSpPr>
        <p:spPr>
          <a:xfrm>
            <a:off x="731160" y="3186720"/>
            <a:ext cx="8288280" cy="237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using WS_ConversionUnidades_Donet_GR8.api.soporte;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using WS_ConversionUnidades_Donet_GR8.modelo;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var builder = WebApplication.CreateBuilder(args);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builder.Services.AddControllers();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var app = builder.Build();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// Toda excepción y todo código de error sin cuerpo (404/405 del enrutador) se devuelven con el envelope JSON.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app.UseMiddleware&lt;MapeadorExcepciones&gt;();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app.UseStatusCodePages(MapeadorExcepciones.escribirCodigoEstado);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// La API responde en /api/... y también bajo /WS_ConversionUnidades_Donet_GR8/api/..., equivalente al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// contexto del WAR de TI.1.3, para que los clientes conserven su esquema de URL base.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app.UsePathBase("/" + Constantes.NOMBRE_SERVICIO);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156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Paso 9: Puerto del servicio (launchSettings.json)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just">
              <a:lnSpc>
                <a:spcPct val="107000"/>
              </a:lnSpc>
              <a:spcBef>
                <a:spcPts val="601"/>
              </a:spcBef>
              <a:buClr>
                <a:srgbClr val="4590B8"/>
              </a:buClr>
              <a:buFont typeface="Noto Sans Symbols"/>
              <a:buChar char="∙"/>
            </a:pPr>
            <a:r>
              <a:rPr lang="es-ES" sz="1600" b="0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Kestrel escucha en http://*:5080.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123"/>
          <p:cNvSpPr/>
          <p:nvPr/>
        </p:nvSpPr>
        <p:spPr>
          <a:xfrm>
            <a:off x="731160" y="3186720"/>
            <a:ext cx="8288280" cy="237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"$schema": "https://json.schemastore.org/launchsettings.json",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"profiles":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"http":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"commandName": "Project",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"dotnetRunMessages": true,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"launchBrowser": false,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"applicationUrl": "http://*:5080",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"environmentVariables":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"ASPNETCORE_ENVIRONMENT": "Development"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}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}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}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}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417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Paso 10: Compilación y ejecución en Kestrel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just">
              <a:lnSpc>
                <a:spcPct val="107000"/>
              </a:lnSpc>
              <a:spcBef>
                <a:spcPts val="601"/>
              </a:spcBef>
              <a:buClr>
                <a:srgbClr val="4590B8"/>
              </a:buClr>
              <a:buFont typeface="Noto Sans Symbols"/>
              <a:buChar char="∙"/>
            </a:pPr>
            <a:r>
              <a:rPr lang="es-ES" sz="1600" b="0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Con F5 o dotnet run el servicio queda escuchando en el puerto 5080.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3" name="Picture 123" descr="image2.png"/>
          <p:cNvPicPr/>
          <p:nvPr/>
        </p:nvPicPr>
        <p:blipFill>
          <a:blip r:embed="rId1"/>
          <a:stretch/>
        </p:blipFill>
        <p:spPr>
          <a:xfrm>
            <a:off x="731160" y="3300120"/>
            <a:ext cx="8288280" cy="1863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417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Paso 11: Verificación del servicio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just">
              <a:lnSpc>
                <a:spcPct val="107000"/>
              </a:lnSpc>
              <a:spcBef>
                <a:spcPts val="601"/>
              </a:spcBef>
              <a:buClr>
                <a:srgbClr val="4590B8"/>
              </a:buClr>
              <a:buFont typeface="Noto Sans Symbols"/>
              <a:buChar char="∙"/>
            </a:pPr>
            <a:r>
              <a:rPr lang="es-ES" sz="1600" b="0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GET /api/estado responde con el envelope JSON: servicio, versión, protocolo REST/JSON y hora.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7" name="Picture 123" descr="image2.png"/>
          <p:cNvPicPr/>
          <p:nvPr/>
        </p:nvPicPr>
        <p:blipFill>
          <a:blip r:embed="rId1"/>
          <a:stretch/>
        </p:blipFill>
        <p:spPr>
          <a:xfrm>
            <a:off x="731160" y="3300120"/>
            <a:ext cx="8288280" cy="3164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417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Paso 19: Verificación final (sin token)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just">
              <a:lnSpc>
                <a:spcPct val="107000"/>
              </a:lnSpc>
              <a:spcBef>
                <a:spcPts val="601"/>
              </a:spcBef>
              <a:buClr>
                <a:srgbClr val="4590B8"/>
              </a:buClr>
              <a:buFont typeface="Noto Sans Symbols"/>
              <a:buChar char="∙"/>
            </a:pPr>
            <a:r>
              <a:rPr lang="es-ES" sz="1600" b="0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Un recurso protegido sin token responde 401 con el envelope de error.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1" name="Picture 123" descr="image2.png"/>
          <p:cNvPicPr/>
          <p:nvPr/>
        </p:nvPicPr>
        <p:blipFill>
          <a:blip r:embed="rId1"/>
          <a:stretch/>
        </p:blipFill>
        <p:spPr>
          <a:xfrm>
            <a:off x="731160" y="3300120"/>
            <a:ext cx="8288280" cy="3164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417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Paso 19: Verificación final (curl)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just">
              <a:lnSpc>
                <a:spcPct val="107000"/>
              </a:lnSpc>
              <a:spcBef>
                <a:spcPts val="601"/>
              </a:spcBef>
              <a:buClr>
                <a:srgbClr val="4590B8"/>
              </a:buClr>
              <a:buFont typeface="Noto Sans Symbols"/>
              <a:buChar char="∙"/>
            </a:pPr>
            <a:r>
              <a:rPr lang="es-ES" sz="1600" b="0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Con el token Bearer ya se pueden hacer login, catálogo y conversiones.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5" name="Picture 123" descr="image2.png"/>
          <p:cNvPicPr/>
          <p:nvPr/>
        </p:nvPicPr>
        <p:blipFill>
          <a:blip r:embed="rId1"/>
          <a:stretch/>
        </p:blipFill>
        <p:spPr>
          <a:xfrm>
            <a:off x="731160" y="3300120"/>
            <a:ext cx="8288280" cy="2707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417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Cliente Consola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just">
              <a:lnSpc>
                <a:spcPct val="107000"/>
              </a:lnSpc>
              <a:spcBef>
                <a:spcPts val="601"/>
              </a:spcBef>
              <a:buClr>
                <a:srgbClr val="4590B8"/>
              </a:buClr>
              <a:buFont typeface="Noto Sans Symbols"/>
              <a:buChar char="∙"/>
            </a:pPr>
            <a:r>
              <a:rPr lang="es-ES" sz="1600" b="0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Se crean los paquetes del proyecto: Models, Services y Consola.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9" name="Picture 123" descr="image2.png"/>
          <p:cNvPicPr/>
          <p:nvPr/>
        </p:nvPicPr>
        <p:blipFill>
          <a:blip r:embed="rId1"/>
          <a:stretch/>
        </p:blipFill>
        <p:spPr>
          <a:xfrm>
            <a:off x="1293120" y="3300120"/>
            <a:ext cx="7164720" cy="3407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156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Cliente Consola – Services: RestClienteServicio (1/2)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just">
              <a:lnSpc>
                <a:spcPct val="107000"/>
              </a:lnSpc>
              <a:spcBef>
                <a:spcPts val="601"/>
              </a:spcBef>
              <a:buClr>
                <a:srgbClr val="4590B8"/>
              </a:buClr>
              <a:buFont typeface="Noto Sans Symbols"/>
              <a:buChar char="∙"/>
            </a:pPr>
            <a:r>
              <a:rPr lang="es-ES" sz="1600" b="0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HttpClient + System.Text.Json; el token viaja en Authorization: Bearer.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Box 123"/>
          <p:cNvSpPr/>
          <p:nvPr/>
        </p:nvSpPr>
        <p:spPr>
          <a:xfrm>
            <a:off x="731160" y="3186720"/>
            <a:ext cx="8288280" cy="237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public async Task&lt;string&gt; LoginAsync(string usuario, string contrasena)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JsonElement resultado;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try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resultado = await EnviarAsync(HttpMethod.Post, "auth/login", null,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    new { username = usuario, password = contrasena });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}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catch (RestClienteException ex) when (ex.AccesoDenegado)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// En el login un 401 significa credenciales incorrectas, no una sesión vencida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throw new RestClienteException("Usuario o contraseña incorrectos.");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}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var token = Texto(resultado, "token");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if (string.IsNullOrWhiteSpace(token))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156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Cliente Consola – Services: RestClienteServicio (2/2)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7000"/>
              </a:lnSpc>
              <a:spcBef>
                <a:spcPts val="601"/>
              </a:spcBef>
              <a:buNone/>
            </a:pP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Box 123"/>
          <p:cNvSpPr/>
          <p:nvPr/>
        </p:nvSpPr>
        <p:spPr>
          <a:xfrm>
            <a:off x="731160" y="3186720"/>
            <a:ext cx="8288280" cy="237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throw new RestClienteException("Usuario o contraseña incorrectos.");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}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return token;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}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public async Task&lt;bool&gt; LogoutAsync(string token)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var resultado = await EnviarAsync(HttpMethod.Post, "auth/logout", token, null);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return resultado.ValueKind == JsonValueKind.True;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}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public async Task&lt;IReadOnlyDictionary&lt;string, Unidad[]&gt;&gt; ObtenerCatalogoAsync(string token)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var resultado = await EnviarAsync(HttpMethod.Get, "catalogo", token, null);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if (resultado.ValueKind != JsonValueKind.Object)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156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Cliente Consola – Services: ConvertirAsync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just">
              <a:lnSpc>
                <a:spcPct val="107000"/>
              </a:lnSpc>
              <a:spcBef>
                <a:spcPts val="601"/>
              </a:spcBef>
              <a:buClr>
                <a:srgbClr val="4590B8"/>
              </a:buClr>
              <a:buFont typeface="Noto Sans Symbols"/>
              <a:buChar char="∙"/>
            </a:pPr>
            <a:r>
              <a:rPr lang="es-ES" sz="1600" b="0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POST /conversiones/{magnitud} y lectura de valorResultado.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Box 123"/>
          <p:cNvSpPr/>
          <p:nvPr/>
        </p:nvSpPr>
        <p:spPr>
          <a:xfrm>
            <a:off x="731160" y="3186720"/>
            <a:ext cx="8288280" cy="237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public async Task&lt;double&gt; ConvertirAsync(string token, string tipoMagnitud,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string unidadOrigen, string unidadDestino, double valorOrigen)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var resultado = await EnviarAsync(HttpMethod.Post,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"conversiones/" + Uri.EscapeDataString(tipoMagnitud), token,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new { valorOrigen, unidadOrigen, unidadDestino });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if (resultado.ValueKind != JsonValueKind.Object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|| !resultado.TryGetProperty("valorResultado", out var valor)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|| !valor.TryGetDouble(out var convertido))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throw new RestClienteException("El servicio devolvió una respuesta que no se pudo interpretar.");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}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return convertido;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}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156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Cliente Consola – Vista Entrada.cs (1/2)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just">
              <a:lnSpc>
                <a:spcPct val="107000"/>
              </a:lnSpc>
              <a:spcBef>
                <a:spcPts val="601"/>
              </a:spcBef>
              <a:buClr>
                <a:srgbClr val="4590B8"/>
              </a:buClr>
              <a:buFont typeface="Noto Sans Symbols"/>
              <a:buChar char="∙"/>
            </a:pPr>
            <a:r>
              <a:rPr lang="es-ES" sz="1600" b="0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Utilidades para leer datos y mostrar mensajes en la consola. Fragmento.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Box 123"/>
          <p:cNvSpPr/>
          <p:nvPr/>
        </p:nvSpPr>
        <p:spPr>
          <a:xfrm>
            <a:off x="731160" y="3186720"/>
            <a:ext cx="8288280" cy="237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public static class Entrada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public static string Texto(string mensaje)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Console.Write(mensaje);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return (Console.ReadLine() ?? "").Trim();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}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// Lee la contraseña mostrando asteriscos (si la entrada viene redirigida, la lee como texto normal)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public static string Contrasena(string mensaje)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Console.Write(mensaje);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if (Console.IsInputRedirected) return Console.ReadLine() ?? "";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var sb = new StringBuilder();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while (true)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156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Cliente Consola – Vista Entrada.cs (2/2)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7000"/>
              </a:lnSpc>
              <a:spcBef>
                <a:spcPts val="601"/>
              </a:spcBef>
              <a:buNone/>
            </a:pP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Box 123"/>
          <p:cNvSpPr/>
          <p:nvPr/>
        </p:nvSpPr>
        <p:spPr>
          <a:xfrm>
            <a:off x="731160" y="3186720"/>
            <a:ext cx="8288280" cy="237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var tecla = Console.ReadKey(intercept: true);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if (tecla.Key == ConsoleKey.Enter)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    Console.WriteLine();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    return sb.ToString();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}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if (tecla.Key == ConsoleKey.Backspace)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    if (sb.Length &gt; 0)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        sb.Length--;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        Console.Write("\b \b");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    }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}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else if (!char.IsControl(tecla.KeyChar))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417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Cliente Escritorio – Arquitectura MVC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just">
              <a:lnSpc>
                <a:spcPct val="107000"/>
              </a:lnSpc>
              <a:spcBef>
                <a:spcPts val="601"/>
              </a:spcBef>
              <a:buClr>
                <a:srgbClr val="4590B8"/>
              </a:buClr>
              <a:buFont typeface="Noto Sans Symbols"/>
              <a:buChar char="∙"/>
            </a:pPr>
            <a:r>
              <a:rPr lang="es-ES" sz="1600" b="0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Forms (vista), Models y Services (RestClienteServicio).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3" name="Picture 123" descr="image2.png"/>
          <p:cNvPicPr/>
          <p:nvPr/>
        </p:nvPicPr>
        <p:blipFill>
          <a:blip r:embed="rId1"/>
          <a:stretch/>
        </p:blipFill>
        <p:spPr>
          <a:xfrm>
            <a:off x="1560960" y="3300120"/>
            <a:ext cx="6628680" cy="3407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156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Cliente Escritorio – FrmLogin: BtnIngresar_Click (1/2)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just">
              <a:lnSpc>
                <a:spcPct val="107000"/>
              </a:lnSpc>
              <a:spcBef>
                <a:spcPts val="601"/>
              </a:spcBef>
              <a:buClr>
                <a:srgbClr val="4590B8"/>
              </a:buClr>
              <a:buFont typeface="Noto Sans Symbols"/>
              <a:buChar char="∙"/>
            </a:pPr>
            <a:r>
              <a:rPr lang="es-ES" sz="1600" b="0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Inicio de sesión contra POST /api/auth/login. Fragmento.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Box 123"/>
          <p:cNvSpPr/>
          <p:nvPr/>
        </p:nvSpPr>
        <p:spPr>
          <a:xfrm>
            <a:off x="731160" y="3186720"/>
            <a:ext cx="8288280" cy="237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private async void BtnIngresar_Click(object? sender, EventArgs e)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lblError.Text = "";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var usuario = txtUsuario.Text.Trim();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if (usuario.Length == 0 || txtContrasena.Text.Length == 0)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lblError.Text = "Ingresa tu usuario y contraseña.";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return;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}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btnIngresar.Enabled = false;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Cursor = Cursors.WaitCursor;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string? token = null;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try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156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Cliente Escritorio – FrmLogin: BtnIngresar_Click (2/2)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7000"/>
              </a:lnSpc>
              <a:spcBef>
                <a:spcPts val="601"/>
              </a:spcBef>
              <a:buNone/>
            </a:pP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Box 123"/>
          <p:cNvSpPr/>
          <p:nvPr/>
        </p:nvSpPr>
        <p:spPr>
          <a:xfrm>
            <a:off x="731160" y="3186720"/>
            <a:ext cx="8288280" cy="237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token = await _rest.LoginAsync(usuario, txtContrasena.Text);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Catalogo = await _rest.ObtenerCatalogoAsync(token);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Token = token;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Usuario = usuario;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DialogResult = DialogResult.OK;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}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catch (RestClienteException ex)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// Si el login funcionó pero no llegó el catálogo, se invalida el token para no dejar la sesión abierta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if (token != null) await CerrarSesionSilenciosaAsync(token);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lblError.Text = ex.Message;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txtContrasena.Clear();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txtContrasena.Focus();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}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finally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156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Cliente Escritorio – FrmConversor: BtnConvertir_Click (1/2)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just">
              <a:lnSpc>
                <a:spcPct val="107000"/>
              </a:lnSpc>
              <a:spcBef>
                <a:spcPts val="601"/>
              </a:spcBef>
              <a:buClr>
                <a:srgbClr val="4590B8"/>
              </a:buClr>
              <a:buFont typeface="Noto Sans Symbols"/>
              <a:buChar char="∙"/>
            </a:pPr>
            <a:r>
              <a:rPr lang="es-ES" sz="1600" b="0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Conversión y manejo de sesión vencida (401). Fragmento.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Box 123"/>
          <p:cNvSpPr/>
          <p:nvPr/>
        </p:nvSpPr>
        <p:spPr>
          <a:xfrm>
            <a:off x="731160" y="3186720"/>
            <a:ext cx="8288280" cy="237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private async void BtnConvertir_Click(object? sender, EventArgs e)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lblError.Text = "";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lblResultado.Text = "";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if (!TryLeerValor(out var valor))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lblError.Text = "Ingresa un valor numérico válido.";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return;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}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var magnitud = ((Unidad)cmbMagnitud.SelectedItem!).Valor;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var origen = ((Unidad)cmbOrigen.SelectedItem!).Valor;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var destino = ((Unidad)cmbDestino.SelectedItem!).Valor;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btnConvertir.Enabled = false;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156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Cliente Escritorio – FrmConversor: BtnConvertir_Click (2/2)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7000"/>
              </a:lnSpc>
              <a:spcBef>
                <a:spcPts val="601"/>
              </a:spcBef>
              <a:buNone/>
            </a:pP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123"/>
          <p:cNvSpPr/>
          <p:nvPr/>
        </p:nvSpPr>
        <p:spPr>
          <a:xfrm>
            <a:off x="731160" y="3186720"/>
            <a:ext cx="8288280" cy="237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Cursor = Cursors.WaitCursor;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try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var resultado = await _rest.ConvertirAsync(_token, magnitud, origen, destino, valor);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lblResultado.Text = $"{Formato(valor)} {origen.ToLowerInvariant()} = {Formato(resultado)} {destino.ToLowerInvariant()}";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}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catch (RestClienteException ex) when (ex.AccesoDenegado)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// El token ya no es válido (por ejemplo, el servidor se reinició): hay que iniciar sesión otra vez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_sesionCerrada = true;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MessageBox.Show(this, "Tu sesión expiró. Inicia sesión nuevamente.", "Sesión",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    MessageBoxButtons.OK, MessageBoxIcon.Information);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CerrarSesionSolicitada = true;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Close();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}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catch (RestClienteException ex)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156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Cliente Escritorio – Servicio y modelo: ServicioRestOpciones (1/2)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just">
              <a:lnSpc>
                <a:spcPct val="107000"/>
              </a:lnSpc>
              <a:spcBef>
                <a:spcPts val="601"/>
              </a:spcBef>
              <a:buClr>
                <a:srgbClr val="4590B8"/>
              </a:buClr>
              <a:buFont typeface="Noto Sans Symbols"/>
              <a:buChar char="∙"/>
            </a:pPr>
            <a:r>
              <a:rPr lang="es-ES" sz="1600" b="0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Lee UrlBase y TiempoEsperaSegundos desde appsettings.json.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Box 123"/>
          <p:cNvSpPr/>
          <p:nvPr/>
        </p:nvSpPr>
        <p:spPr>
          <a:xfrm>
            <a:off x="731160" y="3186720"/>
            <a:ext cx="8288280" cy="237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using System.Text.Json;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namespace WS_ConversionUnidades_Donet_CLIESC_GR8.Services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public class ServicioRestOpciones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// URL base de la API REST (sin la barra final): los recursos cuelgan de aquí (/auth/login, /catalogo, ...)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public string UrlBase { get; set; } = "http://localhost:5080/api";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// Tiempo máximo de espera por petición, en segundos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public int TiempoEsperaSegundos { get; set; } = 15;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public static ServicioRestOpciones Cargar(string rutaArchivo)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if (!File.Exists(rutaArchivo)) return new ServicioRestOpciones();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156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Cliente Escritorio – Servicio y modelo: ServicioRestOpciones (2/2)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7000"/>
              </a:lnSpc>
              <a:spcBef>
                <a:spcPts val="601"/>
              </a:spcBef>
              <a:buNone/>
            </a:pP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Box 123"/>
          <p:cNvSpPr/>
          <p:nvPr/>
        </p:nvSpPr>
        <p:spPr>
          <a:xfrm>
            <a:off x="731160" y="3186720"/>
            <a:ext cx="8288280" cy="237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using var doc = JsonDocument.Parse(File.ReadAllText(rutaArchivo));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if (!doc.RootElement.TryGetProperty("ServicioRest", out var seccion)) return new ServicioRestOpciones();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var opciones = new ServicioRestOpciones();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if (seccion.TryGetProperty("UrlBase", out var u) &amp;&amp; u.GetString() is { Length: &gt; 0 } url) opciones.UrlBase = url;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if (seccion.TryGetProperty("TiempoEsperaSegundos", out var t) &amp;&amp; t.TryGetInt32(out var segundos) &amp;&amp; segundos &gt; 0)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opciones.TiempoEsperaSegundos = segundos;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}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return opciones;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}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}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}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417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Cliente Web – Arquitectura MVC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just">
              <a:lnSpc>
                <a:spcPct val="107000"/>
              </a:lnSpc>
              <a:spcBef>
                <a:spcPts val="601"/>
              </a:spcBef>
              <a:buClr>
                <a:srgbClr val="4590B8"/>
              </a:buClr>
              <a:buFont typeface="Noto Sans Symbols"/>
              <a:buChar char="∙"/>
            </a:pPr>
            <a:r>
              <a:rPr lang="es-ES" sz="1600" b="0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Controllers, Models, Services y Views (Razor). El token queda en la sesión del servidor web.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1" name="Picture 123" descr="image2.png"/>
          <p:cNvPicPr/>
          <p:nvPr/>
        </p:nvPicPr>
        <p:blipFill>
          <a:blip r:embed="rId1"/>
          <a:stretch/>
        </p:blipFill>
        <p:spPr>
          <a:xfrm>
            <a:off x="3195360" y="3300120"/>
            <a:ext cx="3360240" cy="3407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417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Cliente Web – Paso 5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just">
              <a:lnSpc>
                <a:spcPct val="107000"/>
              </a:lnSpc>
              <a:spcBef>
                <a:spcPts val="601"/>
              </a:spcBef>
              <a:buClr>
                <a:srgbClr val="4590B8"/>
              </a:buClr>
              <a:buFont typeface="Noto Sans Symbols"/>
              <a:buChar char="∙"/>
            </a:pPr>
            <a:r>
              <a:rPr lang="es-ES" sz="1600" b="0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En launchSettings.json se configura el puerto 5081 (el 5080 lo usa el servidor REST).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5" name="Picture 123" descr="image2.png"/>
          <p:cNvPicPr/>
          <p:nvPr/>
        </p:nvPicPr>
        <p:blipFill>
          <a:blip r:embed="rId1"/>
          <a:stretch/>
        </p:blipFill>
        <p:spPr>
          <a:xfrm>
            <a:off x="731160" y="3300120"/>
            <a:ext cx="8288280" cy="2966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417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Cliente Movil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just">
              <a:lnSpc>
                <a:spcPct val="107000"/>
              </a:lnSpc>
              <a:spcBef>
                <a:spcPts val="601"/>
              </a:spcBef>
              <a:buClr>
                <a:srgbClr val="4590B8"/>
              </a:buClr>
              <a:buFont typeface="Noto Sans Symbols"/>
              <a:buChar char="∙"/>
            </a:pPr>
            <a:r>
              <a:rPr lang="es-ES" sz="1600" b="0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Se crea WS_ConversionUnidades_Donet_CLIMOV_GR8 con paquetes ec.edu.monster.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9" name=""/>
          <p:cNvPicPr/>
          <p:nvPr/>
        </p:nvPicPr>
        <p:blipFill>
          <a:blip r:embed="rId1"/>
          <a:stretch/>
        </p:blipFill>
        <p:spPr>
          <a:xfrm>
            <a:off x="2880000" y="2880000"/>
            <a:ext cx="3600000" cy="3621600"/>
          </a:xfrm>
          <a:prstGeom prst="rect">
            <a:avLst/>
          </a:prstGeom>
          <a:noFill/>
          <a:ln w="3816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417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Cliente Móvil – Paso 3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just">
              <a:lnSpc>
                <a:spcPct val="107000"/>
              </a:lnSpc>
              <a:spcBef>
                <a:spcPts val="601"/>
              </a:spcBef>
              <a:buClr>
                <a:srgbClr val="4590B8"/>
              </a:buClr>
              <a:buFont typeface="Noto Sans Symbols"/>
              <a:buChar char="∙"/>
            </a:pPr>
            <a:r>
              <a:rPr lang="es-ES" sz="1600" b="0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En el archivo .env se configura URL_BASE del servidor REST (10.0.2.2 desde el emulador).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3" name="Picture 123" descr="image2.png"/>
          <p:cNvPicPr/>
          <p:nvPr/>
        </p:nvPicPr>
        <p:blipFill>
          <a:blip r:embed="rId1"/>
          <a:stretch/>
        </p:blipFill>
        <p:spPr>
          <a:xfrm>
            <a:off x="731160" y="3300120"/>
            <a:ext cx="8288280" cy="2589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417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Cliente Móvil – Paso 4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just">
              <a:lnSpc>
                <a:spcPct val="107000"/>
              </a:lnSpc>
              <a:spcBef>
                <a:spcPts val="601"/>
              </a:spcBef>
              <a:buClr>
                <a:srgbClr val="4590B8"/>
              </a:buClr>
              <a:buFont typeface="Noto Sans Symbols"/>
              <a:buChar char="∙"/>
            </a:pPr>
            <a:r>
              <a:rPr lang="es-ES" sz="1600" b="0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Arquitectura MVC: controlador (ViewModels), modelo, servicio (RestCliente) y vista.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7" name="Picture 123" descr="image2.png"/>
          <p:cNvPicPr/>
          <p:nvPr/>
        </p:nvPicPr>
        <p:blipFill>
          <a:blip r:embed="rId1"/>
          <a:stretch/>
        </p:blipFill>
        <p:spPr>
          <a:xfrm>
            <a:off x="3403800" y="3300120"/>
            <a:ext cx="2943360" cy="3407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156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Cliente Móvil – Paso 5: AndroidManifest.xml (1/2)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just">
              <a:lnSpc>
                <a:spcPct val="107000"/>
              </a:lnSpc>
              <a:spcBef>
                <a:spcPts val="601"/>
              </a:spcBef>
              <a:buClr>
                <a:srgbClr val="4590B8"/>
              </a:buClr>
              <a:buFont typeface="Noto Sans Symbols"/>
              <a:buChar char="∙"/>
            </a:pPr>
            <a:r>
              <a:rPr lang="es-ES" sz="1600" b="0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Permiso de INTERNET y tráfico HTTP (usesCleartextTraffic).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Box 123"/>
          <p:cNvSpPr/>
          <p:nvPr/>
        </p:nvSpPr>
        <p:spPr>
          <a:xfrm>
            <a:off x="731160" y="3186720"/>
            <a:ext cx="8288280" cy="237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&lt;?xml version="1.0" encoding="utf-8"?&gt;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&lt;manifest xmlns:android="http://schemas.android.com/apk/res/android"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xmlns:tools="http://schemas.android.com/tools"&gt;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&lt;uses-permission android:name="android.permission.INTERNET" /&gt;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&lt;application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android:allowBackup="true"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android:usesCleartextTraffic="true"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android:dataExtractionRules="@xml/data_extraction_rules"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android:fullBackupContent="@xml/backup_rules"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android:icon="@mipmap/ic_launcher"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android:label="@string/app_name"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android:roundIcon="@mipmap/ic_launcher_round"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android:supportsRtl="true"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android:theme="@style/Theme.WS_ConversionUnidades_Java_CLIMOV_GR8"&gt;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&lt;activity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156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Cliente Móvil – Paso 5: AndroidManifest.xml (2/2)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7000"/>
              </a:lnSpc>
              <a:spcBef>
                <a:spcPts val="601"/>
              </a:spcBef>
              <a:buNone/>
            </a:pP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123"/>
          <p:cNvSpPr/>
          <p:nvPr/>
        </p:nvSpPr>
        <p:spPr>
          <a:xfrm>
            <a:off x="731160" y="3186720"/>
            <a:ext cx="8288280" cy="237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android:name=".MainActivity"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android:exported="true"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android:label="@string/app_name"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android:theme="@style/Theme.WS_ConversionUnidades_Java_CLIMOV_GR8"&gt;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&lt;intent-filter&gt;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&lt;action android:name="android.intent.action.MAIN" /&gt;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    &lt;category android:name="android.intent.category.LAUNCHER" /&gt;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    &lt;/intent-filter&gt;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    &lt;/activity&gt;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&lt;/application&gt;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&lt;/manifest&gt;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156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Cliente Móvil – Paso 6: Dependencias (1/2)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just">
              <a:lnSpc>
                <a:spcPct val="107000"/>
              </a:lnSpc>
              <a:spcBef>
                <a:spcPts val="601"/>
              </a:spcBef>
              <a:buClr>
                <a:srgbClr val="4590B8"/>
              </a:buClr>
              <a:buFont typeface="Noto Sans Symbols"/>
              <a:buChar char="∙"/>
            </a:pPr>
            <a:r>
              <a:rPr lang="es-ES" sz="1600" b="0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Sin librerías de terceros para REST (ya no se necesita ksoap2).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Box 123"/>
          <p:cNvSpPr/>
          <p:nvPr/>
        </p:nvSpPr>
        <p:spPr>
          <a:xfrm>
            <a:off x="731160" y="3186720"/>
            <a:ext cx="8288280" cy="237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dependencies {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implementation(libs.androidx.core.ktx)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implementation(libs.androidx.lifecycle.runtime.ktx)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implementation(libs.androidx.activity.compose)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implementation(platform(libs.androidx.compose.bom))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implementation(libs.androidx.compose.ui)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implementation(libs.androidx.compose.ui.graphics)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implementation(libs.androidx.compose.ui.tooling.preview)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implementation(libs.androidx.compose.material3)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implementation(libs.androidx.navigation.compose)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testImplementation(libs.junit)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androidTestImplementation(libs.androidx.junit)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androidTestImplementation(libs.androidx.espresso.core)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androidTestImplementation(platform(libs.androidx.compose.bom))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androidTestImplementation(libs.androidx.compose.ui.test.junit4)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debugImplementation(libs.androidx.compose.ui.tooling)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156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Cliente Móvil – Paso 6: Dependencias (2/2)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7000"/>
              </a:lnSpc>
              <a:spcBef>
                <a:spcPts val="601"/>
              </a:spcBef>
              <a:buNone/>
            </a:pP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Box 123"/>
          <p:cNvSpPr/>
          <p:nvPr/>
        </p:nvSpPr>
        <p:spPr>
          <a:xfrm>
            <a:off x="731160" y="3186720"/>
            <a:ext cx="8288280" cy="237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    debugImplementation(libs.androidx.compose.ui.test.manifest)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Arial"/>
              </a:rPr>
              <a:t>}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417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Cliente Web en funcionamiento: Login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just">
              <a:lnSpc>
                <a:spcPct val="107000"/>
              </a:lnSpc>
              <a:spcBef>
                <a:spcPts val="601"/>
              </a:spcBef>
              <a:buClr>
                <a:srgbClr val="4590B8"/>
              </a:buClr>
              <a:buFont typeface="Noto Sans Symbols"/>
              <a:buChar char="∙"/>
            </a:pPr>
            <a:r>
              <a:rPr lang="es-ES" sz="1600" b="0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Ilustración 15: Login.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7" name="Picture 123" descr="image2.png"/>
          <p:cNvPicPr/>
          <p:nvPr/>
        </p:nvPicPr>
        <p:blipFill>
          <a:blip r:embed="rId1"/>
          <a:stretch/>
        </p:blipFill>
        <p:spPr>
          <a:xfrm>
            <a:off x="2149200" y="3300120"/>
            <a:ext cx="5452560" cy="3407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417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Cliente Web en funcionamiento: Conversor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just">
              <a:lnSpc>
                <a:spcPct val="107000"/>
              </a:lnSpc>
              <a:spcBef>
                <a:spcPts val="601"/>
              </a:spcBef>
              <a:buClr>
                <a:srgbClr val="4590B8"/>
              </a:buClr>
              <a:buFont typeface="Noto Sans Symbols"/>
              <a:buChar char="∙"/>
            </a:pPr>
            <a:r>
              <a:rPr lang="es-ES" sz="1600" b="0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Ilustración 16: Conversor.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1" name="Picture 123" descr="image2.png"/>
          <p:cNvPicPr/>
          <p:nvPr/>
        </p:nvPicPr>
        <p:blipFill>
          <a:blip r:embed="rId1"/>
          <a:stretch/>
        </p:blipFill>
        <p:spPr>
          <a:xfrm>
            <a:off x="2149200" y="3300120"/>
            <a:ext cx="5452560" cy="3407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417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Cliente Móvil en funcionamiento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just">
              <a:lnSpc>
                <a:spcPct val="107000"/>
              </a:lnSpc>
              <a:spcBef>
                <a:spcPts val="601"/>
              </a:spcBef>
              <a:buClr>
                <a:srgbClr val="4590B8"/>
              </a:buClr>
              <a:buFont typeface="Noto Sans Symbols"/>
              <a:buChar char="∙"/>
            </a:pPr>
            <a:r>
              <a:rPr lang="es-ES" sz="1600" b="0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Ilustración 17: Login y conversor del cliente móvil.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5" name="Picture 123" descr="image2.png"/>
          <p:cNvPicPr/>
          <p:nvPr/>
        </p:nvPicPr>
        <p:blipFill>
          <a:blip r:embed="rId1"/>
          <a:stretch/>
        </p:blipFill>
        <p:spPr>
          <a:xfrm>
            <a:off x="1577520" y="3300120"/>
            <a:ext cx="6595920" cy="3407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417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Cliente Consola en funcionamiento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just">
              <a:lnSpc>
                <a:spcPct val="107000"/>
              </a:lnSpc>
              <a:spcBef>
                <a:spcPts val="601"/>
              </a:spcBef>
              <a:buClr>
                <a:srgbClr val="4590B8"/>
              </a:buClr>
              <a:buFont typeface="Noto Sans Symbols"/>
              <a:buChar char="∙"/>
            </a:pPr>
            <a:r>
              <a:rPr lang="es-ES" sz="1600" b="0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Ilustración 18: Login y conversor del cliente Consola.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9" name="Picture 123" descr="image2.png"/>
          <p:cNvPicPr/>
          <p:nvPr/>
        </p:nvPicPr>
        <p:blipFill>
          <a:blip r:embed="rId1"/>
          <a:stretch/>
        </p:blipFill>
        <p:spPr>
          <a:xfrm>
            <a:off x="3361680" y="3300120"/>
            <a:ext cx="3027960" cy="3407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417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Cliente Escritorio en funcionamiento: Login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just">
              <a:lnSpc>
                <a:spcPct val="107000"/>
              </a:lnSpc>
              <a:spcBef>
                <a:spcPts val="601"/>
              </a:spcBef>
              <a:buClr>
                <a:srgbClr val="4590B8"/>
              </a:buClr>
              <a:buFont typeface="Noto Sans Symbols"/>
              <a:buChar char="∙"/>
            </a:pPr>
            <a:r>
              <a:rPr lang="es-ES" sz="1600" b="0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Ilustración 19: Login y conversor del cliente Escritorio.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3" name=""/>
          <p:cNvPicPr/>
          <p:nvPr/>
        </p:nvPicPr>
        <p:blipFill>
          <a:blip r:embed="rId1"/>
          <a:stretch/>
        </p:blipFill>
        <p:spPr>
          <a:xfrm>
            <a:off x="2700000" y="2832120"/>
            <a:ext cx="3905280" cy="3647880"/>
          </a:xfrm>
          <a:prstGeom prst="rect">
            <a:avLst/>
          </a:prstGeom>
          <a:noFill/>
          <a:ln w="3816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1417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buClr>
                <a:srgbClr val="4590B8"/>
              </a:buClr>
              <a:buFont typeface="Noto Sans Symbols"/>
              <a:buChar char="∙"/>
            </a:pPr>
            <a:r>
              <a:rPr lang="es-ES" sz="2000" b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Servidor en funcionamiento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just">
              <a:lnSpc>
                <a:spcPct val="107000"/>
              </a:lnSpc>
              <a:spcBef>
                <a:spcPts val="601"/>
              </a:spcBef>
              <a:buClr>
                <a:srgbClr val="4590B8"/>
              </a:buClr>
              <a:buFont typeface="Noto Sans Symbols"/>
              <a:buChar char="∙"/>
            </a:pPr>
            <a:r>
              <a:rPr lang="es-ES" sz="1600" b="0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Ilustración 20: 115 pruebas xUnit superadas del servidor REST.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7" name="Picture 123" descr="image2.png"/>
          <p:cNvPicPr/>
          <p:nvPr/>
        </p:nvPicPr>
        <p:blipFill>
          <a:blip r:embed="rId1"/>
          <a:stretch/>
        </p:blipFill>
        <p:spPr>
          <a:xfrm>
            <a:off x="731160" y="3300120"/>
            <a:ext cx="8288280" cy="1742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2652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spcBef>
                <a:spcPts val="601"/>
              </a:spcBef>
              <a:buClr>
                <a:srgbClr val="4590B8"/>
              </a:buClr>
              <a:buFont typeface="Noto Sans Symbols"/>
              <a:buChar char="∙"/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Se comprobó que REST con JSON y un envelope de respuesta único permite una comunicación fluida e independiente de la plataforma, integrando clientes Web, Consola, Escritorio y Móvil con un núcleo en ASP.NET Core Web API.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just">
              <a:lnSpc>
                <a:spcPct val="107000"/>
              </a:lnSpc>
              <a:spcBef>
                <a:spcPts val="601"/>
              </a:spcBef>
              <a:buClr>
                <a:srgbClr val="4590B8"/>
              </a:buClr>
              <a:buFont typeface="Noto Sans Symbols"/>
              <a:buChar char="∙"/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MVC junto con SOA facilitó la modularidad: el paso de SOAP a REST solo afectó la capa de exposición y la lógica de negocio de TI.1.2 se reutilizó sin cambios.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PlaceHolder 2"/>
          <p:cNvSpPr>
            <a:spLocks noGrp="1"/>
          </p:cNvSpPr>
          <p:nvPr>
            <p:ph/>
          </p:nvPr>
        </p:nvSpPr>
        <p:spPr>
          <a:xfrm>
            <a:off x="581040" y="1950120"/>
            <a:ext cx="8588520" cy="2652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>
              <a:lnSpc>
                <a:spcPct val="107000"/>
              </a:lnSpc>
              <a:spcBef>
                <a:spcPts val="601"/>
              </a:spcBef>
              <a:buClr>
                <a:srgbClr val="4590B8"/>
              </a:buClr>
              <a:buFont typeface="Noto Sans Symbols"/>
              <a:buChar char="∙"/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Se recomienda habilitar HTTPS en Kestrel o IIS para que los tokens Bearer y los datos JSON viajen cifrados.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just">
              <a:lnSpc>
                <a:spcPct val="107000"/>
              </a:lnSpc>
              <a:spcBef>
                <a:spcPts val="601"/>
              </a:spcBef>
              <a:buClr>
                <a:srgbClr val="4590B8"/>
              </a:buClr>
              <a:buFont typeface="Noto Sans Symbols"/>
              <a:buChar char="∙"/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Se sugiere agregar vencimiento a los tokens (por ejemplo JWT) y documentar la API con OpenAPI/Swagger.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Google Shape;123;p16"/>
          <p:cNvSpPr/>
          <p:nvPr/>
        </p:nvSpPr>
        <p:spPr>
          <a:xfrm>
            <a:off x="9383760" y="0"/>
            <a:ext cx="2808000" cy="6857640"/>
          </a:xfrm>
          <a:prstGeom prst="rect">
            <a:avLst/>
          </a:prstGeom>
          <a:solidFill>
            <a:schemeClr val="accent1"/>
          </a:solidFill>
          <a:ln cap="rnd" w="22225">
            <a:solidFill>
              <a:srgbClr val="1224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OBJETIVO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SERVIDOR REST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CONSOLA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ESCRITORIO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WEB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CREACIÓN DEL PROYECTO – CLIENTE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763200" lvl="1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FUNCIONAMIENTO DEL SISTEMA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4590B8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chemeClr val="lt1"/>
                </a:solidFill>
                <a:effectLst/>
                <a:uFillTx/>
                <a:latin typeface="Gill Sans"/>
                <a:ea typeface="Gill Sans"/>
              </a:rPr>
              <a:t>CONCLUSIONES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>
              <a:lnSpc>
                <a:spcPct val="100000"/>
              </a:lnSpc>
              <a:spcBef>
                <a:spcPts val="839"/>
              </a:spcBef>
              <a:buClr>
                <a:srgbClr val="FFFF00"/>
              </a:buClr>
              <a:buFont typeface="Noto Sans Symbols"/>
              <a:buChar char="◼"/>
              <a:tabLst>
                <a:tab pos="0" algn="l"/>
              </a:tabLst>
            </a:pPr>
            <a:r>
              <a:rPr lang="es-ES" sz="1200" b="1" u="none" strike="noStrike">
                <a:solidFill>
                  <a:srgbClr val="FFFF00"/>
                </a:solidFill>
                <a:effectLst/>
                <a:uFillTx/>
                <a:latin typeface="Gill Sans"/>
                <a:ea typeface="Gill Sans"/>
              </a:rPr>
              <a:t>RECOMENDACIONES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839"/>
              </a:spcBef>
              <a:tabLst>
                <a:tab pos="0" algn="l"/>
              </a:tabLst>
            </a:pP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</TotalTime>
  <Application>LibreOffice/26.8.1.1$Windows_X86_64 LibreOffice_project/bf6ef2662401c7d6dce671ab4deb26ee0af3a7c1</Application>
  <AppVersion>15.0000</AppVersion>
  <Words>10211</Words>
  <Paragraphs>1887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es-ES</dc:language>
  <cp:lastModifiedBy/>
  <dcterms:modified xsi:type="dcterms:W3CDTF">2026-10-27T23:22:26Z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77</vt:i4>
  </property>
  <property fmtid="{D5CDD505-2E9C-101B-9397-08002B2CF9AE}" pid="3" name="PresentationFormat">
    <vt:lpwstr>Panorámica</vt:lpwstr>
  </property>
  <property fmtid="{D5CDD505-2E9C-101B-9397-08002B2CF9AE}" pid="4" name="Slides">
    <vt:i4>77</vt:i4>
  </property>
</Properties>
</file>