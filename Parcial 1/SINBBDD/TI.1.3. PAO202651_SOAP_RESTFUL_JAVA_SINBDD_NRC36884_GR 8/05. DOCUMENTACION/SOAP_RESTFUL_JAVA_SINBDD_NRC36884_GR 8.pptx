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337" r:id="rId4"/>
    <p:sldId id="338" r:id="rId5"/>
    <p:sldId id="411" r:id="rId6"/>
    <p:sldId id="412" r:id="rId7"/>
    <p:sldId id="413" r:id="rId8"/>
    <p:sldId id="414" r:id="rId9"/>
    <p:sldId id="415" r:id="rId10"/>
    <p:sldId id="416" r:id="rId11"/>
    <p:sldId id="417" r:id="rId12"/>
    <p:sldId id="418" r:id="rId13"/>
    <p:sldId id="419" r:id="rId14"/>
    <p:sldId id="423" r:id="rId15"/>
    <p:sldId id="424" r:id="rId16"/>
    <p:sldId id="425" r:id="rId17"/>
    <p:sldId id="426" r:id="rId18"/>
    <p:sldId id="427" r:id="rId19"/>
    <p:sldId id="428" r:id="rId20"/>
    <p:sldId id="429" r:id="rId21"/>
    <p:sldId id="430" r:id="rId22"/>
    <p:sldId id="431" r:id="rId23"/>
    <p:sldId id="432" r:id="rId24"/>
    <p:sldId id="434" r:id="rId25"/>
    <p:sldId id="435" r:id="rId26"/>
    <p:sldId id="436" r:id="rId27"/>
    <p:sldId id="437" r:id="rId28"/>
    <p:sldId id="438" r:id="rId29"/>
    <p:sldId id="439" r:id="rId30"/>
    <p:sldId id="440" r:id="rId31"/>
    <p:sldId id="441" r:id="rId32"/>
    <p:sldId id="442" r:id="rId33"/>
    <p:sldId id="443" r:id="rId34"/>
    <p:sldId id="444" r:id="rId35"/>
    <p:sldId id="445" r:id="rId36"/>
    <p:sldId id="446" r:id="rId37"/>
    <p:sldId id="447" r:id="rId38"/>
    <p:sldId id="448" r:id="rId39"/>
    <p:sldId id="449" r:id="rId40"/>
    <p:sldId id="450" r:id="rId41"/>
    <p:sldId id="451" r:id="rId42"/>
    <p:sldId id="452" r:id="rId43"/>
    <p:sldId id="453" r:id="rId44"/>
    <p:sldId id="454" r:id="rId45"/>
    <p:sldId id="455" r:id="rId46"/>
    <p:sldId id="456" r:id="rId47"/>
    <p:sldId id="457" r:id="rId48"/>
    <p:sldId id="458" r:id="rId49"/>
    <p:sldId id="459" r:id="rId50"/>
    <p:sldId id="460" r:id="rId51"/>
    <p:sldId id="461" r:id="rId52"/>
    <p:sldId id="462" r:id="rId53"/>
    <p:sldId id="463" r:id="rId54"/>
    <p:sldId id="464" r:id="rId55"/>
    <p:sldId id="465" r:id="rId56"/>
    <p:sldId id="466" r:id="rId57"/>
    <p:sldId id="467" r:id="rId58"/>
    <p:sldId id="469" r:id="rId59"/>
    <p:sldId id="470" r:id="rId60"/>
    <p:sldId id="471" r:id="rId61"/>
    <p:sldId id="472" r:id="rId62"/>
    <p:sldId id="409" r:id="rId63"/>
    <p:sldId id="410" r:id="rId64"/>
  </p:sldIdLst>
  <p:sldSz cx="12192000" cy="6858000"/>
  <p:notesSz cx="6858000" cy="9144000"/>
  <p:embeddedFontLst>
    <p:embeddedFont>
      <p:font typeface="Cambria" panose="02040503050406030204" pitchFamily="18" charset="0"/>
      <p:regular r:id="rId66"/>
      <p:bold r:id="rId67"/>
      <p:italic r:id="rId68"/>
      <p:boldItalic r:id="rId69"/>
    </p:embeddedFont>
    <p:embeddedFont>
      <p:font typeface="Gill Sans" panose="020B0604020202020204" charset="0"/>
      <p:regular r:id="rId70"/>
      <p:bold r:id="rId7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1.fntdata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5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 panose="020B0502020104020203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 panose="020B0502020104020203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 panose="020B0502020104020203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19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51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 panose="020B0502020104020203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C"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19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51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2D58AC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  <a:defRPr sz="2800" b="0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401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914400" marR="0" lvl="1" indent="-32194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1371600" marR="0" lvl="2" indent="-31051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2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lang="es-ES"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 panose="020B0502020104020203"/>
              <a:buNone/>
            </a:pPr>
            <a:r>
              <a:rPr lang="es-ES">
                <a:solidFill>
                  <a:schemeClr val="lt1"/>
                </a:solidFill>
              </a:rPr>
              <a:t>MANUAL
CONVERSIÓN DE UNIDADES
RESTFUL JAVA</a:t>
            </a:r>
            <a:br>
              <a:rPr lang="es-ES">
                <a:solidFill>
                  <a:schemeClr val="lt1"/>
                </a:solidFill>
              </a:rPr>
            </a:br>
            <a:endParaRPr lang="es-ES">
              <a:solidFill>
                <a:schemeClr val="lt1"/>
              </a:solidFill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"/>
          </p:nvPr>
        </p:nvSpPr>
        <p:spPr>
          <a:xfrm>
            <a:off x="599226" y="4572000"/>
            <a:ext cx="4261500" cy="18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2"/>
              <a:buFont typeface="Arial" panose="020B0604020202020204"/>
              <a:buNone/>
            </a:pP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1472"/>
              <a:buFont typeface="Arial" panose="020B0604020202020204"/>
              <a:buNone/>
            </a:pPr>
            <a:r>
              <a:rPr lang="es-ES" b="1" dirty="0">
                <a:solidFill>
                  <a:schemeClr val="lt1"/>
                </a:solidFill>
              </a:rPr>
              <a:t>INTEGRANTES:</a:t>
            </a:r>
            <a:r>
              <a:rPr lang="es-ES" dirty="0">
                <a:solidFill>
                  <a:schemeClr val="lt1"/>
                </a:solidFill>
              </a:rPr>
              <a:t> 	GUALLICHICO JOSUE</a:t>
            </a:r>
          </a:p>
          <a:p>
            <a:pPr marL="0" lvl="0" indent="0" algn="l" rtl="0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1472"/>
              <a:buFont typeface="Arial" panose="020B0604020202020204"/>
              <a:buNone/>
            </a:pPr>
            <a:r>
              <a:rPr lang="es-ES" dirty="0">
                <a:solidFill>
                  <a:schemeClr val="lt1"/>
                </a:solidFill>
              </a:rPr>
              <a:t>		GRANDA JUAN</a:t>
            </a:r>
          </a:p>
          <a:p>
            <a:pPr marL="0" lvl="0" indent="0" algn="l" rtl="0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1472"/>
              <a:buFont typeface="Arial" panose="020B0604020202020204"/>
              <a:buNone/>
            </a:pPr>
            <a:r>
              <a:rPr lang="es-ES" dirty="0">
                <a:solidFill>
                  <a:schemeClr val="lt1"/>
                </a:solidFill>
              </a:rPr>
              <a:t>		ASMAL KEVIN </a:t>
            </a:r>
            <a:endParaRPr b="1" dirty="0">
              <a:solidFill>
                <a:schemeClr val="lt1"/>
              </a:solidFill>
            </a:endParaRPr>
          </a:p>
        </p:txBody>
      </p:sp>
      <p:pic>
        <p:nvPicPr>
          <p:cNvPr id="98" name="Google Shape;98;p13" descr="Resultado de imagen para esp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8593833" y="5322756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 dirty="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FECHA:  </a:t>
            </a:r>
            <a:r>
              <a:rPr lang="es-EC" altLang="es-ES" sz="1600" b="1" i="0" u="none" strike="noStrike" cap="none" dirty="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28</a:t>
            </a:r>
            <a:r>
              <a:rPr lang="es-ES" sz="1600" b="1" i="0" u="none" strike="noStrike" cap="none" dirty="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/1</a:t>
            </a:r>
            <a:r>
              <a:rPr lang="es-EC" altLang="es-ES" sz="1600" b="1" i="0" u="none" strike="noStrike" cap="none" dirty="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0</a:t>
            </a:r>
            <a:r>
              <a:rPr lang="es-ES" sz="1600" b="1" i="0" u="none" strike="noStrike" cap="none" dirty="0">
                <a:solidFill>
                  <a:srgbClr val="FFFFFF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/2026
ING: CAMPAÑA MAURICIO</a:t>
            </a:r>
            <a:endParaRPr sz="1600" b="0" i="0" u="none" strike="noStrike" cap="none" dirty="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endParaRPr sz="1600" b="1" i="0" u="none" strike="noStrike" cap="none" dirty="0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 panose="020B0502020104020203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 panose="020B0502020104020203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306070" lvl="0" indent="-3060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endParaRPr lang="es-ES" dirty="0">
              <a:solidFill>
                <a:schemeClr val="lt1"/>
              </a:solidFill>
            </a:endParaRPr>
          </a:p>
          <a:p>
            <a:pPr>
              <a:spcBef>
                <a:spcPts val="870"/>
              </a:spcBef>
            </a:pPr>
            <a:r>
              <a:rPr lang="es-ES" dirty="0">
                <a:solidFill>
                  <a:schemeClr val="lt1"/>
                </a:solidFill>
              </a:rPr>
              <a:t>DESARROLLO</a:t>
            </a:r>
          </a:p>
          <a:p>
            <a:pPr>
              <a:spcBef>
                <a:spcPts val="870"/>
              </a:spcBef>
            </a:pPr>
            <a:r>
              <a:rPr lang="es-ES" dirty="0">
                <a:solidFill>
                  <a:schemeClr val="lt1"/>
                </a:solidFill>
              </a:rPr>
              <a:t>OBJETIVO</a:t>
            </a:r>
          </a:p>
          <a:p>
            <a:pPr marL="629920" lvl="1" indent="-32004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lang="es-ES" dirty="0">
                <a:solidFill>
                  <a:schemeClr val="lt1"/>
                </a:solidFill>
              </a:rPr>
              <a:t>CREACIÓN DEL SERVIDOR REST</a:t>
            </a:r>
          </a:p>
          <a:p>
            <a:pPr marL="629920" lvl="1" indent="-32004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lang="es-ES" sz="1800" dirty="0">
                <a:solidFill>
                  <a:schemeClr val="lt1"/>
                </a:solidFill>
              </a:rPr>
              <a:t>CREACIÓN DEL PROYECTO – CLIENTE CONSOLA</a:t>
            </a:r>
          </a:p>
          <a:p>
            <a:pPr marL="629920" lvl="1" indent="-32004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lang="es-ES" sz="1800" dirty="0">
                <a:solidFill>
                  <a:schemeClr val="lt1"/>
                </a:solidFill>
              </a:rPr>
              <a:t>CREACIÓN DEL PROYECTO – CLIENTE ESCRITORIO</a:t>
            </a:r>
          </a:p>
          <a:p>
            <a:pPr marL="629920" lvl="1" indent="-32004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lang="es-ES" sz="1800" dirty="0">
                <a:solidFill>
                  <a:schemeClr val="lt1"/>
                </a:solidFill>
              </a:rPr>
              <a:t>CREACIÓN DEL PROYECTO – CLIENTE WEB</a:t>
            </a:r>
          </a:p>
          <a:p>
            <a:pPr marL="629920" lvl="1" indent="-32004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lang="es-ES" sz="1800" dirty="0">
                <a:solidFill>
                  <a:schemeClr val="lt1"/>
                </a:solidFill>
              </a:rPr>
              <a:t>CREACIÓN DEL PROYECTO – CLIENTE MÓVIL</a:t>
            </a:r>
          </a:p>
          <a:p>
            <a:pPr marL="629920" lvl="1" indent="-32004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72"/>
              <a:buChar char="◼"/>
            </a:pPr>
            <a:r>
              <a:rPr lang="es-ES" sz="1800" dirty="0">
                <a:solidFill>
                  <a:schemeClr val="lt1"/>
                </a:solidFill>
              </a:rPr>
              <a:t>FUNCIONAMIENTO DEL SISTEMA</a:t>
            </a:r>
          </a:p>
          <a:p>
            <a:pPr marL="306070" marR="0" lvl="0" indent="-306070" algn="l" rtl="0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SzPts val="1656"/>
              <a:buChar char="◼"/>
            </a:pPr>
            <a:r>
              <a:rPr lang="es-ES" dirty="0">
                <a:solidFill>
                  <a:schemeClr val="lt1"/>
                </a:solidFill>
              </a:rPr>
              <a:t>CONCLUSIONES</a:t>
            </a:r>
          </a:p>
          <a:p>
            <a:pPr marL="306070" marR="0" lvl="0" indent="-306070" algn="l" rtl="0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SzPts val="1656"/>
              <a:buChar char="◼"/>
            </a:pPr>
            <a:r>
              <a:rPr lang="es-ES" dirty="0">
                <a:solidFill>
                  <a:schemeClr val="lt1"/>
                </a:solidFill>
              </a:rPr>
              <a:t>RECOMENDACIONES</a:t>
            </a:r>
          </a:p>
        </p:txBody>
      </p:sp>
      <p:pic>
        <p:nvPicPr>
          <p:cNvPr id="108" name="Google Shape;108;p14" descr="Resultado de imagen para AGENDA 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 panose="020B0502020104020203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2765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1.1  Objetivo general
Desarrollar la documentación técnica del sistema de conversión de magnitudes (longitud, masa y temperatura) mediante una API RESTful en Java, basada en Jakarta EE 11 y JAX-RS, con respuestas JSON, autenticación por token y clientes multiplataforma, sin utilizar base de datos.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8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8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295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1.2  Objetivos específicos
Describir la implementación del servicio REST con Java/</a:t>
            </a:r>
            <a:r>
              <a:rPr lang="es-ES" sz="2000" b="1" dirty="0" err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Jakarta</a:t>
            </a: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 EE: recursos JAX-RS, contrato JSON, lógica de conversión y configuración del servidor Payara. Documentar la autenticación Bearer, las validaciones y el funcionamiento de los clientes de consola, escritorio, web y móvil.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1: Creación del proyecto servidor Java
Se prepara el proyecto Maven WS_ConversionUnidades_Java_GR8 y se configura Jakarta EE 11 para publicar los recursos REST con JAX-RS.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731192" y="3742451"/>
            <a:ext cx="8288808" cy="1507056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>
              <a:defRPr sz="1800" b="1">
                <a:solidFill>
                  <a:srgbClr val="194C82"/>
                </a:solidFill>
                <a:latin typeface="Aptos"/>
              </a:defRPr>
            </a:pPr>
            <a:r>
              <a:t>Java / Maven</a:t>
            </a:r>
            <a:br/>
            <a:r>
              <a:t>Proyecto del servidor REST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2: Nombre y configuración del proyecto
El proyecto del servidor se identifica como WS_ConversionUnidades_Java_GR8. Maven gestiona las dependencias y genera un archivo WAR para desplegar en Payara.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803582" y="3953415"/>
            <a:ext cx="8288807" cy="1725425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>
              <a:defRPr sz="1800" b="1">
                <a:solidFill>
                  <a:srgbClr val="194C82"/>
                </a:solidFill>
                <a:latin typeface="Aptos"/>
              </a:defRPr>
            </a:pPr>
            <a:r>
              <a:t>WS_ConversionUnidades_Java_GR8</a:t>
            </a:r>
            <a:br/>
            <a:r>
              <a:t>Proyecto Maven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3: Estructuración del proyecto
Se separan responsabilidades en api/recurso, api/soporte, servicio, modelo, seguridad y DTO. Las pruebas unitarias se organizan en src/test/java con JUnit.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3227070" y="3602355"/>
            <a:ext cx="4290695" cy="2687955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>
              <a:defRPr sz="1800" b="1">
                <a:solidFill>
                  <a:srgbClr val="194C82"/>
                </a:solidFill>
                <a:latin typeface="Aptos"/>
              </a:defRPr>
            </a:pPr>
            <a:r>
              <a:t>api · servicio · modelo</a:t>
            </a:r>
            <a:br/>
            <a:r>
              <a:t>seguridad · DTO · pruebas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4: Contrato de respuesta JSON (1/2)
REST no requiere WSDL. Las respuestas usan un envelope uniforme con las claves estado, codigo, mensaje y resultado, construido por RespuestaAPI.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10237" y="3106817"/>
            <a:ext cx="8288808" cy="3461131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lang="en-US" sz="1000" dirty="0">
                <a:latin typeface="Courier New" panose="02070309020205020404"/>
              </a:rPr>
              <a:t>    @Override
    public Response </a:t>
            </a:r>
            <a:r>
              <a:rPr lang="en-US" sz="1000" dirty="0" err="1">
                <a:latin typeface="Courier New" panose="02070309020205020404"/>
              </a:rPr>
              <a:t>toResponse</a:t>
            </a:r>
            <a:r>
              <a:rPr lang="en-US" sz="1000" dirty="0">
                <a:latin typeface="Courier New" panose="02070309020205020404"/>
              </a:rPr>
              <a:t>(Throwable error) {
        if (error </a:t>
            </a:r>
            <a:r>
              <a:rPr lang="en-US" sz="1000" dirty="0" err="1">
                <a:latin typeface="Courier New" panose="02070309020205020404"/>
              </a:rPr>
              <a:t>instanceof</a:t>
            </a:r>
            <a:r>
              <a:rPr lang="en-US" sz="1000" dirty="0">
                <a:latin typeface="Courier New" panose="02070309020205020404"/>
              </a:rPr>
              <a:t> </a:t>
            </a:r>
            <a:r>
              <a:rPr lang="en-US" sz="1000" dirty="0" err="1">
                <a:latin typeface="Courier New" panose="02070309020205020404"/>
              </a:rPr>
              <a:t>ErrorAPI</a:t>
            </a:r>
            <a:r>
              <a:rPr lang="en-US" sz="1000" dirty="0">
                <a:latin typeface="Courier New" panose="02070309020205020404"/>
              </a:rPr>
              <a:t> </a:t>
            </a:r>
            <a:r>
              <a:rPr lang="en-US" sz="1000" dirty="0" err="1">
                <a:latin typeface="Courier New" panose="02070309020205020404"/>
              </a:rPr>
              <a:t>excepcion</a:t>
            </a:r>
            <a:r>
              <a:rPr lang="en-US" sz="1000" dirty="0">
                <a:latin typeface="Courier New" panose="02070309020205020404"/>
              </a:rPr>
              <a:t>) {
            return error(</a:t>
            </a:r>
            <a:r>
              <a:rPr lang="en-US" sz="1000" dirty="0" err="1">
                <a:latin typeface="Courier New" panose="02070309020205020404"/>
              </a:rPr>
              <a:t>excepcion.getCodigoHttp</a:t>
            </a:r>
            <a:r>
              <a:rPr lang="en-US" sz="1000" dirty="0">
                <a:latin typeface="Courier New" panose="02070309020205020404"/>
              </a:rPr>
              <a:t>(), </a:t>
            </a:r>
            <a:r>
              <a:rPr lang="en-US" sz="1000" dirty="0" err="1">
                <a:latin typeface="Courier New" panose="02070309020205020404"/>
              </a:rPr>
              <a:t>excepcion.getMessage</a:t>
            </a:r>
            <a:r>
              <a:rPr lang="en-US" sz="1000" dirty="0">
                <a:latin typeface="Courier New" panose="02070309020205020404"/>
              </a:rPr>
              <a:t>());
        }
        if (error </a:t>
            </a:r>
            <a:r>
              <a:rPr lang="en-US" sz="1000" dirty="0" err="1">
                <a:latin typeface="Courier New" panose="02070309020205020404"/>
              </a:rPr>
              <a:t>instanceof</a:t>
            </a:r>
            <a:r>
              <a:rPr lang="en-US" sz="1000" dirty="0">
                <a:latin typeface="Courier New" panose="02070309020205020404"/>
              </a:rPr>
              <a:t> </a:t>
            </a:r>
            <a:r>
              <a:rPr lang="en-US" sz="1000" dirty="0" err="1">
                <a:latin typeface="Courier New" panose="02070309020205020404"/>
              </a:rPr>
              <a:t>IllegalArgumentException</a:t>
            </a:r>
            <a:r>
              <a:rPr lang="en-US" sz="1000" dirty="0">
                <a:latin typeface="Courier New" panose="02070309020205020404"/>
              </a:rPr>
              <a:t> </a:t>
            </a:r>
            <a:r>
              <a:rPr lang="en-US" sz="1000" dirty="0" err="1">
                <a:latin typeface="Courier New" panose="02070309020205020404"/>
              </a:rPr>
              <a:t>excepcion</a:t>
            </a:r>
            <a:r>
              <a:rPr lang="en-US" sz="1000" dirty="0">
                <a:latin typeface="Courier New" panose="02070309020205020404"/>
              </a:rPr>
              <a:t>) {
            return error(400, </a:t>
            </a:r>
            <a:r>
              <a:rPr lang="en-US" sz="1000" dirty="0" err="1">
                <a:latin typeface="Courier New" panose="02070309020205020404"/>
              </a:rPr>
              <a:t>mensajeDe</a:t>
            </a:r>
            <a:r>
              <a:rPr lang="en-US" sz="1000" dirty="0">
                <a:latin typeface="Courier New" panose="02070309020205020404"/>
              </a:rPr>
              <a:t>(</a:t>
            </a:r>
            <a:r>
              <a:rPr lang="en-US" sz="1000" dirty="0" err="1">
                <a:latin typeface="Courier New" panose="02070309020205020404"/>
              </a:rPr>
              <a:t>excepcion</a:t>
            </a:r>
            <a:r>
              <a:rPr lang="en-US" sz="1000" dirty="0">
                <a:latin typeface="Courier New" panose="02070309020205020404"/>
              </a:rPr>
              <a:t>));
        }
        if (error </a:t>
            </a:r>
            <a:r>
              <a:rPr lang="en-US" sz="1000" dirty="0" err="1">
                <a:latin typeface="Courier New" panose="02070309020205020404"/>
              </a:rPr>
              <a:t>instanceof</a:t>
            </a:r>
            <a:r>
              <a:rPr lang="en-US" sz="1000" dirty="0">
                <a:latin typeface="Courier New" panose="02070309020205020404"/>
              </a:rPr>
              <a:t> </a:t>
            </a:r>
            <a:r>
              <a:rPr lang="en-US" sz="1000" dirty="0" err="1">
                <a:latin typeface="Courier New" panose="02070309020205020404"/>
              </a:rPr>
              <a:t>NotFoundException</a:t>
            </a:r>
            <a:r>
              <a:rPr lang="en-US" sz="1000" dirty="0">
                <a:latin typeface="Courier New" panose="02070309020205020404"/>
              </a:rPr>
              <a:t>) {
            return error(404, "</a:t>
            </a:r>
            <a:r>
              <a:rPr lang="en-US" sz="1000" dirty="0" err="1">
                <a:latin typeface="Courier New" panose="02070309020205020404"/>
              </a:rPr>
              <a:t>Recurso</a:t>
            </a:r>
            <a:r>
              <a:rPr lang="en-US" sz="1000" dirty="0">
                <a:latin typeface="Courier New" panose="02070309020205020404"/>
              </a:rPr>
              <a:t> no </a:t>
            </a:r>
            <a:r>
              <a:rPr lang="en-US" sz="1000" dirty="0" err="1">
                <a:latin typeface="Courier New" panose="02070309020205020404"/>
              </a:rPr>
              <a:t>encontrado</a:t>
            </a:r>
            <a:r>
              <a:rPr lang="en-US" sz="1000" dirty="0">
                <a:latin typeface="Courier New" panose="02070309020205020404"/>
              </a:rPr>
              <a:t>.");
        }
        if (error </a:t>
            </a:r>
            <a:r>
              <a:rPr lang="en-US" sz="1000" dirty="0" err="1">
                <a:latin typeface="Courier New" panose="02070309020205020404"/>
              </a:rPr>
              <a:t>instanceof</a:t>
            </a:r>
            <a:r>
              <a:rPr lang="en-US" sz="1000" dirty="0">
                <a:latin typeface="Courier New" panose="02070309020205020404"/>
              </a:rPr>
              <a:t> </a:t>
            </a:r>
            <a:r>
              <a:rPr lang="en-US" sz="1000" dirty="0" err="1">
                <a:latin typeface="Courier New" panose="02070309020205020404"/>
              </a:rPr>
              <a:t>NotAllowedException</a:t>
            </a:r>
            <a:r>
              <a:rPr lang="en-US" sz="1000" dirty="0">
                <a:latin typeface="Courier New" panose="02070309020205020404"/>
              </a:rPr>
              <a:t>) {
            return error(405, "</a:t>
            </a:r>
            <a:r>
              <a:rPr lang="en-US" sz="1000" dirty="0" err="1">
                <a:latin typeface="Courier New" panose="02070309020205020404"/>
              </a:rPr>
              <a:t>Método</a:t>
            </a:r>
            <a:r>
              <a:rPr lang="en-US" sz="1000" dirty="0">
                <a:latin typeface="Courier New" panose="02070309020205020404"/>
              </a:rPr>
              <a:t> HTTP no </a:t>
            </a:r>
            <a:r>
              <a:rPr lang="en-US" sz="1000" dirty="0" err="1">
                <a:latin typeface="Courier New" panose="02070309020205020404"/>
              </a:rPr>
              <a:t>permitido</a:t>
            </a:r>
            <a:r>
              <a:rPr lang="en-US" sz="1000" dirty="0">
                <a:latin typeface="Courier New" panose="02070309020205020404"/>
              </a:rPr>
              <a:t> para </a:t>
            </a:r>
            <a:r>
              <a:rPr lang="en-US" sz="1000" dirty="0" err="1">
                <a:latin typeface="Courier New" panose="02070309020205020404"/>
              </a:rPr>
              <a:t>este</a:t>
            </a:r>
            <a:r>
              <a:rPr lang="en-US" sz="1000" dirty="0">
                <a:latin typeface="Courier New" panose="02070309020205020404"/>
              </a:rPr>
              <a:t> </a:t>
            </a:r>
            <a:r>
              <a:rPr lang="en-US" sz="1000" dirty="0" err="1">
                <a:latin typeface="Courier New" panose="02070309020205020404"/>
              </a:rPr>
              <a:t>recurso</a:t>
            </a:r>
            <a:r>
              <a:rPr lang="en-US" sz="1000" dirty="0">
                <a:latin typeface="Courier New" panose="02070309020205020404"/>
              </a:rPr>
              <a:t>.");
        }
        if (error </a:t>
            </a:r>
            <a:r>
              <a:rPr lang="en-US" sz="1000" dirty="0" err="1">
                <a:latin typeface="Courier New" panose="02070309020205020404"/>
              </a:rPr>
              <a:t>instanceof</a:t>
            </a:r>
            <a:r>
              <a:rPr lang="en-US" sz="1000" dirty="0">
                <a:latin typeface="Courier New" panose="02070309020205020404"/>
              </a:rPr>
              <a:t> </a:t>
            </a:r>
            <a:r>
              <a:rPr lang="en-US" sz="1000" dirty="0" err="1">
                <a:latin typeface="Courier New" panose="02070309020205020404"/>
              </a:rPr>
              <a:t>NotSupportedException</a:t>
            </a:r>
            <a:r>
              <a:rPr lang="en-US" sz="1000" dirty="0">
                <a:latin typeface="Courier New" panose="02070309020205020404"/>
              </a:rPr>
              <a:t> || error </a:t>
            </a:r>
            <a:r>
              <a:rPr lang="en-US" sz="1000" dirty="0" err="1">
                <a:latin typeface="Courier New" panose="02070309020205020404"/>
              </a:rPr>
              <a:t>instanceof</a:t>
            </a:r>
            <a:r>
              <a:rPr lang="en-US" sz="1000" dirty="0">
                <a:latin typeface="Courier New" panose="02070309020205020404"/>
              </a:rPr>
              <a:t> </a:t>
            </a:r>
            <a:r>
              <a:rPr lang="en-US" sz="1000" dirty="0" err="1">
                <a:latin typeface="Courier New" panose="02070309020205020404"/>
              </a:rPr>
              <a:t>JsonException</a:t>
            </a:r>
            <a:r>
              <a:rPr lang="en-US" sz="1000" dirty="0">
                <a:latin typeface="Courier New" panose="02070309020205020404"/>
              </a:rPr>
              <a:t>) {
            return error(415, </a:t>
            </a:r>
            <a:r>
              <a:rPr lang="en-US" sz="1000" dirty="0" err="1">
                <a:latin typeface="Courier New" panose="02070309020205020404"/>
              </a:rPr>
              <a:t>SoportePeticion.MENSAJE_CONTENIDO_NO_JSON</a:t>
            </a:r>
            <a:r>
              <a:rPr lang="en-US" sz="1000" dirty="0">
                <a:latin typeface="Courier New" panose="02070309020205020404"/>
              </a:rPr>
              <a:t>);
        }
        return error(500, "Error </a:t>
            </a:r>
            <a:r>
              <a:rPr lang="en-US" sz="1000" dirty="0" err="1">
                <a:latin typeface="Courier New" panose="02070309020205020404"/>
              </a:rPr>
              <a:t>interno</a:t>
            </a:r>
            <a:r>
              <a:rPr lang="en-US" sz="1000" dirty="0">
                <a:latin typeface="Courier New" panose="02070309020205020404"/>
              </a:rPr>
              <a:t> del </a:t>
            </a:r>
            <a:r>
              <a:rPr lang="en-US" sz="1000" dirty="0" err="1">
                <a:latin typeface="Courier New" panose="02070309020205020404"/>
              </a:rPr>
              <a:t>servidor</a:t>
            </a:r>
            <a:r>
              <a:rPr lang="en-US" sz="1000" dirty="0">
                <a:latin typeface="Courier New" panose="02070309020205020404"/>
              </a:rPr>
              <a:t>.");
    }
    private static String </a:t>
            </a:r>
            <a:r>
              <a:rPr lang="en-US" sz="1000" dirty="0" err="1">
                <a:latin typeface="Courier New" panose="02070309020205020404"/>
              </a:rPr>
              <a:t>mensajeDe</a:t>
            </a:r>
            <a:r>
              <a:rPr lang="en-US" sz="1000" dirty="0">
                <a:latin typeface="Courier New" panose="02070309020205020404"/>
              </a:rPr>
              <a:t>(</a:t>
            </a:r>
            <a:r>
              <a:rPr lang="en-US" sz="1000" dirty="0" err="1">
                <a:latin typeface="Courier New" panose="02070309020205020404"/>
              </a:rPr>
              <a:t>IllegalArgumentException</a:t>
            </a:r>
            <a:r>
              <a:rPr lang="en-US" sz="1000" dirty="0">
                <a:latin typeface="Courier New" panose="02070309020205020404"/>
              </a:rPr>
              <a:t> error) {
        String </a:t>
            </a:r>
            <a:r>
              <a:rPr lang="en-US" sz="1000" dirty="0" err="1">
                <a:latin typeface="Courier New" panose="02070309020205020404"/>
              </a:rPr>
              <a:t>mensaje</a:t>
            </a:r>
            <a:r>
              <a:rPr lang="en-US" sz="1000" dirty="0">
                <a:latin typeface="Courier New" panose="02070309020205020404"/>
              </a:rPr>
              <a:t> = </a:t>
            </a:r>
            <a:r>
              <a:rPr lang="en-US" sz="1000" dirty="0" err="1">
                <a:latin typeface="Courier New" panose="02070309020205020404"/>
              </a:rPr>
              <a:t>error.getMessage</a:t>
            </a:r>
            <a:r>
              <a:rPr lang="en-US" sz="1000" dirty="0">
                <a:latin typeface="Courier New" panose="02070309020205020404"/>
              </a:rPr>
              <a:t>(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4: Contrato de respuesta JSON (2/2)
El envelope permite que todos los clientes interpreten de la misma forma las respuestas correctas y los errores. En una respuesta fallida, resultado se establece como null.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 panose="02070309020205020404"/>
              </a:rPr>
              <a:t>// Estructura de la respuesta
RespuestaAPI.exito(codigo, mensaje, resultado)
RespuestaAPI.error(codigo, mensaje)
resultado = null // cuando existe un error</a:t>
            </a:r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5: Recurso de conversión (1/2)
POST /api/conversiones/{magnitud}: la magnitud se recibe en la ruta y el valor junto con las unidades se envían en el cuerpo JSON.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6"/>
            <a:ext cx="8288808" cy="3491775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lang="en-US" sz="1200" dirty="0">
                <a:latin typeface="Courier New" panose="02070309020205020404"/>
              </a:rPr>
              <a:t>
@Path("conversiones")
public class </a:t>
            </a:r>
            <a:r>
              <a:rPr lang="en-US" sz="1200" dirty="0" err="1">
                <a:latin typeface="Courier New" panose="02070309020205020404"/>
              </a:rPr>
              <a:t>ConversionRecurso</a:t>
            </a:r>
            <a:r>
              <a:rPr lang="en-US" sz="1200" dirty="0">
                <a:latin typeface="Courier New" panose="02070309020205020404"/>
              </a:rPr>
              <a:t> {
    private static final Set&lt;String&gt; MAGNITUDES_VALIDAS = </a:t>
            </a:r>
            <a:r>
              <a:rPr lang="en-US" sz="1200" dirty="0" err="1">
                <a:latin typeface="Courier New" panose="02070309020205020404"/>
              </a:rPr>
              <a:t>Set.of</a:t>
            </a:r>
            <a:r>
              <a:rPr lang="en-US" sz="1200" dirty="0">
                <a:latin typeface="Courier New" panose="02070309020205020404"/>
              </a:rPr>
              <a:t>(
            </a:t>
            </a:r>
            <a:r>
              <a:rPr lang="en-US" sz="1200" dirty="0" err="1">
                <a:latin typeface="Courier New" panose="02070309020205020404"/>
              </a:rPr>
              <a:t>CatalogoUnidades.LONGITUD</a:t>
            </a:r>
            <a:r>
              <a:rPr lang="en-US" sz="1200" dirty="0">
                <a:latin typeface="Courier New" panose="02070309020205020404"/>
              </a:rPr>
              <a:t>, </a:t>
            </a:r>
            <a:r>
              <a:rPr lang="en-US" sz="1200" dirty="0" err="1">
                <a:latin typeface="Courier New" panose="02070309020205020404"/>
              </a:rPr>
              <a:t>CatalogoUnidades.MASA</a:t>
            </a:r>
            <a:r>
              <a:rPr lang="en-US" sz="1200" dirty="0">
                <a:latin typeface="Courier New" panose="02070309020205020404"/>
              </a:rPr>
              <a:t>, </a:t>
            </a:r>
            <a:r>
              <a:rPr lang="en-US" sz="1200" dirty="0" err="1">
                <a:latin typeface="Courier New" panose="02070309020205020404"/>
              </a:rPr>
              <a:t>CatalogoUnidades.TEMPERATURA</a:t>
            </a:r>
            <a:r>
              <a:rPr lang="en-US" sz="1200" dirty="0">
                <a:latin typeface="Courier New" panose="02070309020205020404"/>
              </a:rPr>
              <a:t>);
    private final </a:t>
            </a:r>
            <a:r>
              <a:rPr lang="en-US" sz="1200" dirty="0" err="1">
                <a:latin typeface="Courier New" panose="02070309020205020404"/>
              </a:rPr>
              <a:t>ConversorServicio</a:t>
            </a:r>
            <a:r>
              <a:rPr lang="en-US" sz="1200" dirty="0">
                <a:latin typeface="Courier New" panose="02070309020205020404"/>
              </a:rPr>
              <a:t> </a:t>
            </a:r>
            <a:r>
              <a:rPr lang="en-US" sz="1200" dirty="0" err="1">
                <a:latin typeface="Courier New" panose="02070309020205020404"/>
              </a:rPr>
              <a:t>conversor</a:t>
            </a:r>
            <a:r>
              <a:rPr lang="en-US" sz="1200" dirty="0">
                <a:latin typeface="Courier New" panose="02070309020205020404"/>
              </a:rPr>
              <a:t> = new </a:t>
            </a:r>
            <a:r>
              <a:rPr lang="en-US" sz="1200" dirty="0" err="1">
                <a:latin typeface="Courier New" panose="02070309020205020404"/>
              </a:rPr>
              <a:t>ConversorServicio</a:t>
            </a:r>
            <a:r>
              <a:rPr lang="en-US" sz="1200" dirty="0">
                <a:latin typeface="Courier New" panose="02070309020205020404"/>
              </a:rPr>
              <a:t>();
    private final </a:t>
            </a:r>
            <a:r>
              <a:rPr lang="en-US" sz="1200" dirty="0" err="1">
                <a:latin typeface="Courier New" panose="02070309020205020404"/>
              </a:rPr>
              <a:t>TokenServicio</a:t>
            </a:r>
            <a:r>
              <a:rPr lang="en-US" sz="1200" dirty="0">
                <a:latin typeface="Courier New" panose="02070309020205020404"/>
              </a:rPr>
              <a:t> tokens = new </a:t>
            </a:r>
            <a:r>
              <a:rPr lang="en-US" sz="1200" dirty="0" err="1">
                <a:latin typeface="Courier New" panose="02070309020205020404"/>
              </a:rPr>
              <a:t>TokenServicio</a:t>
            </a:r>
            <a:r>
              <a:rPr lang="en-US" sz="1200" dirty="0">
                <a:latin typeface="Courier New" panose="02070309020205020404"/>
              </a:rPr>
              <a:t>();
           </a:t>
            </a:r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5: Recurso de conversión (2/2)
ConversionRecurso valida la solicitud y delega el cálculo en ConversorServicio. La respuesta incluye el valor convertido, las unidades de origen y destino y la magnitud.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3572798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//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Procesar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Datos
        switch 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tipo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 {
            case "LONGITUD" -&gt; {
               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validador.validarValorNoNegativo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dto.getValorOrigen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(),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tipo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);
               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UnidadLongitud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origen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=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validador.buscarEnumValido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UnidadLongitud.class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unidadOrigenStr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tipo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);
               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UnidadLongitud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destino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=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validador.buscarEnumValido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UnidadLongitud.class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unidadDestinoStr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tipo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);
               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resultado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=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origen.convertirA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dto.getValorOrigen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(),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destino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);
            }
            case "MASA" -&gt; {
               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validador.validarValorNoNegativo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dto.getValorOrigen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(),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tipo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);
               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UnidadMasa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origen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=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validador.buscarEnumValido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UnidadMasa.class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unidadOrigenStr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tipo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);
               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UnidadMasa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destino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=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validador.buscarEnumValido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UnidadMasa.class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unidadDestinoStr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tipo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);
               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resultado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=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origen.convertirA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dto.getValorOrigen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(),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destino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);
            }
            case "TEMPERATURA" -&gt; {
               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UnidadTemperatura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origen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=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validador.buscarEnumValido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UnidadTemperatura.class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unidadOrigenStr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tipo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);
               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UnidadTemperatura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destino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=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validador.buscarEnumValido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UnidadTemperatura.class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unidadDestinoStr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tipo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);
               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validador.validarTemperaturaMinima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dto.getValorOrigen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(),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origen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);
               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resultado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=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origen.convertirA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dto.getValorOrigen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(),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destino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);
            }
            default -&gt; throw new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IllegalArgumentException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
                "La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magnitud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'" +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tipo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+ "' no es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válida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. Debe ser LONGITUD, MASA o TEMPERATURA."
            );
        }
       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dto.setValorResultado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resultado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);
        return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dto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;
    }
}
</a:t>
            </a:r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5: Recurso de autenticación (1/2)
POST /api/auth/login valida las credenciales y genera un token. POST /api/auth/logout invalida el token asociado a la sesión.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6"/>
            <a:ext cx="8288808" cy="3503543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lang="es-EC" sz="800" dirty="0">
                <a:latin typeface="Courier New" panose="02070309020205020404"/>
              </a:rPr>
              <a:t>    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/**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Mensaje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de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paridad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con el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servidor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SOAP de TI.1.1. */
    public static final String MENSAJE_USUARIO_INVALIDO = "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Usuario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invalido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";
    private static final String MENSAJE_CAMPOS_OBLIGATORIOS =
            "El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nombre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de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usuario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y la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contraseña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son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obligatorios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.";
    private static final String MENSAJE_LOGIN_OK = "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Autenticación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exitosa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.";
    private static final String MENSAJE_LOGOUT_OK = "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Sesión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finalizada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.";
    private final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AutenticadorServicio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autenticador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= new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AutenticadorServicio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();
    private final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TokenServicio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tokens = new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TokenServicio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();
    @POST
    @Path("login")
    @Consumes(MediaType.APPLICATION_JSON)
    public Response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iniciarSesion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(String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cuerpo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, @HeaderParam("Content-Type") String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tipoContenido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 {
       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SoportePeticion.exigirTipoJSON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tipoContenido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);
       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JsonObject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datos =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SoportePeticion.leerObjetoJSON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cuerpo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);
        String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usuario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=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SoportePeticion.texto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(datos, "username");
        String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contrasena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=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SoportePeticion.texto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(datos, "password");
        if 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esBlanco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usuario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 ||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esBlanco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contrasena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)) {
            throw new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ErrorAPI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(400, MENSAJE_CAMPOS_OBLIGATORIOS);
        }
        String token =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autenticador.autenticadorLogin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(new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Usuario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usuario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contrasena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));
        if 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MENSAJE_USUARIO_INVALIDO.equals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(token)) {
            throw new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ErrorAPI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(401, MENSAJE_USUARIO_</a:t>
            </a:r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5: Recurso de autenticación (2/2)
AutenticadorRecurso expone el inicio y cierre de sesión mediante JSON. Las rutas protegidas exigen un token Bearer válido en la cabecera Authorization.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6"/>
            <a:ext cx="8288808" cy="3514925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INVALIDO);
        }
        Instant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vencimiento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=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tokens.vencimientoDe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(token);
       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JsonObject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resultado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=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Json.createObjectBuilder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()
                .add("token", token)
                .add("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usuario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",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Constantes.USUARIO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
                .add("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expiraEn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",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vencimiento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== null ? "" :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vencimiento.toString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())
                .build();
        return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RespuestaAPI.respuesta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(200,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RespuestaAPI.ok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(200, MENSAJE_LOGIN_OK,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resultado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));
    }
    @POST
    @Path("logout")
    public Response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cerrarSesion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(@HeaderParam("Authorization") String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autorizacion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 {
       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ValidadorToken.exigirTokenValido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autorizacion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, tokens);
       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autenticador.autenticadorLogout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ValidadorToken.extraerToken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autorizacion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));
        return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RespuestaAPI.respuesta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(200,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RespuestaAPI.ok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(200, MENSAJE_LOGOUT_OK,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JsonValue.TRUE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));
    }
    private static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boolean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esBlanco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(String valor) {
        return valor == null ||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valor.isBlank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();
    }
}</a:t>
            </a:r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
</a:t>
            </a:r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6: Lógica de negocio – </a:t>
            </a:r>
            <a:r>
              <a:rPr lang="es-ES" sz="2000" b="1" dirty="0" err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ConversorServicio</a:t>
            </a: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 (2/2)
El servicio devuelve el resultado calculado junto con la magnitud y las unidades seleccionadas. Las validaciones evitan valores no numéricos, infinitos y entradas incompatibles.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 panose="02070309020205020404"/>
              </a:rPr>
              <a:t>// El resultado incluye:
// valorOrigen, valorResultado,
// unidadOrigen, unidadDestino y magnitud</a:t>
            </a:r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6: Modelo de unidades – </a:t>
            </a:r>
            <a:r>
              <a:rPr lang="es-ES" sz="2000" b="1" dirty="0" err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UnidadLongitud</a:t>
            </a: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
La enumeración de longitud incluye CENTIMETRO, METRO, PIE, YARDA y MILLA. Los factores de conversión se calculan respecto de la unidad base: metros.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 panose="02070309020205020404"/>
              </a:rPr>
              <a:t>public enum UnidadLongitud {
    CENTIMETRO,
    METRO,
    PIE,
    YARDA,
    MILLA
}</a:t>
            </a:r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7: Manejo centralizado de errores (1/2)
</a:t>
            </a:r>
            <a:r>
              <a:rPr lang="es-ES" sz="2000" b="1" dirty="0" err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MapeadorExcepciones</a:t>
            </a: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 transforma las excepciones y errores HTTP en el </a:t>
            </a:r>
            <a:r>
              <a:rPr lang="es-ES" sz="2000" b="1" dirty="0" err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envelope</a:t>
            </a: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 JSON común, manteniendo el mismo formato de respuesta en el servidor.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6"/>
            <a:ext cx="8288808" cy="3579743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   @Override
    public Response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toResponse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(Throwable error) {
        if (error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instanceof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ErrorAPI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excepcion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 {
            return error(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excepcion.getCodigoHttp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(),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excepcion.getMessage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());
        }
        if (error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instanceof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IllegalArgumentException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excepcion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 {
            return error(400,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mensajeDe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excepcion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));
        }
        if (error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instanceof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NotFoundException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 {
            return error(404, "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Recurso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no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encontrado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.");
        }
        if (error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instanceof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NotAllowedException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 {
            return error(405, "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Método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HTTP no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permitido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para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este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recurso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.");
        }
        if (error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instanceof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NotSupportedException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|| error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instanceof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JsonException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 {
            return error(415,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SoportePeticion.MENSAJE_CONTENIDO_NO_JSON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);
        }
        return error(500, "Error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interno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del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servidor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.");
    }
    private static String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mensajeDe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IllegalArgumentException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error) {
        String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mensaje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=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error.getMessage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();
        return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mensaje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== null ||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mensaje.isBlank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() ? "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Solicitud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inválida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." :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mensaje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;
    }
    private static Response error(int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codigoHttp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, String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mensaje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 {
        return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RespuestaAPI.respuesta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codigoHttp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RespuestaAPI.error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codigoHttp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 panose="02070309020205020404"/>
              </a:rPr>
              <a:t>mensaje</a:t>
            </a:r>
            <a:r>
              <a:rPr sz="800" dirty="0">
                <a:solidFill>
                  <a:srgbClr val="000000"/>
                </a:solidFill>
                <a:latin typeface="Courier New" panose="02070309020205020404"/>
              </a:rPr>
              <a:t>));
    }
}
</a:t>
            </a:r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8: Manejo centralizado de errores (2/2)
El mapeador devuelve códigos HTTP adecuados para solicitudes inválidas, falta de autenticación, recursos inexistentes, métodos no permitidos, tipo de contenido incorrecto y errores internos.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 panose="02070309020205020404"/>
              </a:rPr>
              <a:t>// Los errores se traducen a un envelope JSON
// con estado, código, mensaje y resultado null</a:t>
            </a:r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9: Aplicación y registro de recursos REST
AplicacionREST configura la aplicación Jakarta REST y la ruta base /WS_ConversionUnidades_Java_GR8/api para los recursos del servicio.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6"/>
            <a:ext cx="8288808" cy="2969027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urier New" panose="02070309020205020404"/>
              </a:rPr>
              <a:t>
@ApplicationPath("/api")
public class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/>
              </a:rPr>
              <a:t>AplicacionREST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/>
              </a:rPr>
              <a:t> extends Application {</a:t>
            </a:r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
    @Override
    public Set&lt;Class&lt;?&gt;&gt; </a:t>
            </a:r>
            <a:r>
              <a:rPr sz="1200" dirty="0" err="1">
                <a:solidFill>
                  <a:srgbClr val="000000"/>
                </a:solidFill>
                <a:latin typeface="Courier New" panose="02070309020205020404"/>
              </a:rPr>
              <a:t>getClasses</a:t>
            </a:r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() {
        return </a:t>
            </a:r>
            <a:r>
              <a:rPr sz="1200" dirty="0" err="1">
                <a:solidFill>
                  <a:srgbClr val="000000"/>
                </a:solidFill>
                <a:latin typeface="Courier New" panose="02070309020205020404"/>
              </a:rPr>
              <a:t>Set.of</a:t>
            </a:r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(
                </a:t>
            </a:r>
            <a:r>
              <a:rPr sz="1200" dirty="0" err="1">
                <a:solidFill>
                  <a:srgbClr val="000000"/>
                </a:solidFill>
                <a:latin typeface="Courier New" panose="02070309020205020404"/>
              </a:rPr>
              <a:t>EstadoRecurso.class</a:t>
            </a:r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,
                </a:t>
            </a:r>
            <a:r>
              <a:rPr sz="1200" dirty="0" err="1">
                <a:solidFill>
                  <a:srgbClr val="000000"/>
                </a:solidFill>
                <a:latin typeface="Courier New" panose="02070309020205020404"/>
              </a:rPr>
              <a:t>AutenticadorRecurso.class</a:t>
            </a:r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,
                </a:t>
            </a:r>
            <a:r>
              <a:rPr sz="1200" dirty="0" err="1">
                <a:solidFill>
                  <a:srgbClr val="000000"/>
                </a:solidFill>
                <a:latin typeface="Courier New" panose="02070309020205020404"/>
              </a:rPr>
              <a:t>CatalogoRecurso.class</a:t>
            </a:r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,
                </a:t>
            </a:r>
            <a:r>
              <a:rPr sz="1200" dirty="0" err="1">
                <a:solidFill>
                  <a:srgbClr val="000000"/>
                </a:solidFill>
                <a:latin typeface="Courier New" panose="02070309020205020404"/>
              </a:rPr>
              <a:t>ConversionRecurso.class</a:t>
            </a:r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,
                </a:t>
            </a:r>
            <a:r>
              <a:rPr sz="1200" dirty="0" err="1">
                <a:solidFill>
                  <a:srgbClr val="000000"/>
                </a:solidFill>
                <a:latin typeface="Courier New" panose="02070309020205020404"/>
              </a:rPr>
              <a:t>MapeadorExcepciones.class</a:t>
            </a:r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);
    }
}
</a:t>
            </a:r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/>
          </a:p>
          <a:p>
            <a:endParaRPr sz="1200" dirty="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9: Configuración del servidor y contexto
El README documenta el despliegue del WAR en Payara 7. La URL base de referencia es: http://&lt;host&gt;:8080/WS_ConversionUnidades_Java_GR8/api.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6"/>
            <a:ext cx="8288808" cy="3163183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{</a:t>
            </a:r>
          </a:p>
          <a:p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  "$schema": "https://json.schemastore.org/</a:t>
            </a:r>
            <a:r>
              <a:rPr sz="1200" dirty="0" err="1">
                <a:solidFill>
                  <a:srgbClr val="000000"/>
                </a:solidFill>
                <a:latin typeface="Courier New" panose="02070309020205020404"/>
              </a:rPr>
              <a:t>launchsettings.json</a:t>
            </a:r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",</a:t>
            </a:r>
          </a:p>
          <a:p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  "profiles": {</a:t>
            </a:r>
          </a:p>
          <a:p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    "http": {</a:t>
            </a:r>
          </a:p>
          <a:p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      "</a:t>
            </a:r>
            <a:r>
              <a:rPr sz="1200" dirty="0" err="1">
                <a:solidFill>
                  <a:srgbClr val="000000"/>
                </a:solidFill>
                <a:latin typeface="Courier New" panose="02070309020205020404"/>
              </a:rPr>
              <a:t>commandName</a:t>
            </a:r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": "Project",</a:t>
            </a:r>
          </a:p>
          <a:p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      "</a:t>
            </a:r>
            <a:r>
              <a:rPr sz="1200" dirty="0" err="1">
                <a:solidFill>
                  <a:srgbClr val="000000"/>
                </a:solidFill>
                <a:latin typeface="Courier New" panose="02070309020205020404"/>
              </a:rPr>
              <a:t>dotnetRunMessages</a:t>
            </a:r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": true,</a:t>
            </a:r>
          </a:p>
          <a:p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      "</a:t>
            </a:r>
            <a:r>
              <a:rPr sz="1200" dirty="0" err="1">
                <a:solidFill>
                  <a:srgbClr val="000000"/>
                </a:solidFill>
                <a:latin typeface="Courier New" panose="02070309020205020404"/>
              </a:rPr>
              <a:t>launchBrowser</a:t>
            </a:r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": false,</a:t>
            </a:r>
          </a:p>
          <a:p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      "</a:t>
            </a:r>
            <a:r>
              <a:rPr sz="1200" dirty="0" err="1">
                <a:solidFill>
                  <a:srgbClr val="000000"/>
                </a:solidFill>
                <a:latin typeface="Courier New" panose="02070309020205020404"/>
              </a:rPr>
              <a:t>applicationUrl</a:t>
            </a:r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": "http://*:5080",</a:t>
            </a:r>
          </a:p>
          <a:p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      "</a:t>
            </a:r>
            <a:r>
              <a:rPr sz="1200" dirty="0" err="1">
                <a:solidFill>
                  <a:srgbClr val="000000"/>
                </a:solidFill>
                <a:latin typeface="Courier New" panose="02070309020205020404"/>
              </a:rPr>
              <a:t>environmentVariables</a:t>
            </a:r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": {</a:t>
            </a:r>
          </a:p>
          <a:p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        "ASPNETCORE_ENVIRONMENT": "Development"</a:t>
            </a:r>
          </a:p>
          <a:p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      }</a:t>
            </a:r>
          </a:p>
          <a:p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    }</a:t>
            </a:r>
          </a:p>
          <a:p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  }</a:t>
            </a:r>
          </a:p>
          <a:p>
            <a:r>
              <a:rPr sz="1200" dirty="0">
                <a:solidFill>
                  <a:srgbClr val="000000"/>
                </a:solidFill>
                <a:latin typeface="Courier New" panose="02070309020205020404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10: Compilación del servidor Java
Desde la carpeta del servidor se ejecuta mvn clean package. Maven compila el código y genera el WAR que se despliega en Payara.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731192" y="3300000"/>
            <a:ext cx="8288808" cy="1863725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>
              <a:defRPr sz="1800" b="1">
                <a:solidFill>
                  <a:srgbClr val="194C82"/>
                </a:solidFill>
                <a:latin typeface="Aptos"/>
              </a:defRPr>
            </a:pPr>
            <a:r>
              <a:t>Compilación Maven</a:t>
            </a:r>
            <a:br/>
            <a:r>
              <a:t>mvn clean package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11: Verificación del servicio REST
GET /api/estado permite comprobar la disponibilidad del servicio y devuelve una respuesta JSON con información del estado y la versión.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731192" y="3300000"/>
            <a:ext cx="8288808" cy="3164817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>
              <a:defRPr sz="1800" b="1">
                <a:solidFill>
                  <a:srgbClr val="194C82"/>
                </a:solidFill>
                <a:latin typeface="Aptos"/>
              </a:defRPr>
            </a:pPr>
            <a:r>
              <a:t>GET /api/estado</a:t>
            </a:r>
            <a:br/>
            <a:r>
              <a:t>Respuesta JSON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12: Preparación del despliegue
El artefacto WAR generado por Maven se utiliza para desplegar el servicio en Payara Server o Payara Micro, siguiendo las instrucciones del README.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1577531" y="3300000"/>
            <a:ext cx="6596129" cy="34080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>
              <a:defRPr sz="1800" b="1">
                <a:solidFill>
                  <a:srgbClr val="194C82"/>
                </a:solidFill>
                <a:latin typeface="Aptos"/>
              </a:defRPr>
            </a:pPr>
            <a:r>
              <a:t>Artefacto WAR</a:t>
            </a:r>
            <a:br/>
            <a:r>
              <a:t>Listo para desplegar en Payara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13: Despliegue del servicio
Se publica el archivo WAR en Payara y se verifica que el contexto de aplicación esté disponible antes de conectar los clientes.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1577531" y="3300000"/>
            <a:ext cx="6596129" cy="34080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>
              <a:defRPr sz="1800" b="1">
                <a:solidFill>
                  <a:srgbClr val="194C82"/>
                </a:solidFill>
                <a:latin typeface="Aptos"/>
              </a:defRPr>
            </a:pPr>
            <a:r>
              <a:t>Despliegue del WAR</a:t>
            </a:r>
            <a:br/>
            <a:r>
              <a:t>Payara Server / Micro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3578065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15: Configuración de Payara
El servidor de aplicaciones Payara 7 ejecuta el WAR de </a:t>
            </a:r>
            <a:r>
              <a:rPr lang="es-ES" sz="2000" b="1" dirty="0" err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Jakarta</a:t>
            </a: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 EE. La configuración concreta depende del entorno donde se despliegue el servicio.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16: Publicación en Payara Server
Se inicia Payara y se despliega el archivo WAR desde la consola de administración o mediante el procedimiento configurado en el entorno.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1684380" y="3718560"/>
            <a:ext cx="6596129" cy="23493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>
              <a:defRPr sz="1800" b="1">
                <a:solidFill>
                  <a:srgbClr val="194C82"/>
                </a:solidFill>
                <a:latin typeface="Aptos"/>
              </a:defRPr>
            </a:pPr>
            <a:r>
              <a:t>Consola de administración</a:t>
            </a:r>
            <a:br/>
            <a:r>
              <a:t>Despliegue del WAR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17: Contexto y acceso de red
Los clientes deben utilizar la URL base del servidor y el contexto de aplicación correctos. En el emulador Android se debe ajustar la dirección según el entorno de ejecución.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1862011" y="3796324"/>
            <a:ext cx="6596129" cy="23595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>
              <a:defRPr sz="1800" b="1">
                <a:solidFill>
                  <a:srgbClr val="194C82"/>
                </a:solidFill>
                <a:latin typeface="Aptos"/>
              </a:defRPr>
            </a:pPr>
            <a:r>
              <a:rPr dirty="0"/>
              <a:t>URL base + </a:t>
            </a:r>
            <a:r>
              <a:rPr dirty="0" err="1"/>
              <a:t>contexto</a:t>
            </a:r>
            <a:br>
              <a:rPr dirty="0"/>
            </a:br>
            <a:r>
              <a:rPr dirty="0" err="1"/>
              <a:t>Conexión</a:t>
            </a:r>
            <a:r>
              <a:rPr dirty="0"/>
              <a:t> de los </a:t>
            </a:r>
            <a:r>
              <a:rPr dirty="0" err="1"/>
              <a:t>clientes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3429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18: Requisitos de acceso
Se debe permitir la comunicación entre los clientes y el servidor en el puerto configurado. Las credenciales y tokens de demostración no deben utilizarse en producción.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19: Verificación sin token
Una petición a un recurso protegido sin cabecera </a:t>
            </a:r>
            <a:r>
              <a:rPr lang="es-ES" sz="2000" b="1" dirty="0" err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Authorization</a:t>
            </a: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 debe ser rechazada con HTTP 401 y una respuesta de error en el </a:t>
            </a:r>
            <a:r>
              <a:rPr lang="es-ES" sz="2000" b="1" dirty="0" err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envelope</a:t>
            </a: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 JSON.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2885440" y="4023360"/>
            <a:ext cx="4275280" cy="1608337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>
              <a:defRPr sz="1800" b="1">
                <a:solidFill>
                  <a:srgbClr val="194C82"/>
                </a:solidFill>
                <a:latin typeface="Aptos"/>
              </a:defRPr>
            </a:pPr>
            <a:r>
              <a:rPr dirty="0" err="1"/>
              <a:t>Solicitud</a:t>
            </a:r>
            <a:r>
              <a:rPr dirty="0"/>
              <a:t> sin token</a:t>
            </a:r>
            <a:br>
              <a:rPr dirty="0"/>
            </a:br>
            <a:r>
              <a:rPr dirty="0"/>
              <a:t>HTTP 401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3578065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Paso 19: Verificación con token
Después del login, el cliente envía </a:t>
            </a:r>
            <a:r>
              <a:rPr lang="es-ES" sz="2000" b="1" dirty="0" err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Authorization</a:t>
            </a: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: Bearer &lt;token&gt; para consultar el catálogo y solicitar conversiones de magnitudes.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Consola – Paso 1
El cliente de consola está implementado en Java y se organiza como un proyecto independiente que consume la API REST por HTTP y JSON.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</a:p>
          <a:p>
            <a:pPr marL="763270" lvl="1" indent="-306070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n-U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lang="en-US" dirty="0">
              <a:solidFill>
                <a:schemeClr val="bg1"/>
              </a:solidFill>
            </a:endParaRPr>
          </a:p>
          <a:p>
            <a:pPr marL="763270" lvl="1" indent="-306070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lang="es-ES" dirty="0">
              <a:solidFill>
                <a:srgbClr val="FFFF00"/>
              </a:solidFill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lang="es-ES"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3022000" y="3300000"/>
            <a:ext cx="5151660" cy="18104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>
              <a:defRPr sz="1800" b="1">
                <a:solidFill>
                  <a:srgbClr val="194C82"/>
                </a:solidFill>
                <a:latin typeface="Aptos"/>
              </a:defRPr>
            </a:pPr>
            <a:r>
              <a:t>Cliente Java de consola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Consola – Paso 2
El proyecto WS_ConversionUnidades_Java_CLICON_GR8 contiene la interfaz de consola y las clases necesarias para autenticación, consulta del catálogo y conversión.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lvl="0">
              <a:buSzPts val="1400"/>
            </a:pPr>
            <a:endParaRPr lang="es-ES" dirty="0"/>
          </a:p>
          <a:p>
            <a:pPr marL="306070" indent="-306070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lang="es-ES" dirty="0"/>
          </a:p>
          <a:p>
            <a:pPr marL="763270" lvl="1" indent="-306070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</a:p>
          <a:p>
            <a:pPr marL="763270" lvl="1" indent="-306070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lang="es-ES" dirty="0">
              <a:solidFill>
                <a:schemeClr val="bg1"/>
              </a:solidFill>
            </a:endParaRPr>
          </a:p>
          <a:p>
            <a:pPr marL="763270" lvl="1" indent="-306070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lang="es-ES" dirty="0">
              <a:solidFill>
                <a:srgbClr val="FFFF00"/>
              </a:solidFill>
            </a:endParaRPr>
          </a:p>
          <a:p>
            <a:pPr marL="763270" lvl="1" indent="-306070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lang="es-ES" dirty="0"/>
          </a:p>
          <a:p>
            <a:pPr marL="763270" lvl="1" indent="-306070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lang="es-ES" dirty="0"/>
          </a:p>
          <a:p>
            <a:pPr marL="763270" lvl="1" indent="-306070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lang="es-ES" dirty="0"/>
          </a:p>
          <a:p>
            <a:pPr marL="763270" lvl="1" indent="-306070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lang="es-ES" dirty="0"/>
          </a:p>
          <a:p>
            <a:pPr marL="306070" indent="-306070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lang="es-ES" dirty="0"/>
          </a:p>
          <a:p>
            <a:pPr marL="306070" indent="-306070">
              <a:spcBef>
                <a:spcPts val="840"/>
              </a:spcBef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lang="es-ES" dirty="0"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1892491" y="3601870"/>
            <a:ext cx="5361749" cy="21965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>
              <a:defRPr sz="1800" b="1">
                <a:solidFill>
                  <a:srgbClr val="194C82"/>
                </a:solidFill>
                <a:latin typeface="Aptos"/>
              </a:defRPr>
            </a:pPr>
            <a:r>
              <a:t>WS_ConversionUnidades_Java_CLICON_GR8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6BE96E7-3128-24E4-9CE0-EAF2647F2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696" y="1071739"/>
            <a:ext cx="2745931" cy="524778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3578065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Consola – Paso 3: Configuración
La configuración del cliente define la URL base del servidor REST. Se debe apuntar al contexto del WAR desplegado en Payara.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A4DA870-83C2-274E-9359-D8F8D9BDA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696" y="1063530"/>
            <a:ext cx="2706703" cy="517281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3578065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Consola – Paso 4: Organización del cliente
El cliente separa la interacción de consola, los modelos de datos y el código que realiza las peticiones REST.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A233A3-72C0-492D-45C0-D5BBF8334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696" y="1063530"/>
            <a:ext cx="2696543" cy="515339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Consola – Servicio REST (1/2)
El servicio cliente envía solicitudes HTTP, procesa JSON y añade la cabecera Authorization: Bearer al llamar a los recursos protegidos.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 panose="02070309020205020404"/>
              </a:rPr>
              <a:t>// Cliente REST: autenticación
POST /auth/login
Content-Type: application/json
{"username":"MONSTER","password":"MONSTER9"}
Authorization: Bearer &lt;token&gt;</a:t>
            </a:r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>
              <a:solidFill>
                <a:srgbClr val="000000"/>
              </a:solidFill>
              <a:latin typeface="Courier New" panose="02070309020205020404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1D76CB5-7CDB-F4AF-538F-00287D782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3230" y="1076681"/>
            <a:ext cx="2697330" cy="515489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Consola – Servicio REST (2/2)
El cliente interpreta el envelope JSON, detecta errores de autenticación y presenta mensajes adecuados para que el usuario pueda corregir la entrada.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 panose="02070309020205020404"/>
              </a:rPr>
              <a:t>// Procesamiento de respuesta
if (respuesta.estado.equals("OK")) {
    mostrarResultado(respuesta.resultado);
} else {
    mostrarMensaje(respuesta.mensaje);
}</a:t>
            </a:r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>
              <a:solidFill>
                <a:srgbClr val="000000"/>
              </a:solidFill>
              <a:latin typeface="Courier New" panose="02070309020205020404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C99769F-13DC-AA54-137E-25BD476A0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696" y="1076681"/>
            <a:ext cx="2696543" cy="515339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Consola – Método de conversión
La conversión se solicita mediante POST /conversiones/{magnitud}; el cliente envía el valor y las unidades y lee el valorResultado de la respuesta.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 panose="02070309020205020404"/>
              </a:rPr>
              <a:t>POST /conversiones/{magnitud}
{
  "valor": 100,
  "unidadOrigen": "CENTIMETRO",
  "unidadDestino": "METRO"
}
// El cliente lee resultado.valorResultado</a:t>
            </a:r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>
              <a:solidFill>
                <a:srgbClr val="000000"/>
              </a:solidFill>
              <a:latin typeface="Courier New" panose="02070309020205020404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6A7AA30-EF31-3A6F-E65F-EAE0EE4C1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6282" y="1076681"/>
            <a:ext cx="2706131" cy="517171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Consola – Entrada y validación (1/2)
La interfaz de consola solicita las credenciales, la magnitud, las unidades y el valor. Antes de enviar la petición se revisan los datos introducidos.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 panose="02070309020205020404"/>
              </a:rPr>
              <a:t>// Cliente de consola
String usuario = leerTexto("Usuario: ");
String clave = leerTexto("Contraseña: ");
String token = servicio.login(usuario, clave);</a:t>
            </a:r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>
              <a:solidFill>
                <a:srgbClr val="000000"/>
              </a:solidFill>
              <a:latin typeface="Courier New" panose="02070309020205020404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696528D-4CA5-82F9-FF39-FD0DBC974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3229" y="1076681"/>
            <a:ext cx="2657701" cy="507916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Consola – Entrada y validación (2/2)
Tras recibir la respuesta del servidor, la consola muestra el resultado de la conversión o el mensaje de error devuelto por la API.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 panose="02070309020205020404"/>
              </a:rPr>
              <a:t>// Presentación del resultado
System.out.println("Resultado: " + valorConvertido);
// Si la API devuelve un error, mostrar mensaje</a:t>
            </a:r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>
              <a:solidFill>
                <a:srgbClr val="000000"/>
              </a:solidFill>
              <a:latin typeface="Courier New" panose="02070309020205020404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56953A3-7180-FC1F-886B-F98855355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5137" y="1076681"/>
            <a:ext cx="2716863" cy="519222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3578065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Escritorio – Paso 1
El cliente de escritorio se desarrolla en Java con una interfaz gráfica Swing y consume los mismos </a:t>
            </a:r>
            <a:r>
              <a:rPr lang="es-ES" sz="2000" b="1" dirty="0" err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endpoints</a:t>
            </a: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 REST que los demás clientes.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Escritorio – Paso 2: Arquitectura
La aplicación de escritorio separa las vistas, los modelos y el servicio REST, que gestiona las solicitudes HTTP, el token y las respuestas JSON.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2672080" y="3726720"/>
            <a:ext cx="3953389" cy="20949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>
              <a:defRPr sz="1800" b="1">
                <a:solidFill>
                  <a:srgbClr val="194C82"/>
                </a:solidFill>
                <a:latin typeface="Aptos"/>
              </a:defRPr>
            </a:pPr>
            <a:r>
              <a:t>Vistas · modelos · servicio REST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Escritorio – Inicio de sesión (1/2)
La pantalla de acceso recoge el usuario y la contraseña y realiza una petición POST /api/auth/login para solicitar el token de sesión.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 panose="02070309020205020404"/>
              </a:rPr>
              <a:t>// Inicio de sesión
String token = servicio.login(usuario, clave);
if (token != null) {
    catalogo = servicio.obtenerCatalogo(token);
    abrirVistaConversor();
} else {
    mostrarError("No se pudo iniciar sesión");
}</a:t>
            </a:r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Escritorio – Inicio de sesión (2/2)
Si las credenciales son válidas, el cliente guarda el token y consulta el catálogo. Si el servidor devuelve un error, se informa al usuario.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 panose="02070309020205020404"/>
              </a:rPr>
              <a:t>// Gestión de sesión
try {
    token = servicio.login(usuario, clave);
    catalogo = servicio.obtenerCatalogo(token);
} catch (Exception ex) {
    mostrarError(ex.getMessage());
}</a:t>
            </a:r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Escritorio – Conversión (1/2)
La vista de conversión valida la magnitud, las unidades y el valor ingresado antes de llamar al servicio REST.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 panose="02070309020205020404"/>
              </a:rPr>
              <a:t>// Conversión
ResultadoConversion r = servicio.convertir(
    token, magnitud, unidadOrigen,
    unidadDestino, valor
);</a:t>
            </a:r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Escritorio – Conversión (2/2)
El cliente muestra el resultado recibido y maneja los errores HTTP, incluida la expiración o invalidez del token.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 panose="02070309020205020404"/>
              </a:rPr>
              <a:t>// Mostrar respuesta y gestionar errores
if (r != null) {
    etiquetaResultado.setText(
        String.valueOf(r.getValorResultado())
    );
}</a:t>
            </a:r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Escritorio – Configuración del servicio (1/2)
El servicio REST del cliente centraliza la URL base y los parámetros de conexión para facilitar el cambio de entorno.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 panose="02070309020205020404"/>
              </a:rPr>
              <a:t>// Configuración de conexión REST
urlBase = System.getProperty(
    "api.url",
    "http://localhost:8080/WS_ConversionUnidades_Java_GR8/api"
);</a:t>
            </a:r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Escritorio – Configuración del servicio (2/2)
La configuración se carga desde los archivos o propiedades disponibles en el cliente; debe coincidir con el contexto y puerto del servidor desplegado.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 panose="02070309020205020404"/>
              </a:rPr>
              <a:t>// El cliente utiliza la URL configurada
// para solicitar login, catálogo y conversiones.
// Ajustar la URL según el entorno.</a:t>
            </a:r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Web – Paso 1
El cliente web se implementa como aplicación web Java y utiliza un servlet puente para comunicarse con la API REST.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1577531" y="3300000"/>
            <a:ext cx="6596129" cy="17901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>
              <a:defRPr sz="1800" b="1">
                <a:solidFill>
                  <a:srgbClr val="194C82"/>
                </a:solidFill>
                <a:latin typeface="Aptos"/>
              </a:defRPr>
            </a:pPr>
            <a:r>
              <a:t>Cliente web Java</a:t>
            </a:r>
            <a:br/>
            <a:r>
              <a:t>Servlet puente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3429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Web – Paso 2
El proyecto WS_ConversionUnidades_Java_CLIWEB_GR8 contiene los recursos web y las clases Java necesarias para el flujo de autenticación y conversión.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Web – Pasos 3 y 4: Arquitectura
La aplicación web separa presentación y acceso al servicio. El token se mantiene en la sesión del servidor web y no se expone directamente al navegador.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2414322" y="3767361"/>
            <a:ext cx="4922547" cy="20949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>
              <a:defRPr sz="1800" b="1">
                <a:solidFill>
                  <a:srgbClr val="194C82"/>
                </a:solidFill>
                <a:latin typeface="Aptos"/>
              </a:defRPr>
            </a:pPr>
            <a:r>
              <a:rPr dirty="0"/>
              <a:t>Presentación web + </a:t>
            </a:r>
            <a:r>
              <a:rPr dirty="0" err="1"/>
              <a:t>sesión</a:t>
            </a:r>
            <a:r>
              <a:rPr dirty="0"/>
              <a:t> del </a:t>
            </a:r>
            <a:r>
              <a:rPr dirty="0" err="1"/>
              <a:t>servidor</a:t>
            </a:r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3429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Web – Paso 5: Configuración
La configuración del cliente web establece la dirección del servidor REST y conserva el token en la sesión para las peticiones protegidas.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Móvil – Paso 1
El cliente móvil utiliza Android Studio, Kotlin y Jetpack Compose. La comunicación con el servidor se realiza mediante HTTP y JSON.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1577531" y="3300000"/>
            <a:ext cx="6596129" cy="34080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>
              <a:defRPr sz="1800" b="1">
                <a:solidFill>
                  <a:srgbClr val="194C82"/>
                </a:solidFill>
                <a:latin typeface="Aptos"/>
              </a:defRPr>
            </a:pPr>
            <a:r>
              <a:t>Android Studio · Kotlin · Compose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3313905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Móvil – Paso 2
El proyecto WS_ConversionUnidades_Java_CLIMOV_GR8 organiza la aplicación Android en paquetes de presentación, modelos y acceso al servicio REST.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305744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Móvil – Paso 3: URL del servidor
La URL base se configura para que el emulador o dispositivo pueda alcanzar el servidor REST. La dirección depende de si se usa emulador o dispositivo físico.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Móvil – Paso 4: Arquitectura
La aplicación móvil separa vistas, ViewModels, modelos y servicio REST para organizar el estado de la interfaz y las llamadas de red.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2606260" y="3601870"/>
            <a:ext cx="4752369" cy="19023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9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>
              <a:defRPr sz="1800" b="1">
                <a:solidFill>
                  <a:srgbClr val="194C82"/>
                </a:solidFill>
                <a:latin typeface="Aptos"/>
              </a:defRPr>
            </a:pPr>
            <a:r>
              <a:rPr dirty="0" err="1"/>
              <a:t>ViewModels</a:t>
            </a:r>
            <a:r>
              <a:rPr dirty="0"/>
              <a:t> · modelos · </a:t>
            </a:r>
            <a:r>
              <a:rPr dirty="0" err="1"/>
              <a:t>servicio</a:t>
            </a:r>
            <a:r>
              <a:rPr dirty="0"/>
              <a:t> REST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Móvil – Paso 5: Permisos de red (1/2)
Android requiere el permiso INTERNET en el manifiesto para que la aplicación pueda comunicarse con el servicio REST.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 panose="02070309020205020404"/>
              </a:rPr>
              <a:t>&lt;uses-permission
    android:name="android.permission.INTERNET" /&gt;</a:t>
            </a:r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Móvil – Paso 5: Configuración del manifiesto (2/2)
La configuración de Android debe permitir que la aplicación se inicie correctamente y utilizar la configuración de red correspondiente al entorno.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 panose="02070309020205020404"/>
              </a:rPr>
              <a:t>&lt;application
    android:usesCleartextTraffic="true"
    ... &gt;
    &lt;activity
        android:name=".MainActivity"
        android:exported="true" /&gt;
&lt;/application&gt;</a:t>
            </a:r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Móvil – Paso 6: Dependencias (1/2)
El cliente móvil usa las dependencias Android y Jetpack Compose definidas en el proyecto Gradle. La comunicación REST utiliza las clases disponibles en el código.</a:t>
            </a:r>
            <a:endParaRPr sz="2000" b="1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 panose="02070309020205020404"/>
              </a:rPr>
              <a:t>dependencies {
    implementation(libs.androidx.core.ktx)
    implementation(libs.androidx.lifecycle.runtime.ktx)
    implementation(libs.androidx.activity.compose)
    implementation(platform(libs.androidx.compose.bom))
}</a:t>
            </a:r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/>
          </a:p>
          <a:p>
            <a:endParaRPr sz="1200">
              <a:solidFill>
                <a:srgbClr val="000000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3429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Web en funcionamiento: Login
Pantalla de acceso del cliente web. La captura funcional no está incluida en el ZIP entregado; el flujo se describe según el código del proyecto.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3429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Web en funcionamiento: Conversor
Vista del conversor web. El cliente envía las solicitudes al servidor REST mediante el </a:t>
            </a:r>
            <a:r>
              <a:rPr lang="es-ES" sz="2000" b="1" dirty="0" err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servlet</a:t>
            </a: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 puente.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10072" y="3429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Móvil en funcionamiento
El cliente móvil integra el acceso y la pantalla de conversión mediante la interfaz Android.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/>
              <a:t>DESARROLLO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308792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Cliente Consola en funcionamiento
El cliente de consola permite iniciar sesión, seleccionar una magnitud y mostrar el resultado devuelto por el servidor.</a:t>
            </a:r>
            <a:endParaRPr sz="20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sz="16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lang="es-ES" dirty="0">
              <a:solidFill>
                <a:schemeClr val="lt1"/>
              </a:solidFill>
              <a:ea typeface="Gill Sans" panose="020B0502020104020203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bg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 dirty="0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 dirty="0"/>
              <a:t>CONCLUSIONES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713272" y="2854240"/>
            <a:ext cx="8588808" cy="265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Se comprobó que REST con JSON y un </a:t>
            </a:r>
            <a:r>
              <a:rPr lang="es-ES" sz="1800" dirty="0" err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envelope</a:t>
            </a:r>
            <a:r>
              <a:rPr lang="es-ES" sz="18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 de respuesta único permite una comunicación fluida e independiente de la plataforma, integrando clientes Web, Consola, Escritorio y Móvil con un núcleo en API REST </a:t>
            </a:r>
            <a:r>
              <a:rPr lang="es-ES" sz="1800" dirty="0" err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Jakarta</a:t>
            </a:r>
            <a:r>
              <a:rPr lang="es-ES" sz="18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 EE.</a:t>
            </a:r>
            <a:endParaRPr sz="18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MVC junto con SOA facilitó la modularidad: el paso de SOAP a REST solo afectó la capa de exposición y la lógica de negocio de TI.1.2 se reutilizó sin cambios.</a:t>
            </a:r>
            <a:endParaRPr sz="18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 panose="020B0502020104020203"/>
              <a:buNone/>
            </a:pPr>
            <a:r>
              <a:rPr lang="es-ES" dirty="0"/>
              <a:t>RECOMENDACIONES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377992" y="2960438"/>
            <a:ext cx="8588808" cy="265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Se recomienda habilitar HTTPS en Payara o Payara Server para que los tokens Bearer y los datos JSON viajen cifrados.</a:t>
            </a:r>
            <a:endParaRPr sz="18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Se sugiere agregar vencimiento a los tokens (por ejemplo JWT) y documentar la API con </a:t>
            </a:r>
            <a:r>
              <a:rPr lang="es-ES" sz="1800" dirty="0" err="1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OpenAPI</a:t>
            </a:r>
            <a:r>
              <a:rPr lang="es-ES" sz="1800" dirty="0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/Swagger.</a:t>
            </a:r>
            <a:endParaRPr sz="1800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63270" marR="0" lvl="1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06070" marR="0" lvl="0" indent="-30607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6568</Words>
  <Application>Microsoft Office PowerPoint</Application>
  <PresentationFormat>Panorámica</PresentationFormat>
  <Paragraphs>1179</Paragraphs>
  <Slides>63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63</vt:i4>
      </vt:variant>
    </vt:vector>
  </HeadingPairs>
  <TitlesOfParts>
    <vt:vector size="69" baseType="lpstr">
      <vt:lpstr>Courier New</vt:lpstr>
      <vt:lpstr>Arial</vt:lpstr>
      <vt:lpstr>Noto Sans Symbols</vt:lpstr>
      <vt:lpstr>Cambria</vt:lpstr>
      <vt:lpstr>Gill Sans</vt:lpstr>
      <vt:lpstr>Dividendo</vt:lpstr>
      <vt:lpstr>MANUAL
CONVERSIÓN DE UNIDADES
RESTFUL JAVA 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David</dc:creator>
  <cp:lastModifiedBy>Kevin David</cp:lastModifiedBy>
  <cp:revision>4</cp:revision>
  <dcterms:created xsi:type="dcterms:W3CDTF">2026-10-27T03:50:31Z</dcterms:created>
  <dcterms:modified xsi:type="dcterms:W3CDTF">2026-10-27T04:45:21Z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2058-12.1.0.29162</vt:lpwstr>
  </property>
  <property fmtid="{D5CDD505-2E9C-101B-9397-08002B2CF9AE}" pid="3" name="ICV">
    <vt:lpwstr>3DB2ECCEF6DA46B8ABE58E6A6C44E628_12</vt:lpwstr>
  </property>
</Properties>
</file>