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337" r:id="rId4"/>
    <p:sldId id="338" r:id="rId5"/>
    <p:sldId id="413" r:id="rId6"/>
    <p:sldId id="414" r:id="rId7"/>
    <p:sldId id="416" r:id="rId8"/>
    <p:sldId id="418" r:id="rId9"/>
    <p:sldId id="424" r:id="rId10"/>
    <p:sldId id="425" r:id="rId11"/>
    <p:sldId id="428" r:id="rId12"/>
    <p:sldId id="441" r:id="rId13"/>
    <p:sldId id="449" r:id="rId14"/>
    <p:sldId id="453" r:id="rId15"/>
    <p:sldId id="457" r:id="rId16"/>
    <p:sldId id="461" r:id="rId17"/>
    <p:sldId id="469" r:id="rId18"/>
    <p:sldId id="470" r:id="rId19"/>
    <p:sldId id="471" r:id="rId20"/>
    <p:sldId id="472" r:id="rId21"/>
    <p:sldId id="409" r:id="rId22"/>
    <p:sldId id="410" r:id="rId23"/>
  </p:sldIdLst>
  <p:sldSz cx="12192000" cy="6858000"/>
  <p:notesSz cx="6858000" cy="9144000"/>
  <p:embeddedFontLst>
    <p:embeddedFont>
      <p:font typeface="Cambria" panose="02040503050406030204" pitchFamily="18" charset="0"/>
      <p:regular r:id="rId25"/>
      <p:bold r:id="rId26"/>
      <p:italic r:id="rId27"/>
      <p:boldItalic r:id="rId28"/>
    </p:embeddedFont>
    <p:embeddedFont>
      <p:font typeface="Gill Sans" panose="020B0604020202020204" charset="0"/>
      <p:regular r:id="rId29"/>
      <p:bold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29" y="6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EC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EC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EC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 panose="020B0502020104020203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40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401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 panose="020B0502020104020203"/>
              <a:buNone/>
              <a:defRPr sz="3600" b="0" cap="none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40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401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2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40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401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2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40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401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3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4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40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401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lang="es-ES"/>
          </a:p>
        </p:txBody>
      </p:sp>
      <p:sp>
        <p:nvSpPr>
          <p:cNvPr id="57" name="Google Shape;57;p7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8" name="Google Shape;58;p7"/>
          <p:cNvSpPr txBox="1"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5" name="Google Shape;65;p9"/>
          <p:cNvSpPr txBox="1"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Gill Sans" panose="020B0502020104020203"/>
              <a:buNone/>
              <a:defRPr sz="2000" b="0"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body"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544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marL="914400" lvl="1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marL="1371600" lvl="2" indent="-3219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marL="1828800" lvl="3" indent="-31051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marL="2286000" lvl="4" indent="-31051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marL="2743200" lvl="5" indent="-31051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marL="3200400" lvl="6" indent="-31051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marL="3657600" lvl="7" indent="-31051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marL="4114800" lvl="8" indent="-310515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body" idx="2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 panose="020B0502020104020203"/>
              <a:buNone/>
              <a:defRPr sz="2400" b="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>
            <a:spLocks noGrp="1"/>
          </p:cNvSpPr>
          <p:nvPr>
            <p:ph type="pic" idx="2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EC"/>
          </a:p>
        </p:txBody>
      </p:sp>
      <p:sp>
        <p:nvSpPr>
          <p:cNvPr id="74" name="Google Shape;74;p10"/>
          <p:cNvSpPr txBox="1">
            <a:spLocks noGrp="1"/>
          </p:cNvSpPr>
          <p:nvPr>
            <p:ph type="body" idx="1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0" name="Google Shape;80;p1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body" idx="1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40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219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marL="1371600" lvl="2" indent="-31051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marL="1828800" lvl="3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marL="2286000" lvl="4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marL="2743200" lvl="5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401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7" name="Google Shape;87;p12"/>
          <p:cNvSpPr txBox="1">
            <a:spLocks noGrp="1"/>
          </p:cNvSpPr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body" idx="1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40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401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9" name="Google Shape;89;p12"/>
          <p:cNvSpPr txBox="1">
            <a:spLocks noGrp="1"/>
          </p:cNvSpPr>
          <p:nvPr>
            <p:ph type="dt" idx="10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ftr" idx="11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sldNum" idx="12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  <a:defRPr sz="2800" b="0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3401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L="914400" marR="0" lvl="1" indent="-32194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L="1371600" marR="0" lvl="2" indent="-31051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lang="es-ES"/>
          </a:p>
        </p:txBody>
      </p:sp>
      <p:sp>
        <p:nvSpPr>
          <p:cNvPr id="11" name="Google Shape;11;p1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ctrTitle"/>
          </p:nvPr>
        </p:nvSpPr>
        <p:spPr>
          <a:xfrm>
            <a:off x="599226" y="3048001"/>
            <a:ext cx="10993549" cy="123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 algn="ctr">
              <a:buClr>
                <a:schemeClr val="lt1"/>
              </a:buClr>
            </a:pPr>
            <a:r>
              <a:rPr lang="es-ES" dirty="0">
                <a:solidFill>
                  <a:schemeClr val="bg1"/>
                </a:solidFill>
              </a:rPr>
              <a:t>MANUAL SOAP JAVA – SIN BASE DE DATOS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98" name="Google Shape;98;p13" descr="Resultado de imagen para espe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19597" y="716302"/>
            <a:ext cx="11647502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3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 panose="020B0502020104020203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Google Shape;99;p13">
            <a:extLst>
              <a:ext uri="{FF2B5EF4-FFF2-40B4-BE49-F238E27FC236}">
                <a16:creationId xmlns:a16="http://schemas.microsoft.com/office/drawing/2014/main" id="{A7E87C6B-54BD-F804-CAFF-55D9EA726653}"/>
              </a:ext>
            </a:extLst>
          </p:cNvPr>
          <p:cNvSpPr txBox="1"/>
          <p:nvPr/>
        </p:nvSpPr>
        <p:spPr>
          <a:xfrm>
            <a:off x="8593833" y="5322756"/>
            <a:ext cx="4261531" cy="123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lang="es-ES" sz="1600" b="1" i="0" u="none" strike="noStrike" cap="none" dirty="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FECHA:  </a:t>
            </a:r>
            <a:r>
              <a:rPr lang="es-EC" altLang="es-ES" sz="1600" b="1" i="0" u="none" strike="noStrike" cap="none" dirty="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28</a:t>
            </a:r>
            <a:r>
              <a:rPr lang="es-ES" sz="1600" b="1" i="0" u="none" strike="noStrike" cap="none" dirty="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/1</a:t>
            </a:r>
            <a:r>
              <a:rPr lang="es-EC" altLang="es-ES" sz="1600" b="1" i="0" u="none" strike="noStrike" cap="none" dirty="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0</a:t>
            </a:r>
            <a:r>
              <a:rPr lang="es-ES" sz="1600" b="1" i="0" u="none" strike="noStrike" cap="none" dirty="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/2026
ING: CAMPAÑA MAURICIO</a:t>
            </a:r>
            <a:endParaRPr sz="1600" b="0" i="0" u="none" strike="noStrike" cap="none" dirty="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  <a:sym typeface="Gill Sans" panose="020B050202010402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endParaRPr sz="1600" b="1" i="0" u="none" strike="noStrike" cap="none" dirty="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  <a:sym typeface="Gill Sans" panose="020B0502020104020203"/>
            </a:endParaRP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9D06551B-79D9-FE14-18EB-CCBD9FB57D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Google Shape;97;p13">
            <a:extLst>
              <a:ext uri="{FF2B5EF4-FFF2-40B4-BE49-F238E27FC236}">
                <a16:creationId xmlns:a16="http://schemas.microsoft.com/office/drawing/2014/main" id="{64A21070-A0ED-D769-1AE6-41A82EDCCEEE}"/>
              </a:ext>
            </a:extLst>
          </p:cNvPr>
          <p:cNvSpPr txBox="1">
            <a:spLocks/>
          </p:cNvSpPr>
          <p:nvPr/>
        </p:nvSpPr>
        <p:spPr>
          <a:xfrm>
            <a:off x="599226" y="4572000"/>
            <a:ext cx="4261500" cy="18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401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None/>
              <a:defRPr sz="16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L="914400" marR="0" lvl="1" indent="-32194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None/>
              <a:defRPr sz="1600" b="0" i="0" u="none" strike="noStrike" cap="none">
                <a:solidFill>
                  <a:srgbClr val="888888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L="1371600" marR="0" lvl="2" indent="-31051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None/>
              <a:defRPr sz="1400" b="0" i="0" u="none" strike="noStrike" cap="none">
                <a:solidFill>
                  <a:srgbClr val="888888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L="1828800" marR="0" lvl="3" indent="-29845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None/>
              <a:defRPr sz="1200" b="0" i="0" u="none" strike="noStrike" cap="none">
                <a:solidFill>
                  <a:srgbClr val="888888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L="2286000" marR="0" lvl="4" indent="-29845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None/>
              <a:defRPr sz="1200" b="0" i="0" u="none" strike="noStrike" cap="none">
                <a:solidFill>
                  <a:srgbClr val="888888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L="2743200" marR="0" lvl="5" indent="-29845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None/>
              <a:defRPr sz="1200" b="0" i="0" u="none" strike="noStrike" cap="none">
                <a:solidFill>
                  <a:srgbClr val="888888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L="3200400" marR="0" lvl="6" indent="-29845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None/>
              <a:defRPr sz="1200" b="0" i="0" u="none" strike="noStrike" cap="none">
                <a:solidFill>
                  <a:srgbClr val="888888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L="3657600" marR="0" lvl="7" indent="-29845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None/>
              <a:defRPr sz="1200" b="0" i="0" u="none" strike="noStrike" cap="none">
                <a:solidFill>
                  <a:srgbClr val="888888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L="4114800" marR="0" lvl="8" indent="-298450" algn="ctr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None/>
              <a:defRPr sz="1200" b="0" i="0" u="none" strike="noStrike" cap="none">
                <a:solidFill>
                  <a:srgbClr val="888888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pPr marL="0" indent="0">
              <a:spcBef>
                <a:spcPts val="0"/>
              </a:spcBef>
              <a:buClr>
                <a:schemeClr val="dk1"/>
              </a:buClr>
              <a:buFont typeface="Arial" panose="020B0604020202020204"/>
              <a:buNone/>
            </a:pPr>
            <a:endParaRPr lang="en-US" b="1" dirty="0">
              <a:solidFill>
                <a:schemeClr val="lt1"/>
              </a:solidFill>
            </a:endParaRPr>
          </a:p>
          <a:p>
            <a:pPr marL="0" indent="0">
              <a:spcBef>
                <a:spcPts val="920"/>
              </a:spcBef>
              <a:buClr>
                <a:schemeClr val="dk1"/>
              </a:buClr>
              <a:buFont typeface="Arial" panose="020B0604020202020204"/>
              <a:buNone/>
            </a:pPr>
            <a:r>
              <a:rPr lang="en-US" b="1" dirty="0">
                <a:solidFill>
                  <a:schemeClr val="lt1"/>
                </a:solidFill>
              </a:rPr>
              <a:t>INTEGRANTES:</a:t>
            </a:r>
            <a:r>
              <a:rPr lang="en-US" dirty="0">
                <a:solidFill>
                  <a:schemeClr val="lt1"/>
                </a:solidFill>
              </a:rPr>
              <a:t> 	GUALLICHICO JOSUE</a:t>
            </a:r>
          </a:p>
          <a:p>
            <a:pPr marL="0" indent="0">
              <a:spcBef>
                <a:spcPts val="920"/>
              </a:spcBef>
              <a:buClr>
                <a:schemeClr val="dk1"/>
              </a:buClr>
              <a:buFont typeface="Arial" panose="020B0604020202020204"/>
              <a:buNone/>
            </a:pPr>
            <a:r>
              <a:rPr lang="en-US" dirty="0">
                <a:solidFill>
                  <a:schemeClr val="lt1"/>
                </a:solidFill>
              </a:rPr>
              <a:t>		GRANDA JUAN</a:t>
            </a:r>
          </a:p>
          <a:p>
            <a:pPr marL="0" indent="0">
              <a:spcBef>
                <a:spcPts val="920"/>
              </a:spcBef>
              <a:buClr>
                <a:schemeClr val="dk1"/>
              </a:buClr>
              <a:buFont typeface="Arial" panose="020B0604020202020204"/>
              <a:buNone/>
            </a:pPr>
            <a:r>
              <a:rPr lang="en-US" dirty="0">
                <a:solidFill>
                  <a:schemeClr val="lt1"/>
                </a:solidFill>
              </a:rPr>
              <a:t>		ASMAL KEVIN </a:t>
            </a:r>
            <a:endParaRPr lang="en-US" b="1"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/>
          <p:nvPr/>
        </p:nvSpPr>
        <p:spPr>
          <a:xfrm>
            <a:off x="0" y="614406"/>
            <a:ext cx="12192000" cy="62435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 panose="020B0502020104020203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  <a:sym typeface="Gill Sans" panose="020B0502020104020203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dirty="0"/>
          </a:p>
        </p:txBody>
      </p:sp>
      <p:sp>
        <p:nvSpPr>
          <p:cNvPr id="107" name="Google Shape;107;p14"/>
          <p:cNvSpPr txBox="1">
            <a:spLocks noGrp="1"/>
          </p:cNvSpPr>
          <p:nvPr>
            <p:ph type="body" idx="1"/>
          </p:nvPr>
        </p:nvSpPr>
        <p:spPr>
          <a:xfrm>
            <a:off x="601252" y="367054"/>
            <a:ext cx="3389726" cy="542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10000"/>
          </a:bodyPr>
          <a:lstStyle/>
          <a:p>
            <a:pPr marL="306070" lvl="0" indent="-30607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endParaRPr lang="es-ES" dirty="0">
              <a:solidFill>
                <a:schemeClr val="lt1"/>
              </a:solidFill>
            </a:endParaRPr>
          </a:p>
          <a:p>
            <a:pPr>
              <a:spcBef>
                <a:spcPts val="870"/>
              </a:spcBef>
            </a:pPr>
            <a:r>
              <a:rPr lang="es-ES" dirty="0">
                <a:solidFill>
                  <a:schemeClr val="lt1"/>
                </a:solidFill>
              </a:rPr>
              <a:t>DESARROLLO</a:t>
            </a:r>
          </a:p>
          <a:p>
            <a:pPr>
              <a:spcBef>
                <a:spcPts val="870"/>
              </a:spcBef>
            </a:pPr>
            <a:r>
              <a:rPr lang="es-ES" dirty="0">
                <a:solidFill>
                  <a:schemeClr val="lt1"/>
                </a:solidFill>
              </a:rPr>
              <a:t>OBJETIVO</a:t>
            </a:r>
          </a:p>
          <a:p>
            <a:pPr marL="629920" lvl="1" indent="-320040" algn="l" rtl="0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SzPts val="1472"/>
              <a:buChar char="◼"/>
            </a:pPr>
            <a:r>
              <a:rPr lang="es-ES" dirty="0">
                <a:solidFill>
                  <a:schemeClr val="lt1"/>
                </a:solidFill>
              </a:rPr>
              <a:t>CREACIÓN DEL SERVIDOR SOAP</a:t>
            </a:r>
          </a:p>
          <a:p>
            <a:pPr marL="629920" lvl="1" indent="-320040" algn="l" rtl="0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SzPts val="1472"/>
              <a:buChar char="◼"/>
            </a:pPr>
            <a:r>
              <a:rPr lang="es-ES" sz="1800" dirty="0">
                <a:solidFill>
                  <a:schemeClr val="lt1"/>
                </a:solidFill>
              </a:rPr>
              <a:t>CREACIÓN DEL PROYECTO – CLIENTE CONSOLA</a:t>
            </a:r>
          </a:p>
          <a:p>
            <a:pPr marL="629920" lvl="1" indent="-320040" algn="l" rtl="0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SzPts val="1472"/>
              <a:buChar char="◼"/>
            </a:pPr>
            <a:r>
              <a:rPr lang="es-ES" sz="1800" dirty="0">
                <a:solidFill>
                  <a:schemeClr val="lt1"/>
                </a:solidFill>
              </a:rPr>
              <a:t>CREACIÓN DEL PROYECTO – CLIENTE ESCRITORIO</a:t>
            </a:r>
          </a:p>
          <a:p>
            <a:pPr marL="629920" lvl="1" indent="-320040" algn="l" rtl="0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SzPts val="1472"/>
              <a:buChar char="◼"/>
            </a:pPr>
            <a:r>
              <a:rPr lang="es-ES" sz="1800" dirty="0">
                <a:solidFill>
                  <a:schemeClr val="lt1"/>
                </a:solidFill>
              </a:rPr>
              <a:t>CREACIÓN DEL PROYECTO – CLIENTE WEB</a:t>
            </a:r>
          </a:p>
          <a:p>
            <a:pPr marL="629920" lvl="1" indent="-320040" algn="l" rtl="0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SzPts val="1472"/>
              <a:buChar char="◼"/>
            </a:pPr>
            <a:r>
              <a:rPr lang="es-ES" sz="1800" dirty="0">
                <a:solidFill>
                  <a:schemeClr val="lt1"/>
                </a:solidFill>
              </a:rPr>
              <a:t>CREACIÓN DEL PROYECTO – CLIENTE MÓVIL</a:t>
            </a:r>
          </a:p>
          <a:p>
            <a:pPr marL="629920" lvl="1" indent="-320040" algn="l" rtl="0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SzPts val="1472"/>
              <a:buChar char="◼"/>
            </a:pPr>
            <a:r>
              <a:rPr lang="es-ES" sz="1800" dirty="0">
                <a:solidFill>
                  <a:schemeClr val="lt1"/>
                </a:solidFill>
              </a:rPr>
              <a:t>FUNCIONAMIENTO DEL SISTEMA</a:t>
            </a:r>
          </a:p>
          <a:p>
            <a:pPr marL="306070" marR="0" lvl="0" indent="-306070" algn="l" rtl="0">
              <a:lnSpc>
                <a:spcPct val="100000"/>
              </a:lnSpc>
              <a:spcBef>
                <a:spcPts val="905"/>
              </a:spcBef>
              <a:spcAft>
                <a:spcPts val="0"/>
              </a:spcAft>
              <a:buSzPts val="1656"/>
              <a:buChar char="◼"/>
            </a:pPr>
            <a:r>
              <a:rPr lang="es-ES" dirty="0">
                <a:solidFill>
                  <a:schemeClr val="lt1"/>
                </a:solidFill>
              </a:rPr>
              <a:t>CONCLUSIONES</a:t>
            </a:r>
          </a:p>
          <a:p>
            <a:pPr marL="306070" marR="0" lvl="0" indent="-306070" algn="l" rtl="0">
              <a:lnSpc>
                <a:spcPct val="100000"/>
              </a:lnSpc>
              <a:spcBef>
                <a:spcPts val="905"/>
              </a:spcBef>
              <a:spcAft>
                <a:spcPts val="0"/>
              </a:spcAft>
              <a:buSzPts val="1656"/>
              <a:buChar char="◼"/>
            </a:pPr>
            <a:r>
              <a:rPr lang="es-ES" dirty="0">
                <a:solidFill>
                  <a:schemeClr val="lt1"/>
                </a:solidFill>
              </a:rPr>
              <a:t>RECOMENDACIONES</a:t>
            </a:r>
          </a:p>
        </p:txBody>
      </p:sp>
      <p:sp>
        <p:nvSpPr>
          <p:cNvPr id="109" name="Google Shape;109;p14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 panose="020B0502020104020203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" name="Google Shape;108;p14" descr="Resultado de imagen para AGENDA PNG">
            <a:extLst>
              <a:ext uri="{FF2B5EF4-FFF2-40B4-BE49-F238E27FC236}">
                <a16:creationId xmlns:a16="http://schemas.microsoft.com/office/drawing/2014/main" id="{2208683E-0DAB-3D42-DA0D-6C5E44D718F6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791522" y="1935576"/>
            <a:ext cx="6489819" cy="30074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2765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  <a:defRPr/>
            </a:pPr>
            <a:r>
              <a:rPr dirty="0"/>
              <a:t>Objetivo general</a:t>
            </a:r>
            <a:br>
              <a:rPr dirty="0"/>
            </a:br>
            <a:r>
              <a:rPr dirty="0" err="1"/>
              <a:t>Implementar</a:t>
            </a:r>
            <a:r>
              <a:rPr dirty="0"/>
              <a:t> un </a:t>
            </a:r>
            <a:r>
              <a:rPr dirty="0" err="1"/>
              <a:t>conversor</a:t>
            </a:r>
            <a:r>
              <a:rPr dirty="0"/>
              <a:t> de </a:t>
            </a:r>
            <a:r>
              <a:rPr dirty="0" err="1"/>
              <a:t>unidades</a:t>
            </a:r>
            <a:r>
              <a:rPr dirty="0"/>
              <a:t> con </a:t>
            </a:r>
            <a:r>
              <a:rPr dirty="0" err="1"/>
              <a:t>servicios</a:t>
            </a:r>
            <a:r>
              <a:rPr dirty="0"/>
              <a:t> SOAP en Java, </a:t>
            </a:r>
            <a:r>
              <a:rPr dirty="0" err="1"/>
              <a:t>autenticación</a:t>
            </a:r>
            <a:r>
              <a:rPr dirty="0"/>
              <a:t> por token y cuatro </a:t>
            </a:r>
            <a:r>
              <a:rPr dirty="0" err="1"/>
              <a:t>tipos</a:t>
            </a:r>
            <a:r>
              <a:rPr dirty="0"/>
              <a:t> de </a:t>
            </a:r>
            <a:r>
              <a:rPr dirty="0" err="1"/>
              <a:t>cliente</a:t>
            </a:r>
            <a:r>
              <a:rPr dirty="0"/>
              <a:t>, sin base de datos.</a:t>
            </a:r>
            <a:endParaRPr sz="2000" b="1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SOAP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2950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  <a:defRPr/>
            </a:pPr>
            <a:r>
              <a:rPr dirty="0" err="1"/>
              <a:t>Objetivos</a:t>
            </a:r>
            <a:r>
              <a:rPr dirty="0"/>
              <a:t> </a:t>
            </a:r>
            <a:r>
              <a:rPr dirty="0" err="1"/>
              <a:t>específicos</a:t>
            </a:r>
            <a:br>
              <a:rPr dirty="0"/>
            </a:br>
            <a:r>
              <a:rPr dirty="0"/>
              <a:t>• </a:t>
            </a:r>
            <a:r>
              <a:rPr dirty="0" err="1"/>
              <a:t>Exponer</a:t>
            </a:r>
            <a:r>
              <a:rPr dirty="0"/>
              <a:t> </a:t>
            </a:r>
            <a:r>
              <a:rPr dirty="0" err="1"/>
              <a:t>autenticación</a:t>
            </a:r>
            <a:r>
              <a:rPr dirty="0"/>
              <a:t>, </a:t>
            </a:r>
            <a:r>
              <a:rPr dirty="0" err="1"/>
              <a:t>conversión</a:t>
            </a:r>
            <a:r>
              <a:rPr dirty="0"/>
              <a:t> y </a:t>
            </a:r>
            <a:r>
              <a:rPr dirty="0" err="1"/>
              <a:t>catálogo</a:t>
            </a:r>
            <a:r>
              <a:rPr dirty="0"/>
              <a:t> mediante SOAP.</a:t>
            </a:r>
            <a:br>
              <a:rPr dirty="0"/>
            </a:br>
            <a:r>
              <a:rPr dirty="0"/>
              <a:t>• Validar datos y </a:t>
            </a:r>
            <a:r>
              <a:rPr dirty="0" err="1"/>
              <a:t>manejar</a:t>
            </a:r>
            <a:r>
              <a:rPr dirty="0"/>
              <a:t> </a:t>
            </a:r>
            <a:r>
              <a:rPr dirty="0" err="1"/>
              <a:t>errores</a:t>
            </a:r>
            <a:r>
              <a:rPr dirty="0"/>
              <a:t>.</a:t>
            </a:r>
            <a:br>
              <a:rPr dirty="0"/>
            </a:br>
            <a:r>
              <a:rPr dirty="0"/>
              <a:t>• </a:t>
            </a:r>
            <a:r>
              <a:rPr dirty="0" err="1"/>
              <a:t>Desplegar</a:t>
            </a:r>
            <a:r>
              <a:rPr dirty="0"/>
              <a:t> en Payara Server.</a:t>
            </a:r>
            <a:br>
              <a:rPr dirty="0"/>
            </a:br>
            <a:r>
              <a:rPr dirty="0"/>
              <a:t>• </a:t>
            </a:r>
            <a:r>
              <a:rPr dirty="0" err="1"/>
              <a:t>Integrar</a:t>
            </a:r>
            <a:r>
              <a:rPr dirty="0"/>
              <a:t> </a:t>
            </a:r>
            <a:r>
              <a:rPr dirty="0" err="1"/>
              <a:t>consola</a:t>
            </a:r>
            <a:r>
              <a:rPr dirty="0"/>
              <a:t>, </a:t>
            </a:r>
            <a:r>
              <a:rPr dirty="0" err="1"/>
              <a:t>escritorio</a:t>
            </a:r>
            <a:r>
              <a:rPr dirty="0"/>
              <a:t>, web y Android.</a:t>
            </a:r>
            <a:endParaRPr sz="2000" b="1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SOAP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8" name="Rounded Rectangle 127"/>
          <p:cNvSpPr/>
          <p:nvPr/>
        </p:nvSpPr>
        <p:spPr>
          <a:xfrm>
            <a:off x="868680" y="5623560"/>
            <a:ext cx="13258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000" b="1">
                <a:solidFill>
                  <a:srgbClr val="192B4A"/>
                </a:solidFill>
              </a:defRPr>
            </a:pPr>
            <a:r>
              <a:t>Consola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2514600" y="5623560"/>
            <a:ext cx="13258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000" b="1">
                <a:solidFill>
                  <a:srgbClr val="192B4A"/>
                </a:solidFill>
              </a:defRPr>
            </a:pPr>
            <a:r>
              <a:t>Escritorio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4160520" y="5623560"/>
            <a:ext cx="13258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000" b="1">
                <a:solidFill>
                  <a:srgbClr val="192B4A"/>
                </a:solidFill>
              </a:defRPr>
            </a:pPr>
            <a:r>
              <a:t>Web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5806440" y="5623560"/>
            <a:ext cx="13258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000" b="1">
                <a:solidFill>
                  <a:srgbClr val="192B4A"/>
                </a:solidFill>
              </a:defRPr>
            </a:pPr>
            <a:r>
              <a:t>Android</a:t>
            </a:r>
          </a:p>
        </p:txBody>
      </p:sp>
      <p:cxnSp>
        <p:nvCxnSpPr>
          <p:cNvPr id="132" name="Connector 131"/>
          <p:cNvCxnSpPr/>
          <p:nvPr/>
        </p:nvCxnSpPr>
        <p:spPr>
          <a:xfrm flipV="1">
            <a:off x="1508760" y="5010912"/>
            <a:ext cx="2331720" cy="585216"/>
          </a:xfrm>
          <a:prstGeom prst="line">
            <a:avLst/>
          </a:prstGeom>
          <a:ln w="25400">
            <a:solidFill>
              <a:srgbClr val="00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3154680" y="5010912"/>
            <a:ext cx="914400" cy="585216"/>
          </a:xfrm>
          <a:prstGeom prst="line">
            <a:avLst/>
          </a:prstGeom>
          <a:ln w="25400">
            <a:solidFill>
              <a:srgbClr val="00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H="1" flipV="1">
            <a:off x="4389120" y="5010912"/>
            <a:ext cx="411480" cy="585216"/>
          </a:xfrm>
          <a:prstGeom prst="line">
            <a:avLst/>
          </a:prstGeom>
          <a:ln w="25400">
            <a:solidFill>
              <a:srgbClr val="00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H="1" flipV="1">
            <a:off x="4617720" y="5010912"/>
            <a:ext cx="1828800" cy="585216"/>
          </a:xfrm>
          <a:prstGeom prst="line">
            <a:avLst/>
          </a:prstGeom>
          <a:ln w="25400">
            <a:solidFill>
              <a:srgbClr val="00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Rounded Rectangle 135"/>
          <p:cNvSpPr/>
          <p:nvPr/>
        </p:nvSpPr>
        <p:spPr>
          <a:xfrm>
            <a:off x="3429000" y="4389120"/>
            <a:ext cx="1645920" cy="548640"/>
          </a:xfrm>
          <a:prstGeom prst="roundRect">
            <a:avLst/>
          </a:prstGeom>
          <a:solidFill>
            <a:srgbClr val="EBF6F8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100" b="1">
                <a:solidFill>
                  <a:srgbClr val="192B4A"/>
                </a:solidFill>
              </a:defRPr>
            </a:pPr>
            <a:r>
              <a:t>Servidor SOAP</a:t>
            </a:r>
          </a:p>
          <a:p>
            <a:pPr algn="ctr">
              <a:defRPr sz="900">
                <a:solidFill>
                  <a:srgbClr val="505A69"/>
                </a:solidFill>
              </a:defRPr>
            </a:pPr>
            <a:r>
              <a:t>Java / JAX-WS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  <a:defRPr/>
            </a:pPr>
            <a:r>
              <a:rPr dirty="0" err="1"/>
              <a:t>Arquitectura</a:t>
            </a:r>
            <a:r>
              <a:rPr dirty="0"/>
              <a:t> por </a:t>
            </a:r>
            <a:r>
              <a:rPr dirty="0" err="1"/>
              <a:t>capas</a:t>
            </a:r>
            <a:br>
              <a:rPr dirty="0"/>
            </a:br>
            <a:r>
              <a:rPr dirty="0" err="1"/>
              <a:t>Separar</a:t>
            </a:r>
            <a:r>
              <a:rPr dirty="0"/>
              <a:t> </a:t>
            </a:r>
            <a:r>
              <a:rPr dirty="0" err="1"/>
              <a:t>servicios</a:t>
            </a:r>
            <a:r>
              <a:rPr dirty="0"/>
              <a:t> SOAP, lógica de </a:t>
            </a:r>
            <a:r>
              <a:rPr dirty="0" err="1"/>
              <a:t>conversión</a:t>
            </a:r>
            <a:r>
              <a:rPr dirty="0"/>
              <a:t>, modelos, </a:t>
            </a:r>
            <a:r>
              <a:rPr dirty="0" err="1"/>
              <a:t>seguridad</a:t>
            </a:r>
            <a:r>
              <a:rPr dirty="0"/>
              <a:t> y </a:t>
            </a:r>
            <a:r>
              <a:rPr dirty="0" err="1"/>
              <a:t>manejo</a:t>
            </a:r>
            <a:r>
              <a:rPr dirty="0"/>
              <a:t> de </a:t>
            </a:r>
            <a:r>
              <a:rPr dirty="0" err="1"/>
              <a:t>errores</a:t>
            </a:r>
            <a:r>
              <a:rPr dirty="0"/>
              <a:t> </a:t>
            </a:r>
            <a:r>
              <a:rPr dirty="0" err="1"/>
              <a:t>facilita</a:t>
            </a:r>
            <a:r>
              <a:rPr dirty="0"/>
              <a:t> el </a:t>
            </a:r>
            <a:r>
              <a:rPr dirty="0" err="1"/>
              <a:t>mantenimiento</a:t>
            </a:r>
            <a:r>
              <a:rPr dirty="0"/>
              <a:t>.</a:t>
            </a:r>
            <a:endParaRPr sz="2000" b="1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SOAP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914400" y="34290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2B4A"/>
                </a:solidFill>
              </a:defRPr>
            </a:pPr>
            <a:r>
              <a:rPr dirty="0" err="1"/>
              <a:t>Separación</a:t>
            </a:r>
            <a:r>
              <a:rPr dirty="0"/>
              <a:t> por </a:t>
            </a:r>
            <a:r>
              <a:rPr dirty="0" err="1"/>
              <a:t>capas</a:t>
            </a:r>
            <a:r>
              <a:rPr dirty="0"/>
              <a:t> del </a:t>
            </a:r>
            <a:r>
              <a:rPr dirty="0" err="1"/>
              <a:t>servidor</a:t>
            </a:r>
            <a:endParaRPr dirty="0"/>
          </a:p>
        </p:txBody>
      </p:sp>
      <p:sp>
        <p:nvSpPr>
          <p:cNvPr id="127" name="Rounded Rectangle 126"/>
          <p:cNvSpPr/>
          <p:nvPr/>
        </p:nvSpPr>
        <p:spPr>
          <a:xfrm>
            <a:off x="1090863" y="4399548"/>
            <a:ext cx="1828800" cy="502920"/>
          </a:xfrm>
          <a:prstGeom prst="roundRect">
            <a:avLst/>
          </a:prstGeom>
          <a:solidFill>
            <a:srgbClr val="EBF6F8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000" b="1">
                <a:solidFill>
                  <a:srgbClr val="192B4A"/>
                </a:solidFill>
              </a:defRPr>
            </a:pPr>
            <a:r>
              <a:rPr dirty="0"/>
              <a:t>Endpoint SOAP</a:t>
            </a:r>
          </a:p>
          <a:p>
            <a:pPr algn="ctr">
              <a:defRPr sz="800">
                <a:solidFill>
                  <a:srgbClr val="505A69"/>
                </a:solidFill>
              </a:defRPr>
            </a:pPr>
            <a:r>
              <a:rPr dirty="0"/>
              <a:t>JAX-WS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3331143" y="4399548"/>
            <a:ext cx="1828800" cy="502920"/>
          </a:xfrm>
          <a:prstGeom prst="roundRect">
            <a:avLst/>
          </a:prstGeom>
          <a:solidFill>
            <a:srgbClr val="EBF6F8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000" b="1">
                <a:solidFill>
                  <a:srgbClr val="192B4A"/>
                </a:solidFill>
              </a:defRPr>
            </a:pPr>
            <a:r>
              <a:rPr dirty="0"/>
              <a:t>Lógica de </a:t>
            </a:r>
            <a:r>
              <a:rPr dirty="0" err="1"/>
              <a:t>negocio</a:t>
            </a:r>
            <a:endParaRPr dirty="0"/>
          </a:p>
          <a:p>
            <a:pPr algn="ctr">
              <a:defRPr sz="800">
                <a:solidFill>
                  <a:srgbClr val="505A69"/>
                </a:solidFill>
              </a:defRPr>
            </a:pPr>
            <a:r>
              <a:rPr dirty="0" err="1"/>
              <a:t>Conversiones</a:t>
            </a:r>
            <a:endParaRPr dirty="0"/>
          </a:p>
        </p:txBody>
      </p:sp>
      <p:sp>
        <p:nvSpPr>
          <p:cNvPr id="129" name="Rounded Rectangle 128"/>
          <p:cNvSpPr/>
          <p:nvPr/>
        </p:nvSpPr>
        <p:spPr>
          <a:xfrm>
            <a:off x="5571423" y="4399548"/>
            <a:ext cx="1828800" cy="502920"/>
          </a:xfrm>
          <a:prstGeom prst="roundRect">
            <a:avLst/>
          </a:prstGeom>
          <a:solidFill>
            <a:srgbClr val="EBF6F8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000" b="1">
                <a:solidFill>
                  <a:srgbClr val="192B4A"/>
                </a:solidFill>
              </a:defRPr>
            </a:pPr>
            <a:r>
              <a:t>Seguridad</a:t>
            </a:r>
          </a:p>
          <a:p>
            <a:pPr algn="ctr">
              <a:defRPr sz="800">
                <a:solidFill>
                  <a:srgbClr val="505A69"/>
                </a:solidFill>
              </a:defRPr>
            </a:pPr>
            <a:r>
              <a:t>Token en memoria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2919663" y="4646436"/>
            <a:ext cx="384048" cy="0"/>
          </a:xfrm>
          <a:prstGeom prst="line">
            <a:avLst/>
          </a:prstGeom>
          <a:ln w="25400">
            <a:solidFill>
              <a:srgbClr val="00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5159943" y="4646436"/>
            <a:ext cx="384048" cy="0"/>
          </a:xfrm>
          <a:prstGeom prst="line">
            <a:avLst/>
          </a:prstGeom>
          <a:ln w="25400">
            <a:solidFill>
              <a:srgbClr val="00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  <a:defRPr/>
            </a:pPr>
            <a:r>
              <a:rPr dirty="0"/>
              <a:t>SOAP y WSDL</a:t>
            </a:r>
            <a:br>
              <a:rPr dirty="0"/>
            </a:br>
            <a:r>
              <a:rPr dirty="0"/>
              <a:t>SOAP </a:t>
            </a:r>
            <a:r>
              <a:rPr dirty="0" err="1"/>
              <a:t>intercambia</a:t>
            </a:r>
            <a:r>
              <a:rPr dirty="0"/>
              <a:t> </a:t>
            </a:r>
            <a:r>
              <a:rPr dirty="0" err="1"/>
              <a:t>mensajes</a:t>
            </a:r>
            <a:r>
              <a:rPr dirty="0"/>
              <a:t> XML. WSDL describe las </a:t>
            </a:r>
            <a:r>
              <a:rPr dirty="0" err="1"/>
              <a:t>operaciones</a:t>
            </a:r>
            <a:r>
              <a:rPr dirty="0"/>
              <a:t>, </a:t>
            </a:r>
            <a:r>
              <a:rPr dirty="0" err="1"/>
              <a:t>parámetros</a:t>
            </a:r>
            <a:r>
              <a:rPr dirty="0"/>
              <a:t> y </a:t>
            </a:r>
            <a:r>
              <a:rPr dirty="0" err="1"/>
              <a:t>respuestas</a:t>
            </a:r>
            <a:r>
              <a:rPr dirty="0"/>
              <a:t> </a:t>
            </a:r>
            <a:r>
              <a:rPr dirty="0" err="1"/>
              <a:t>disponibles</a:t>
            </a:r>
            <a:r>
              <a:rPr dirty="0"/>
              <a:t>.</a:t>
            </a:r>
            <a:endParaRPr sz="2000" b="1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SOAP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581192" y="3106817"/>
            <a:ext cx="8288808" cy="3339588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125" name="TextBox 124"/>
          <p:cNvSpPr txBox="1"/>
          <p:nvPr/>
        </p:nvSpPr>
        <p:spPr>
          <a:xfrm>
            <a:off x="762337" y="4309075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2B4A"/>
                </a:solidFill>
              </a:defRPr>
            </a:pPr>
            <a:r>
              <a:rPr dirty="0" err="1"/>
              <a:t>Intercambio</a:t>
            </a:r>
            <a:r>
              <a:rPr dirty="0"/>
              <a:t> de </a:t>
            </a:r>
            <a:r>
              <a:rPr dirty="0" err="1"/>
              <a:t>mensajes</a:t>
            </a:r>
            <a:r>
              <a:rPr dirty="0"/>
              <a:t> SOAP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1585297" y="4757024"/>
            <a:ext cx="1965960" cy="566928"/>
          </a:xfrm>
          <a:prstGeom prst="roundRect">
            <a:avLst/>
          </a:prstGeom>
          <a:solidFill>
            <a:srgbClr val="EBF6F8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000" b="1">
                <a:solidFill>
                  <a:srgbClr val="192B4A"/>
                </a:solidFill>
              </a:defRPr>
            </a:pPr>
            <a:r>
              <a:t>Cliente</a:t>
            </a:r>
          </a:p>
          <a:p>
            <a:pPr algn="ctr">
              <a:defRPr sz="800">
                <a:solidFill>
                  <a:srgbClr val="505A69"/>
                </a:solidFill>
              </a:defRPr>
            </a:pPr>
            <a:r>
              <a:t>Solicitud XML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3962737" y="4757024"/>
            <a:ext cx="1965960" cy="566928"/>
          </a:xfrm>
          <a:prstGeom prst="roundRect">
            <a:avLst/>
          </a:prstGeom>
          <a:solidFill>
            <a:srgbClr val="EBF6F8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000" b="1">
                <a:solidFill>
                  <a:srgbClr val="192B4A"/>
                </a:solidFill>
              </a:defRPr>
            </a:pPr>
            <a:r>
              <a:t>Servicio SOAP</a:t>
            </a:r>
          </a:p>
          <a:p>
            <a:pPr algn="ctr">
              <a:defRPr sz="800">
                <a:solidFill>
                  <a:srgbClr val="505A69"/>
                </a:solidFill>
              </a:defRPr>
            </a:pPr>
            <a:r>
              <a:t>Procesa petición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6340177" y="4757024"/>
            <a:ext cx="1965960" cy="566928"/>
          </a:xfrm>
          <a:prstGeom prst="roundRect">
            <a:avLst/>
          </a:prstGeom>
          <a:solidFill>
            <a:srgbClr val="EBF6F8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000" b="1">
                <a:solidFill>
                  <a:srgbClr val="192B4A"/>
                </a:solidFill>
              </a:defRPr>
            </a:pPr>
            <a:r>
              <a:t>Respuesta</a:t>
            </a:r>
          </a:p>
          <a:p>
            <a:pPr algn="ctr">
              <a:defRPr sz="800">
                <a:solidFill>
                  <a:srgbClr val="505A69"/>
                </a:solidFill>
              </a:defRPr>
            </a:pPr>
            <a:r>
              <a:t>XML + resultado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3551257" y="5031344"/>
            <a:ext cx="384048" cy="0"/>
          </a:xfrm>
          <a:prstGeom prst="line">
            <a:avLst/>
          </a:prstGeom>
          <a:ln w="25400">
            <a:solidFill>
              <a:srgbClr val="00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5928697" y="5031344"/>
            <a:ext cx="384048" cy="0"/>
          </a:xfrm>
          <a:prstGeom prst="line">
            <a:avLst/>
          </a:prstGeom>
          <a:ln w="25400">
            <a:solidFill>
              <a:srgbClr val="00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ounded Rectangle 130"/>
          <p:cNvSpPr/>
          <p:nvPr/>
        </p:nvSpPr>
        <p:spPr>
          <a:xfrm>
            <a:off x="1585297" y="3476864"/>
            <a:ext cx="1920240" cy="548640"/>
          </a:xfrm>
          <a:prstGeom prst="roundRect">
            <a:avLst/>
          </a:prstGeom>
          <a:solidFill>
            <a:srgbClr val="EBF6F8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000" b="1">
                <a:solidFill>
                  <a:srgbClr val="192B4A"/>
                </a:solidFill>
              </a:defRPr>
            </a:pPr>
            <a:r>
              <a:t>WSDL</a:t>
            </a:r>
          </a:p>
          <a:p>
            <a:pPr algn="ctr">
              <a:defRPr sz="800">
                <a:solidFill>
                  <a:srgbClr val="505A69"/>
                </a:solidFill>
              </a:defRPr>
            </a:pPr>
            <a:r>
              <a:t>Contrato del servicio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3871297" y="3476864"/>
            <a:ext cx="1920240" cy="548640"/>
          </a:xfrm>
          <a:prstGeom prst="roundRect">
            <a:avLst/>
          </a:prstGeom>
          <a:solidFill>
            <a:srgbClr val="EBF6F8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000" b="1">
                <a:solidFill>
                  <a:srgbClr val="192B4A"/>
                </a:solidFill>
              </a:defRPr>
            </a:pPr>
            <a:r>
              <a:t>SOAP</a:t>
            </a:r>
          </a:p>
          <a:p>
            <a:pPr algn="ctr">
              <a:defRPr sz="800">
                <a:solidFill>
                  <a:srgbClr val="505A69"/>
                </a:solidFill>
              </a:defRPr>
            </a:pPr>
            <a:r>
              <a:t>Sobre y operación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6157297" y="3476864"/>
            <a:ext cx="1920240" cy="548640"/>
          </a:xfrm>
          <a:prstGeom prst="roundRect">
            <a:avLst/>
          </a:prstGeom>
          <a:solidFill>
            <a:srgbClr val="EBF6F8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000" b="1">
                <a:solidFill>
                  <a:srgbClr val="192B4A"/>
                </a:solidFill>
              </a:defRPr>
            </a:pPr>
            <a:r>
              <a:t>XML</a:t>
            </a:r>
          </a:p>
          <a:p>
            <a:pPr algn="ctr">
              <a:defRPr sz="800">
                <a:solidFill>
                  <a:srgbClr val="505A69"/>
                </a:solidFill>
              </a:defRPr>
            </a:pPr>
            <a:r>
              <a:t>Datos estructurados</a:t>
            </a:r>
          </a:p>
        </p:txBody>
      </p:sp>
      <p:cxnSp>
        <p:nvCxnSpPr>
          <p:cNvPr id="134" name="Connector 133"/>
          <p:cNvCxnSpPr/>
          <p:nvPr/>
        </p:nvCxnSpPr>
        <p:spPr>
          <a:xfrm>
            <a:off x="3505537" y="3751184"/>
            <a:ext cx="338328" cy="0"/>
          </a:xfrm>
          <a:prstGeom prst="line">
            <a:avLst/>
          </a:prstGeom>
          <a:ln w="25400">
            <a:solidFill>
              <a:srgbClr val="00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5791537" y="3751184"/>
            <a:ext cx="338328" cy="0"/>
          </a:xfrm>
          <a:prstGeom prst="line">
            <a:avLst/>
          </a:prstGeom>
          <a:ln w="25400">
            <a:solidFill>
              <a:srgbClr val="00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  <a:defRPr/>
            </a:pPr>
            <a:r>
              <a:rPr dirty="0"/>
              <a:t>Servicio de </a:t>
            </a:r>
            <a:r>
              <a:rPr dirty="0" err="1"/>
              <a:t>conversión</a:t>
            </a:r>
            <a:br>
              <a:rPr dirty="0"/>
            </a:br>
            <a:r>
              <a:rPr dirty="0" err="1"/>
              <a:t>Recibe</a:t>
            </a:r>
            <a:r>
              <a:rPr dirty="0"/>
              <a:t> </a:t>
            </a:r>
            <a:r>
              <a:rPr dirty="0" err="1"/>
              <a:t>magnitud</a:t>
            </a:r>
            <a:r>
              <a:rPr dirty="0"/>
              <a:t>, valor, </a:t>
            </a:r>
            <a:r>
              <a:rPr dirty="0" err="1"/>
              <a:t>unidad</a:t>
            </a:r>
            <a:r>
              <a:rPr dirty="0"/>
              <a:t> de </a:t>
            </a:r>
            <a:r>
              <a:rPr dirty="0" err="1"/>
              <a:t>origen</a:t>
            </a:r>
            <a:r>
              <a:rPr dirty="0"/>
              <a:t> y </a:t>
            </a:r>
            <a:r>
              <a:rPr dirty="0" err="1"/>
              <a:t>unidad</a:t>
            </a:r>
            <a:r>
              <a:rPr dirty="0"/>
              <a:t> de </a:t>
            </a:r>
            <a:r>
              <a:rPr dirty="0" err="1"/>
              <a:t>destino</a:t>
            </a:r>
            <a:r>
              <a:rPr dirty="0"/>
              <a:t> en una </a:t>
            </a:r>
            <a:r>
              <a:rPr dirty="0" err="1"/>
              <a:t>petición</a:t>
            </a:r>
            <a:r>
              <a:rPr dirty="0"/>
              <a:t> SOAP.</a:t>
            </a:r>
            <a:endParaRPr sz="2000" b="1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SOAP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77240" y="2920811"/>
            <a:ext cx="8288808" cy="2732233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854964" y="3095621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2B4A"/>
                </a:solidFill>
              </a:defRPr>
            </a:pPr>
            <a:r>
              <a:rPr dirty="0" err="1"/>
              <a:t>Flujo</a:t>
            </a:r>
            <a:r>
              <a:rPr dirty="0"/>
              <a:t> de </a:t>
            </a:r>
            <a:r>
              <a:rPr dirty="0" err="1"/>
              <a:t>conversión</a:t>
            </a:r>
            <a:endParaRPr dirty="0"/>
          </a:p>
        </p:txBody>
      </p:sp>
      <p:sp>
        <p:nvSpPr>
          <p:cNvPr id="126" name="Rounded Rectangle 125"/>
          <p:cNvSpPr/>
          <p:nvPr/>
        </p:nvSpPr>
        <p:spPr>
          <a:xfrm>
            <a:off x="1033913" y="3939992"/>
            <a:ext cx="1600200" cy="594360"/>
          </a:xfrm>
          <a:prstGeom prst="roundRect">
            <a:avLst/>
          </a:prstGeom>
          <a:solidFill>
            <a:srgbClr val="EBF6F8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900" b="1">
                <a:solidFill>
                  <a:srgbClr val="192B4A"/>
                </a:solidFill>
              </a:defRPr>
            </a:pPr>
            <a:r>
              <a:t>1. Entrada</a:t>
            </a:r>
          </a:p>
          <a:p>
            <a:pPr algn="ctr">
              <a:defRPr sz="800">
                <a:solidFill>
                  <a:srgbClr val="505A69"/>
                </a:solidFill>
              </a:defRPr>
            </a:pPr>
            <a:r>
              <a:t>valor + origen + destino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2999873" y="3939992"/>
            <a:ext cx="1600200" cy="594360"/>
          </a:xfrm>
          <a:prstGeom prst="roundRect">
            <a:avLst/>
          </a:prstGeom>
          <a:solidFill>
            <a:srgbClr val="EBF6F8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900" b="1">
                <a:solidFill>
                  <a:srgbClr val="192B4A"/>
                </a:solidFill>
              </a:defRPr>
            </a:pPr>
            <a:r>
              <a:t>2. Validación</a:t>
            </a:r>
          </a:p>
          <a:p>
            <a:pPr algn="ctr">
              <a:defRPr sz="800">
                <a:solidFill>
                  <a:srgbClr val="505A69"/>
                </a:solidFill>
              </a:defRPr>
            </a:pPr>
            <a:r>
              <a:t>token y unidades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4965833" y="3939992"/>
            <a:ext cx="1600200" cy="594360"/>
          </a:xfrm>
          <a:prstGeom prst="roundRect">
            <a:avLst/>
          </a:prstGeom>
          <a:solidFill>
            <a:srgbClr val="EBF6F8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900" b="1">
                <a:solidFill>
                  <a:srgbClr val="192B4A"/>
                </a:solidFill>
              </a:defRPr>
            </a:pPr>
            <a:r>
              <a:t>3. Cálculo</a:t>
            </a:r>
          </a:p>
          <a:p>
            <a:pPr algn="ctr">
              <a:defRPr sz="800">
                <a:solidFill>
                  <a:srgbClr val="505A69"/>
                </a:solidFill>
              </a:defRPr>
            </a:pPr>
            <a:r>
              <a:t>regla de conversión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6931793" y="3939992"/>
            <a:ext cx="1600200" cy="594360"/>
          </a:xfrm>
          <a:prstGeom prst="roundRect">
            <a:avLst/>
          </a:prstGeom>
          <a:solidFill>
            <a:srgbClr val="EBF6F8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900" b="1">
                <a:solidFill>
                  <a:srgbClr val="192B4A"/>
                </a:solidFill>
              </a:defRPr>
            </a:pPr>
            <a:r>
              <a:t>4. Respuesta</a:t>
            </a:r>
          </a:p>
          <a:p>
            <a:pPr algn="ctr">
              <a:defRPr sz="800">
                <a:solidFill>
                  <a:srgbClr val="505A69"/>
                </a:solidFill>
              </a:defRPr>
            </a:pPr>
            <a:r>
              <a:t>estado + resultado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2634113" y="4232600"/>
            <a:ext cx="338328" cy="0"/>
          </a:xfrm>
          <a:prstGeom prst="line">
            <a:avLst/>
          </a:prstGeom>
          <a:ln w="25400">
            <a:solidFill>
              <a:srgbClr val="00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4600073" y="4232600"/>
            <a:ext cx="338328" cy="0"/>
          </a:xfrm>
          <a:prstGeom prst="line">
            <a:avLst/>
          </a:prstGeom>
          <a:ln w="25400">
            <a:solidFill>
              <a:srgbClr val="00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6566033" y="4232600"/>
            <a:ext cx="338328" cy="0"/>
          </a:xfrm>
          <a:prstGeom prst="line">
            <a:avLst/>
          </a:prstGeom>
          <a:ln w="25400">
            <a:solidFill>
              <a:srgbClr val="00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  <a:defRPr/>
            </a:pPr>
            <a:r>
              <a:rPr dirty="0" err="1"/>
              <a:t>Autenticación</a:t>
            </a:r>
            <a:r>
              <a:rPr dirty="0"/>
              <a:t> por token</a:t>
            </a:r>
            <a:br>
              <a:rPr dirty="0"/>
            </a:br>
            <a:r>
              <a:rPr dirty="0"/>
              <a:t>El </a:t>
            </a:r>
            <a:r>
              <a:rPr dirty="0" err="1"/>
              <a:t>cliente</a:t>
            </a:r>
            <a:r>
              <a:rPr dirty="0"/>
              <a:t> </a:t>
            </a:r>
            <a:r>
              <a:rPr dirty="0" err="1"/>
              <a:t>envía</a:t>
            </a:r>
            <a:r>
              <a:rPr dirty="0"/>
              <a:t> sus </a:t>
            </a:r>
            <a:r>
              <a:rPr dirty="0" err="1"/>
              <a:t>credenciales</a:t>
            </a:r>
            <a:r>
              <a:rPr dirty="0"/>
              <a:t>; </a:t>
            </a:r>
            <a:r>
              <a:rPr dirty="0" err="1"/>
              <a:t>si</a:t>
            </a:r>
            <a:r>
              <a:rPr dirty="0"/>
              <a:t> son </a:t>
            </a:r>
            <a:r>
              <a:rPr dirty="0" err="1"/>
              <a:t>válidas</a:t>
            </a:r>
            <a:r>
              <a:rPr dirty="0"/>
              <a:t>, </a:t>
            </a:r>
            <a:r>
              <a:rPr dirty="0" err="1"/>
              <a:t>recibe</a:t>
            </a:r>
            <a:r>
              <a:rPr dirty="0"/>
              <a:t> un token temporal para usar </a:t>
            </a:r>
            <a:r>
              <a:rPr dirty="0" err="1"/>
              <a:t>operaciones</a:t>
            </a:r>
            <a:r>
              <a:rPr dirty="0"/>
              <a:t> </a:t>
            </a:r>
            <a:r>
              <a:rPr dirty="0" err="1"/>
              <a:t>protegidas</a:t>
            </a:r>
            <a:r>
              <a:rPr dirty="0"/>
              <a:t>.</a:t>
            </a:r>
            <a:endParaRPr sz="2000" b="1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SOAP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620093" y="3106817"/>
            <a:ext cx="8288808" cy="3503543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760796" y="34290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2B4A"/>
                </a:solidFill>
              </a:defRPr>
            </a:pPr>
            <a:r>
              <a:t>Autenticación y autorización por token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760796" y="4071223"/>
            <a:ext cx="1828800" cy="548640"/>
          </a:xfrm>
          <a:prstGeom prst="roundRect">
            <a:avLst/>
          </a:prstGeom>
          <a:solidFill>
            <a:srgbClr val="EBF6F8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900" b="1">
                <a:solidFill>
                  <a:srgbClr val="192B4A"/>
                </a:solidFill>
              </a:defRPr>
            </a:pPr>
            <a:r>
              <a:rPr dirty="0" err="1"/>
              <a:t>Cliente</a:t>
            </a:r>
            <a:endParaRPr dirty="0"/>
          </a:p>
          <a:p>
            <a:pPr algn="ctr">
              <a:defRPr sz="800">
                <a:solidFill>
                  <a:srgbClr val="505A69"/>
                </a:solidFill>
              </a:defRPr>
            </a:pPr>
            <a:r>
              <a:rPr dirty="0" err="1"/>
              <a:t>usuario</a:t>
            </a:r>
            <a:r>
              <a:rPr dirty="0"/>
              <a:t> + </a:t>
            </a:r>
            <a:r>
              <a:rPr dirty="0" err="1"/>
              <a:t>contraseña</a:t>
            </a:r>
            <a:endParaRPr dirty="0"/>
          </a:p>
        </p:txBody>
      </p:sp>
      <p:sp>
        <p:nvSpPr>
          <p:cNvPr id="127" name="Rounded Rectangle 126"/>
          <p:cNvSpPr/>
          <p:nvPr/>
        </p:nvSpPr>
        <p:spPr>
          <a:xfrm>
            <a:off x="3046796" y="4071223"/>
            <a:ext cx="1828800" cy="548640"/>
          </a:xfrm>
          <a:prstGeom prst="roundRect">
            <a:avLst/>
          </a:prstGeom>
          <a:solidFill>
            <a:srgbClr val="EBF6F8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900" b="1">
                <a:solidFill>
                  <a:srgbClr val="192B4A"/>
                </a:solidFill>
              </a:defRPr>
            </a:pPr>
            <a:r>
              <a:rPr dirty="0"/>
              <a:t>Login SOAP</a:t>
            </a:r>
          </a:p>
          <a:p>
            <a:pPr algn="ctr">
              <a:defRPr sz="800">
                <a:solidFill>
                  <a:srgbClr val="505A69"/>
                </a:solidFill>
              </a:defRPr>
            </a:pPr>
            <a:r>
              <a:rPr dirty="0" err="1"/>
              <a:t>valida</a:t>
            </a:r>
            <a:r>
              <a:rPr dirty="0"/>
              <a:t> </a:t>
            </a:r>
            <a:r>
              <a:rPr dirty="0" err="1"/>
              <a:t>credenciales</a:t>
            </a:r>
            <a:endParaRPr dirty="0"/>
          </a:p>
        </p:txBody>
      </p:sp>
      <p:sp>
        <p:nvSpPr>
          <p:cNvPr id="128" name="Rounded Rectangle 127"/>
          <p:cNvSpPr/>
          <p:nvPr/>
        </p:nvSpPr>
        <p:spPr>
          <a:xfrm>
            <a:off x="5332796" y="4071223"/>
            <a:ext cx="1828800" cy="548640"/>
          </a:xfrm>
          <a:prstGeom prst="roundRect">
            <a:avLst/>
          </a:prstGeom>
          <a:solidFill>
            <a:srgbClr val="EBF6F8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900" b="1">
                <a:solidFill>
                  <a:srgbClr val="192B4A"/>
                </a:solidFill>
              </a:defRPr>
            </a:pPr>
            <a:r>
              <a:t>Token</a:t>
            </a:r>
          </a:p>
          <a:p>
            <a:pPr algn="ctr">
              <a:defRPr sz="800">
                <a:solidFill>
                  <a:srgbClr val="505A69"/>
                </a:solidFill>
              </a:defRPr>
            </a:pPr>
            <a:r>
              <a:t>permite conversiones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2589596" y="4345543"/>
            <a:ext cx="429768" cy="0"/>
          </a:xfrm>
          <a:prstGeom prst="line">
            <a:avLst/>
          </a:prstGeom>
          <a:ln w="25400">
            <a:solidFill>
              <a:srgbClr val="00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4875596" y="4345543"/>
            <a:ext cx="429768" cy="0"/>
          </a:xfrm>
          <a:prstGeom prst="line">
            <a:avLst/>
          </a:prstGeom>
          <a:ln w="25400">
            <a:solidFill>
              <a:srgbClr val="00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  <a:defRPr/>
            </a:pPr>
            <a:r>
              <a:rPr dirty="0" err="1"/>
              <a:t>Catálogo</a:t>
            </a:r>
            <a:r>
              <a:rPr dirty="0"/>
              <a:t> de </a:t>
            </a:r>
            <a:r>
              <a:rPr dirty="0" err="1"/>
              <a:t>unidades</a:t>
            </a:r>
            <a:br>
              <a:rPr dirty="0"/>
            </a:br>
            <a:r>
              <a:rPr dirty="0" err="1"/>
              <a:t>Incluye</a:t>
            </a:r>
            <a:r>
              <a:rPr dirty="0"/>
              <a:t> </a:t>
            </a:r>
            <a:r>
              <a:rPr dirty="0" err="1"/>
              <a:t>categorías</a:t>
            </a:r>
            <a:r>
              <a:rPr dirty="0"/>
              <a:t> de </a:t>
            </a:r>
            <a:r>
              <a:rPr dirty="0" err="1"/>
              <a:t>longitud</a:t>
            </a:r>
            <a:r>
              <a:rPr dirty="0"/>
              <a:t>, masa y </a:t>
            </a:r>
            <a:r>
              <a:rPr dirty="0" err="1"/>
              <a:t>temperatura</a:t>
            </a:r>
            <a:r>
              <a:rPr dirty="0"/>
              <a:t> con sus </a:t>
            </a:r>
            <a:r>
              <a:rPr dirty="0" err="1"/>
              <a:t>unidades</a:t>
            </a:r>
            <a:r>
              <a:rPr dirty="0"/>
              <a:t> </a:t>
            </a:r>
            <a:r>
              <a:rPr dirty="0" err="1"/>
              <a:t>admitidas</a:t>
            </a:r>
            <a:r>
              <a:rPr dirty="0"/>
              <a:t>.</a:t>
            </a:r>
            <a:endParaRPr sz="2000" b="1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SOAP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31192" y="3186816"/>
            <a:ext cx="8288808" cy="2845015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914400" y="34290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2B4A"/>
                </a:solidFill>
              </a:defRPr>
            </a:pPr>
            <a:r>
              <a:rPr dirty="0" err="1"/>
              <a:t>Catálogo</a:t>
            </a:r>
            <a:r>
              <a:rPr dirty="0"/>
              <a:t> de </a:t>
            </a:r>
            <a:r>
              <a:rPr dirty="0" err="1"/>
              <a:t>unidades</a:t>
            </a:r>
            <a:r>
              <a:rPr dirty="0"/>
              <a:t> </a:t>
            </a:r>
            <a:r>
              <a:rPr dirty="0" err="1"/>
              <a:t>definido</a:t>
            </a:r>
            <a:r>
              <a:rPr dirty="0"/>
              <a:t> en el ERS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1138990" y="4003464"/>
            <a:ext cx="2011680" cy="566928"/>
          </a:xfrm>
          <a:prstGeom prst="roundRect">
            <a:avLst/>
          </a:prstGeom>
          <a:solidFill>
            <a:srgbClr val="EBF6F8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000" b="1">
                <a:solidFill>
                  <a:srgbClr val="192B4A"/>
                </a:solidFill>
              </a:defRPr>
            </a:pPr>
            <a:r>
              <a:t>Longitud</a:t>
            </a:r>
          </a:p>
          <a:p>
            <a:pPr algn="ctr">
              <a:defRPr sz="800">
                <a:solidFill>
                  <a:srgbClr val="505A69"/>
                </a:solidFill>
              </a:defRPr>
            </a:pPr>
            <a:r>
              <a:t>cm · m · ft · yd · mi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3470710" y="4003464"/>
            <a:ext cx="2011680" cy="566928"/>
          </a:xfrm>
          <a:prstGeom prst="roundRect">
            <a:avLst/>
          </a:prstGeom>
          <a:solidFill>
            <a:srgbClr val="EBF6F8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000" b="1">
                <a:solidFill>
                  <a:srgbClr val="192B4A"/>
                </a:solidFill>
              </a:defRPr>
            </a:pPr>
            <a:r>
              <a:rPr dirty="0"/>
              <a:t>Masa</a:t>
            </a:r>
          </a:p>
          <a:p>
            <a:pPr algn="ctr">
              <a:defRPr sz="800">
                <a:solidFill>
                  <a:srgbClr val="505A69"/>
                </a:solidFill>
              </a:defRPr>
            </a:pPr>
            <a:r>
              <a:rPr dirty="0"/>
              <a:t>g · kg · oz · </a:t>
            </a:r>
            <a:r>
              <a:rPr dirty="0" err="1"/>
              <a:t>lb</a:t>
            </a:r>
            <a:r>
              <a:rPr dirty="0"/>
              <a:t> · quintal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5802430" y="4003464"/>
            <a:ext cx="2011680" cy="566928"/>
          </a:xfrm>
          <a:prstGeom prst="roundRect">
            <a:avLst/>
          </a:prstGeom>
          <a:solidFill>
            <a:srgbClr val="EBF6F8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000" b="1">
                <a:solidFill>
                  <a:srgbClr val="192B4A"/>
                </a:solidFill>
              </a:defRPr>
            </a:pPr>
            <a:r>
              <a:t>Temperatura</a:t>
            </a:r>
          </a:p>
          <a:p>
            <a:pPr algn="ctr">
              <a:defRPr sz="800">
                <a:solidFill>
                  <a:srgbClr val="505A69"/>
                </a:solidFill>
              </a:defRPr>
            </a:pPr>
            <a:r>
              <a:t>°C · °F · K · °N · °Ré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  <a:defRPr/>
            </a:pPr>
            <a:r>
              <a:rPr dirty="0" err="1"/>
              <a:t>Manejo</a:t>
            </a:r>
            <a:r>
              <a:rPr dirty="0"/>
              <a:t> de </a:t>
            </a:r>
            <a:r>
              <a:rPr dirty="0" err="1"/>
              <a:t>errores</a:t>
            </a:r>
            <a:br>
              <a:rPr dirty="0"/>
            </a:br>
            <a:r>
              <a:rPr dirty="0"/>
              <a:t>Se </a:t>
            </a:r>
            <a:r>
              <a:rPr dirty="0" err="1"/>
              <a:t>controlan</a:t>
            </a:r>
            <a:r>
              <a:rPr dirty="0"/>
              <a:t> </a:t>
            </a:r>
            <a:r>
              <a:rPr dirty="0" err="1"/>
              <a:t>credenciales</a:t>
            </a:r>
            <a:r>
              <a:rPr dirty="0"/>
              <a:t> </a:t>
            </a:r>
            <a:r>
              <a:rPr dirty="0" err="1"/>
              <a:t>inválidas</a:t>
            </a:r>
            <a:r>
              <a:rPr dirty="0"/>
              <a:t>, tokens </a:t>
            </a:r>
            <a:r>
              <a:rPr dirty="0" err="1"/>
              <a:t>vencidos</a:t>
            </a:r>
            <a:r>
              <a:rPr dirty="0"/>
              <a:t>, datos </a:t>
            </a:r>
            <a:r>
              <a:rPr dirty="0" err="1"/>
              <a:t>incorrectos</a:t>
            </a:r>
            <a:r>
              <a:rPr dirty="0"/>
              <a:t> y </a:t>
            </a:r>
            <a:r>
              <a:rPr dirty="0" err="1"/>
              <a:t>unidades</a:t>
            </a:r>
            <a:r>
              <a:rPr dirty="0"/>
              <a:t> no </a:t>
            </a:r>
            <a:r>
              <a:rPr dirty="0" err="1"/>
              <a:t>admitidas</a:t>
            </a:r>
            <a:r>
              <a:rPr dirty="0"/>
              <a:t>.</a:t>
            </a:r>
            <a:endParaRPr sz="2000" b="1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SOAP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868680" y="32689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2B4A"/>
                </a:solidFill>
              </a:defRPr>
            </a:pPr>
            <a:r>
              <a:rPr dirty="0"/>
              <a:t>Control </a:t>
            </a:r>
            <a:r>
              <a:rPr dirty="0" err="1"/>
              <a:t>centralizado</a:t>
            </a:r>
            <a:r>
              <a:rPr dirty="0"/>
              <a:t> de </a:t>
            </a:r>
            <a:r>
              <a:rPr dirty="0" err="1"/>
              <a:t>errores</a:t>
            </a:r>
            <a:endParaRPr dirty="0"/>
          </a:p>
        </p:txBody>
      </p:sp>
      <p:sp>
        <p:nvSpPr>
          <p:cNvPr id="126" name="Rounded Rectangle 125"/>
          <p:cNvSpPr/>
          <p:nvPr/>
        </p:nvSpPr>
        <p:spPr>
          <a:xfrm>
            <a:off x="868680" y="4003464"/>
            <a:ext cx="19659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900" b="1">
                <a:solidFill>
                  <a:srgbClr val="192B4A"/>
                </a:solidFill>
              </a:defRPr>
            </a:pPr>
            <a:r>
              <a:t>Token inválido</a:t>
            </a:r>
          </a:p>
          <a:p>
            <a:pPr algn="ctr">
              <a:defRPr sz="800">
                <a:solidFill>
                  <a:srgbClr val="505A69"/>
                </a:solidFill>
              </a:defRPr>
            </a:pPr>
            <a:r>
              <a:t>No autorizado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3200400" y="4003464"/>
            <a:ext cx="19659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900" b="1">
                <a:solidFill>
                  <a:srgbClr val="192B4A"/>
                </a:solidFill>
              </a:defRPr>
            </a:pPr>
            <a:r>
              <a:rPr dirty="0"/>
              <a:t>Unidad </a:t>
            </a:r>
            <a:r>
              <a:rPr dirty="0" err="1"/>
              <a:t>incorrecta</a:t>
            </a:r>
            <a:endParaRPr dirty="0"/>
          </a:p>
          <a:p>
            <a:pPr algn="ctr">
              <a:defRPr sz="800">
                <a:solidFill>
                  <a:srgbClr val="505A69"/>
                </a:solidFill>
              </a:defRPr>
            </a:pPr>
            <a:r>
              <a:rPr dirty="0" err="1"/>
              <a:t>Validación</a:t>
            </a:r>
            <a:r>
              <a:rPr dirty="0"/>
              <a:t> </a:t>
            </a:r>
            <a:r>
              <a:rPr dirty="0" err="1"/>
              <a:t>fallida</a:t>
            </a:r>
            <a:endParaRPr dirty="0"/>
          </a:p>
        </p:txBody>
      </p:sp>
      <p:sp>
        <p:nvSpPr>
          <p:cNvPr id="128" name="Rounded Rectangle 127"/>
          <p:cNvSpPr/>
          <p:nvPr/>
        </p:nvSpPr>
        <p:spPr>
          <a:xfrm>
            <a:off x="5532120" y="4003464"/>
            <a:ext cx="19659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900" b="1">
                <a:solidFill>
                  <a:srgbClr val="192B4A"/>
                </a:solidFill>
              </a:defRPr>
            </a:pPr>
            <a:r>
              <a:t>Dato inconsistente</a:t>
            </a:r>
          </a:p>
          <a:p>
            <a:pPr algn="ctr">
              <a:defRPr sz="800">
                <a:solidFill>
                  <a:srgbClr val="505A69"/>
                </a:solidFill>
              </a:defRPr>
            </a:pPr>
            <a:r>
              <a:t>Error estructurado SOAP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  <a:defRPr/>
            </a:pPr>
            <a:r>
              <a:t>Despliegue</a:t>
            </a:r>
            <a:br/>
            <a:r>
              <a:t>Payara Server publica el endpoint SOAP y el WSDL que deben configurar los clientes.</a:t>
            </a:r>
            <a:endParaRPr sz="2000" b="1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SOAP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31192" y="3186816"/>
            <a:ext cx="8288808" cy="3230026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r>
              <a:rPr sz="1200" dirty="0">
                <a:solidFill>
                  <a:srgbClr val="000000"/>
                </a:solidFill>
                <a:latin typeface="Courier New" panose="02070309020205020404"/>
              </a:rPr>
              <a:t>Endpoint SOAP</a:t>
            </a:r>
          </a:p>
          <a:p>
            <a:r>
              <a:rPr sz="1200" dirty="0">
                <a:solidFill>
                  <a:srgbClr val="000000"/>
                </a:solidFill>
                <a:latin typeface="Courier New" panose="02070309020205020404"/>
              </a:rPr>
              <a:t>http://&lt;host&gt;:8080/&lt;aplicacion&gt;/ConversionWS?wsdl</a:t>
            </a: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731192" y="394798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2B4A"/>
                </a:solidFill>
              </a:defRPr>
            </a:pPr>
            <a:r>
              <a:rPr dirty="0" err="1"/>
              <a:t>Entorno</a:t>
            </a:r>
            <a:r>
              <a:rPr dirty="0"/>
              <a:t> de </a:t>
            </a:r>
            <a:r>
              <a:rPr dirty="0" err="1"/>
              <a:t>despliegue</a:t>
            </a:r>
            <a:endParaRPr dirty="0"/>
          </a:p>
        </p:txBody>
      </p:sp>
      <p:sp>
        <p:nvSpPr>
          <p:cNvPr id="126" name="Rounded Rectangle 125"/>
          <p:cNvSpPr/>
          <p:nvPr/>
        </p:nvSpPr>
        <p:spPr>
          <a:xfrm>
            <a:off x="944078" y="4518419"/>
            <a:ext cx="1828800" cy="566928"/>
          </a:xfrm>
          <a:prstGeom prst="roundRect">
            <a:avLst/>
          </a:prstGeom>
          <a:solidFill>
            <a:srgbClr val="EBF6F8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000" b="1">
                <a:solidFill>
                  <a:srgbClr val="192B4A"/>
                </a:solidFill>
              </a:defRPr>
            </a:pPr>
            <a:r>
              <a:rPr dirty="0"/>
              <a:t>NetBeans</a:t>
            </a:r>
          </a:p>
          <a:p>
            <a:pPr algn="ctr">
              <a:defRPr sz="800">
                <a:solidFill>
                  <a:srgbClr val="505A69"/>
                </a:solidFill>
              </a:defRPr>
            </a:pPr>
            <a:r>
              <a:rPr dirty="0"/>
              <a:t>Desarrollo Java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3230078" y="4518419"/>
            <a:ext cx="1828800" cy="566928"/>
          </a:xfrm>
          <a:prstGeom prst="roundRect">
            <a:avLst/>
          </a:prstGeom>
          <a:solidFill>
            <a:srgbClr val="EBF6F8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000" b="1">
                <a:solidFill>
                  <a:srgbClr val="192B4A"/>
                </a:solidFill>
              </a:defRPr>
            </a:pPr>
            <a:r>
              <a:rPr dirty="0"/>
              <a:t>Payara Server</a:t>
            </a:r>
          </a:p>
          <a:p>
            <a:pPr algn="ctr">
              <a:defRPr sz="800">
                <a:solidFill>
                  <a:srgbClr val="505A69"/>
                </a:solidFill>
              </a:defRPr>
            </a:pPr>
            <a:r>
              <a:rPr dirty="0"/>
              <a:t>Jakarta EE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5516078" y="4518419"/>
            <a:ext cx="1828800" cy="566928"/>
          </a:xfrm>
          <a:prstGeom prst="roundRect">
            <a:avLst/>
          </a:prstGeom>
          <a:solidFill>
            <a:srgbClr val="EBF6F8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000" b="1">
                <a:solidFill>
                  <a:srgbClr val="192B4A"/>
                </a:solidFill>
              </a:defRPr>
            </a:pPr>
            <a:r>
              <a:t>Clientes</a:t>
            </a:r>
          </a:p>
          <a:p>
            <a:pPr algn="ctr">
              <a:defRPr sz="800">
                <a:solidFill>
                  <a:srgbClr val="505A69"/>
                </a:solidFill>
              </a:defRPr>
            </a:pPr>
            <a:r>
              <a:t>HTTP/HTTPS + SOAP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2772878" y="4792739"/>
            <a:ext cx="429768" cy="0"/>
          </a:xfrm>
          <a:prstGeom prst="line">
            <a:avLst/>
          </a:prstGeom>
          <a:ln w="25400">
            <a:solidFill>
              <a:srgbClr val="00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5058878" y="4792739"/>
            <a:ext cx="429768" cy="0"/>
          </a:xfrm>
          <a:prstGeom prst="line">
            <a:avLst/>
          </a:prstGeom>
          <a:ln w="25400">
            <a:solidFill>
              <a:srgbClr val="00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  <a:defRPr/>
            </a:pPr>
            <a:r>
              <a:rPr dirty="0" err="1"/>
              <a:t>Cliente</a:t>
            </a:r>
            <a:r>
              <a:rPr dirty="0"/>
              <a:t> de </a:t>
            </a:r>
            <a:r>
              <a:rPr dirty="0" err="1"/>
              <a:t>consola</a:t>
            </a:r>
            <a:br>
              <a:rPr dirty="0"/>
            </a:br>
            <a:r>
              <a:rPr dirty="0"/>
              <a:t>Permite </a:t>
            </a:r>
            <a:r>
              <a:rPr dirty="0" err="1"/>
              <a:t>iniciar</a:t>
            </a:r>
            <a:r>
              <a:rPr dirty="0"/>
              <a:t> </a:t>
            </a:r>
            <a:r>
              <a:rPr dirty="0" err="1"/>
              <a:t>sesión</a:t>
            </a:r>
            <a:r>
              <a:rPr dirty="0"/>
              <a:t>, </a:t>
            </a:r>
            <a:r>
              <a:rPr dirty="0" err="1"/>
              <a:t>seleccionar</a:t>
            </a:r>
            <a:r>
              <a:rPr dirty="0"/>
              <a:t> </a:t>
            </a:r>
            <a:r>
              <a:rPr dirty="0" err="1"/>
              <a:t>unidades</a:t>
            </a:r>
            <a:r>
              <a:rPr dirty="0"/>
              <a:t> e </a:t>
            </a:r>
            <a:r>
              <a:rPr dirty="0" err="1"/>
              <a:t>invocar</a:t>
            </a:r>
            <a:r>
              <a:rPr dirty="0"/>
              <a:t> el </a:t>
            </a:r>
            <a:r>
              <a:rPr dirty="0" err="1"/>
              <a:t>servicio</a:t>
            </a:r>
            <a:r>
              <a:rPr dirty="0"/>
              <a:t> SOAP </a:t>
            </a:r>
            <a:r>
              <a:rPr dirty="0" err="1"/>
              <a:t>desde</a:t>
            </a:r>
            <a:r>
              <a:rPr dirty="0"/>
              <a:t> Java.</a:t>
            </a:r>
            <a:endParaRPr sz="2000" b="1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lvl="0">
              <a:buSzPts val="1400"/>
            </a:pPr>
            <a:endParaRPr lang="es-ES" dirty="0"/>
          </a:p>
          <a:p>
            <a:pPr marL="306070" indent="-306070">
              <a:spcBef>
                <a:spcPts val="840"/>
              </a:spcBef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lang="es-ES" dirty="0"/>
          </a:p>
          <a:p>
            <a:pPr marL="763270" lvl="1" indent="-306070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</a:p>
          <a:p>
            <a:pPr marL="763270" lvl="1" indent="-306070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bg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SOAP</a:t>
            </a:r>
            <a:endParaRPr lang="es-ES" dirty="0">
              <a:solidFill>
                <a:schemeClr val="bg1"/>
              </a:solidFill>
            </a:endParaRPr>
          </a:p>
          <a:p>
            <a:pPr marL="763270" lvl="1" indent="-306070">
              <a:spcBef>
                <a:spcPts val="840"/>
              </a:spcBef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lang="es-ES" dirty="0">
              <a:solidFill>
                <a:srgbClr val="FFFF00"/>
              </a:solidFill>
            </a:endParaRPr>
          </a:p>
          <a:p>
            <a:pPr marL="763270" lvl="1" indent="-306070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lang="es-ES" dirty="0"/>
          </a:p>
          <a:p>
            <a:pPr marL="763270" lvl="1" indent="-306070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lang="es-ES" dirty="0"/>
          </a:p>
          <a:p>
            <a:pPr marL="763270" lvl="1" indent="-306070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lang="es-ES" dirty="0"/>
          </a:p>
          <a:p>
            <a:pPr marL="763270" lvl="1" indent="-306070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lang="es-ES" dirty="0"/>
          </a:p>
          <a:p>
            <a:pPr marL="306070" indent="-306070">
              <a:spcBef>
                <a:spcPts val="840"/>
              </a:spcBef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lang="es-ES" dirty="0"/>
          </a:p>
          <a:p>
            <a:pPr marL="306070" indent="-306070">
              <a:spcBef>
                <a:spcPts val="840"/>
              </a:spcBef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lang="es-ES" dirty="0"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6BE96E7-3128-24E4-9CE0-EAF2647F2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3696" y="1071739"/>
            <a:ext cx="2745931" cy="5247781"/>
          </a:xfrm>
          <a:prstGeom prst="rect">
            <a:avLst/>
          </a:prstGeom>
        </p:spPr>
      </p:pic>
      <p:sp>
        <p:nvSpPr>
          <p:cNvPr id="126" name="TextBox 125"/>
          <p:cNvSpPr txBox="1"/>
          <p:nvPr/>
        </p:nvSpPr>
        <p:spPr>
          <a:xfrm>
            <a:off x="868680" y="3170235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2B4A"/>
                </a:solidFill>
              </a:defRPr>
            </a:pPr>
            <a:r>
              <a:rPr dirty="0"/>
              <a:t>Los cuatro </a:t>
            </a:r>
            <a:r>
              <a:rPr dirty="0" err="1"/>
              <a:t>clientes</a:t>
            </a:r>
            <a:r>
              <a:rPr dirty="0"/>
              <a:t> </a:t>
            </a:r>
            <a:r>
              <a:rPr dirty="0" err="1"/>
              <a:t>consumen</a:t>
            </a:r>
            <a:r>
              <a:rPr dirty="0"/>
              <a:t> el </a:t>
            </a:r>
            <a:r>
              <a:rPr dirty="0" err="1"/>
              <a:t>mismo</a:t>
            </a:r>
            <a:r>
              <a:rPr dirty="0"/>
              <a:t> backend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3793724" y="3695629"/>
            <a:ext cx="2011680" cy="594360"/>
          </a:xfrm>
          <a:prstGeom prst="roundRect">
            <a:avLst/>
          </a:prstGeom>
          <a:solidFill>
            <a:srgbClr val="EBF6F8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000" b="1">
                <a:solidFill>
                  <a:srgbClr val="192B4A"/>
                </a:solidFill>
              </a:defRPr>
            </a:pPr>
            <a:r>
              <a:t>Backend SOAP</a:t>
            </a:r>
          </a:p>
          <a:p>
            <a:pPr algn="ctr">
              <a:defRPr sz="800">
                <a:solidFill>
                  <a:srgbClr val="505A69"/>
                </a:solidFill>
              </a:defRPr>
            </a:pPr>
            <a:r>
              <a:t>Lógica central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1416284" y="4838629"/>
            <a:ext cx="1143000" cy="502920"/>
          </a:xfrm>
          <a:prstGeom prst="roundRect">
            <a:avLst/>
          </a:prstGeom>
          <a:solidFill>
            <a:srgbClr val="EBF6F8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900" b="1">
                <a:solidFill>
                  <a:srgbClr val="192B4A"/>
                </a:solidFill>
              </a:defRPr>
            </a:pPr>
            <a:r>
              <a:t>Consola</a:t>
            </a:r>
          </a:p>
        </p:txBody>
      </p:sp>
      <p:cxnSp>
        <p:nvCxnSpPr>
          <p:cNvPr id="129" name="Connector 128"/>
          <p:cNvCxnSpPr/>
          <p:nvPr/>
        </p:nvCxnSpPr>
        <p:spPr>
          <a:xfrm flipV="1">
            <a:off x="1983211" y="4317421"/>
            <a:ext cx="2816353" cy="493776"/>
          </a:xfrm>
          <a:prstGeom prst="line">
            <a:avLst/>
          </a:prstGeom>
          <a:ln w="25400">
            <a:solidFill>
              <a:srgbClr val="00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Rounded Rectangle 129"/>
          <p:cNvSpPr/>
          <p:nvPr/>
        </p:nvSpPr>
        <p:spPr>
          <a:xfrm>
            <a:off x="3107924" y="4838629"/>
            <a:ext cx="1143000" cy="502920"/>
          </a:xfrm>
          <a:prstGeom prst="roundRect">
            <a:avLst/>
          </a:prstGeom>
          <a:solidFill>
            <a:srgbClr val="EBF6F8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900" b="1">
                <a:solidFill>
                  <a:srgbClr val="192B4A"/>
                </a:solidFill>
              </a:defRPr>
            </a:pPr>
            <a:r>
              <a:t>Escritorio</a:t>
            </a:r>
          </a:p>
        </p:txBody>
      </p:sp>
      <p:cxnSp>
        <p:nvCxnSpPr>
          <p:cNvPr id="131" name="Connector 130"/>
          <p:cNvCxnSpPr/>
          <p:nvPr/>
        </p:nvCxnSpPr>
        <p:spPr>
          <a:xfrm flipV="1">
            <a:off x="3674852" y="4317421"/>
            <a:ext cx="1124712" cy="493776"/>
          </a:xfrm>
          <a:prstGeom prst="line">
            <a:avLst/>
          </a:prstGeom>
          <a:ln w="25400">
            <a:solidFill>
              <a:srgbClr val="00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Rounded Rectangle 131"/>
          <p:cNvSpPr/>
          <p:nvPr/>
        </p:nvSpPr>
        <p:spPr>
          <a:xfrm>
            <a:off x="5713964" y="4838629"/>
            <a:ext cx="1143000" cy="502920"/>
          </a:xfrm>
          <a:prstGeom prst="roundRect">
            <a:avLst/>
          </a:prstGeom>
          <a:solidFill>
            <a:srgbClr val="EBF6F8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900" b="1">
                <a:solidFill>
                  <a:srgbClr val="192B4A"/>
                </a:solidFill>
              </a:defRPr>
            </a:pPr>
            <a:r>
              <a:t>Web</a:t>
            </a:r>
          </a:p>
        </p:txBody>
      </p:sp>
      <p:cxnSp>
        <p:nvCxnSpPr>
          <p:cNvPr id="133" name="Connector 132"/>
          <p:cNvCxnSpPr/>
          <p:nvPr/>
        </p:nvCxnSpPr>
        <p:spPr>
          <a:xfrm flipH="1" flipV="1">
            <a:off x="4799564" y="4317421"/>
            <a:ext cx="1481328" cy="493776"/>
          </a:xfrm>
          <a:prstGeom prst="line">
            <a:avLst/>
          </a:prstGeom>
          <a:ln w="25400">
            <a:solidFill>
              <a:srgbClr val="00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Rounded Rectangle 133"/>
          <p:cNvSpPr/>
          <p:nvPr/>
        </p:nvSpPr>
        <p:spPr>
          <a:xfrm>
            <a:off x="7405604" y="4838629"/>
            <a:ext cx="1143000" cy="502920"/>
          </a:xfrm>
          <a:prstGeom prst="roundRect">
            <a:avLst/>
          </a:prstGeom>
          <a:solidFill>
            <a:srgbClr val="EBF6F8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900" b="1">
                <a:solidFill>
                  <a:srgbClr val="192B4A"/>
                </a:solidFill>
              </a:defRPr>
            </a:pPr>
            <a:r>
              <a:t>Android</a:t>
            </a:r>
          </a:p>
        </p:txBody>
      </p:sp>
      <p:cxnSp>
        <p:nvCxnSpPr>
          <p:cNvPr id="135" name="Connector 134"/>
          <p:cNvCxnSpPr/>
          <p:nvPr/>
        </p:nvCxnSpPr>
        <p:spPr>
          <a:xfrm flipH="1" flipV="1">
            <a:off x="4799564" y="4317421"/>
            <a:ext cx="3172967" cy="493776"/>
          </a:xfrm>
          <a:prstGeom prst="line">
            <a:avLst/>
          </a:prstGeom>
          <a:ln w="25400">
            <a:solidFill>
              <a:srgbClr val="00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3578065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  <a:defRPr/>
            </a:pPr>
            <a:r>
              <a:rPr dirty="0" err="1"/>
              <a:t>Cliente</a:t>
            </a:r>
            <a:r>
              <a:rPr dirty="0"/>
              <a:t> de </a:t>
            </a:r>
            <a:r>
              <a:rPr dirty="0" err="1"/>
              <a:t>escritorio</a:t>
            </a:r>
            <a:br>
              <a:rPr dirty="0"/>
            </a:br>
            <a:r>
              <a:rPr dirty="0"/>
              <a:t>La </a:t>
            </a:r>
            <a:r>
              <a:rPr dirty="0" err="1"/>
              <a:t>interfaz</a:t>
            </a:r>
            <a:r>
              <a:rPr dirty="0"/>
              <a:t> Java Swing consume las </a:t>
            </a:r>
            <a:r>
              <a:rPr dirty="0" err="1"/>
              <a:t>mismas</a:t>
            </a:r>
            <a:r>
              <a:rPr dirty="0"/>
              <a:t> </a:t>
            </a:r>
            <a:r>
              <a:rPr dirty="0" err="1"/>
              <a:t>operaciones</a:t>
            </a:r>
            <a:r>
              <a:rPr dirty="0"/>
              <a:t> SOAP del </a:t>
            </a:r>
            <a:r>
              <a:rPr dirty="0" err="1"/>
              <a:t>servidor</a:t>
            </a:r>
            <a:r>
              <a:rPr dirty="0"/>
              <a:t>.</a:t>
            </a:r>
            <a:endParaRPr sz="2000" b="1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lang="es-ES" dirty="0">
              <a:solidFill>
                <a:schemeClr val="lt1"/>
              </a:solidFill>
              <a:ea typeface="Gill Sans" panose="020B0502020104020203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bg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SOAP</a:t>
            </a:r>
            <a:endParaRPr sz="1400" b="0" i="0" u="none" strike="noStrike" cap="none" dirty="0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 dirty="0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  <a:defRPr/>
            </a:pPr>
            <a:r>
              <a:rPr dirty="0" err="1"/>
              <a:t>Conversión</a:t>
            </a:r>
            <a:r>
              <a:rPr dirty="0"/>
              <a:t> </a:t>
            </a:r>
            <a:r>
              <a:rPr dirty="0" err="1"/>
              <a:t>desde</a:t>
            </a:r>
            <a:r>
              <a:rPr dirty="0"/>
              <a:t> la </a:t>
            </a:r>
            <a:r>
              <a:rPr dirty="0" err="1"/>
              <a:t>interfaz</a:t>
            </a:r>
            <a:br>
              <a:rPr dirty="0"/>
            </a:br>
            <a:r>
              <a:rPr dirty="0"/>
              <a:t>El </a:t>
            </a:r>
            <a:r>
              <a:rPr dirty="0" err="1"/>
              <a:t>usuario</a:t>
            </a:r>
            <a:r>
              <a:rPr dirty="0"/>
              <a:t> </a:t>
            </a:r>
            <a:r>
              <a:rPr dirty="0" err="1"/>
              <a:t>selecciona</a:t>
            </a:r>
            <a:r>
              <a:rPr dirty="0"/>
              <a:t> </a:t>
            </a:r>
            <a:r>
              <a:rPr dirty="0" err="1"/>
              <a:t>magnitud</a:t>
            </a:r>
            <a:r>
              <a:rPr dirty="0"/>
              <a:t>, </a:t>
            </a:r>
            <a:r>
              <a:rPr dirty="0" err="1"/>
              <a:t>unidades</a:t>
            </a:r>
            <a:r>
              <a:rPr dirty="0"/>
              <a:t> y valor; el </a:t>
            </a:r>
            <a:r>
              <a:rPr dirty="0" err="1"/>
              <a:t>servidor</a:t>
            </a:r>
            <a:r>
              <a:rPr dirty="0"/>
              <a:t> </a:t>
            </a:r>
            <a:r>
              <a:rPr dirty="0" err="1"/>
              <a:t>devuelve</a:t>
            </a:r>
            <a:r>
              <a:rPr dirty="0"/>
              <a:t> el </a:t>
            </a:r>
            <a:r>
              <a:rPr dirty="0" err="1"/>
              <a:t>resultado</a:t>
            </a:r>
            <a:r>
              <a:rPr dirty="0"/>
              <a:t>.</a:t>
            </a:r>
            <a:endParaRPr sz="2000" b="1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lang="es-ES" dirty="0">
              <a:solidFill>
                <a:schemeClr val="lt1"/>
              </a:solidFill>
              <a:ea typeface="Gill Sans" panose="020B0502020104020203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bg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SOAP</a:t>
            </a:r>
            <a:endParaRPr sz="1400" b="0" i="0" u="none" strike="noStrike" cap="none" dirty="0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 dirty="0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31192" y="3186817"/>
            <a:ext cx="8288808" cy="237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r>
              <a:rPr sz="1200">
                <a:solidFill>
                  <a:srgbClr val="000000"/>
                </a:solidFill>
                <a:latin typeface="Courier New" panose="02070309020205020404"/>
              </a:rPr>
              <a:t>Invocar conversión</a:t>
            </a:r>
          </a:p>
          <a:p>
            <a:r>
              <a:t>ConversionResponse r =</a:t>
            </a:r>
            <a:endParaRPr sz="1200"/>
          </a:p>
          <a:p>
            <a:r>
              <a:t>  servicio.convertir(</a:t>
            </a:r>
            <a:endParaRPr sz="1200"/>
          </a:p>
          <a:p>
            <a:r>
              <a:t>    token, magnitud,</a:t>
            </a:r>
            <a:endParaRPr sz="1200"/>
          </a:p>
          <a:p>
            <a:r>
              <a:t>    unidadOrigen, unidadDestino, valor);</a:t>
            </a:r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>
              <a:solidFill>
                <a:srgbClr val="000000"/>
              </a:solidFill>
              <a:latin typeface="Courier New" panose="020703090202050204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  <a:defRPr/>
            </a:pPr>
            <a:r>
              <a:rPr dirty="0" err="1"/>
              <a:t>Cliente</a:t>
            </a:r>
            <a:r>
              <a:rPr dirty="0"/>
              <a:t> web</a:t>
            </a:r>
            <a:br>
              <a:rPr dirty="0"/>
            </a:br>
            <a:r>
              <a:rPr dirty="0" err="1"/>
              <a:t>Desde</a:t>
            </a:r>
            <a:r>
              <a:rPr dirty="0"/>
              <a:t> el </a:t>
            </a:r>
            <a:r>
              <a:rPr dirty="0" err="1"/>
              <a:t>navegador</a:t>
            </a:r>
            <a:r>
              <a:rPr dirty="0"/>
              <a:t>, el </a:t>
            </a:r>
            <a:r>
              <a:rPr dirty="0" err="1"/>
              <a:t>usuario</a:t>
            </a:r>
            <a:r>
              <a:rPr dirty="0"/>
              <a:t> se </a:t>
            </a:r>
            <a:r>
              <a:rPr dirty="0" err="1"/>
              <a:t>autentica</a:t>
            </a:r>
            <a:r>
              <a:rPr dirty="0"/>
              <a:t> y </a:t>
            </a:r>
            <a:r>
              <a:rPr dirty="0" err="1"/>
              <a:t>solicita</a:t>
            </a:r>
            <a:r>
              <a:rPr dirty="0"/>
              <a:t> </a:t>
            </a:r>
            <a:r>
              <a:rPr dirty="0" err="1"/>
              <a:t>conversiones</a:t>
            </a:r>
            <a:r>
              <a:rPr dirty="0"/>
              <a:t> al </a:t>
            </a:r>
            <a:r>
              <a:rPr dirty="0" err="1"/>
              <a:t>servicio</a:t>
            </a:r>
            <a:r>
              <a:rPr dirty="0"/>
              <a:t> central.</a:t>
            </a:r>
            <a:endParaRPr sz="2000" b="1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lang="es-ES" dirty="0">
              <a:solidFill>
                <a:schemeClr val="lt1"/>
              </a:solidFill>
              <a:ea typeface="Gill Sans" panose="020B0502020104020203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bg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SOAP</a:t>
            </a:r>
            <a:endParaRPr sz="1400" b="0" i="0" u="none" strike="noStrike" cap="none" dirty="0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 dirty="0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5" name="Rounded Rectangle 124"/>
          <p:cNvSpPr/>
          <p:nvPr/>
        </p:nvSpPr>
        <p:spPr>
          <a:xfrm>
            <a:off x="1577531" y="3300000"/>
            <a:ext cx="6596129" cy="179016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B9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>
              <a:defRPr sz="1800" b="1">
                <a:solidFill>
                  <a:srgbClr val="194C82"/>
                </a:solidFill>
                <a:latin typeface="Aptos"/>
              </a:defRPr>
            </a:pPr>
            <a:r>
              <a:t>Cliente web Java</a:t>
            </a:r>
            <a:br/>
            <a:r>
              <a:t>Servlet puente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794889" y="3429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  <a:defRPr/>
            </a:pPr>
            <a:r>
              <a:rPr dirty="0" err="1"/>
              <a:t>Cliente</a:t>
            </a:r>
            <a:r>
              <a:rPr dirty="0"/>
              <a:t> </a:t>
            </a:r>
            <a:r>
              <a:rPr dirty="0" err="1"/>
              <a:t>móvil</a:t>
            </a:r>
            <a:r>
              <a:rPr dirty="0"/>
              <a:t> Android</a:t>
            </a:r>
            <a:br>
              <a:rPr dirty="0"/>
            </a:br>
            <a:r>
              <a:rPr dirty="0"/>
              <a:t>La </a:t>
            </a:r>
            <a:r>
              <a:rPr dirty="0" err="1"/>
              <a:t>aplicación</a:t>
            </a:r>
            <a:r>
              <a:rPr dirty="0"/>
              <a:t> permite </a:t>
            </a:r>
            <a:r>
              <a:rPr dirty="0" err="1"/>
              <a:t>iniciar</a:t>
            </a:r>
            <a:r>
              <a:rPr dirty="0"/>
              <a:t> </a:t>
            </a:r>
            <a:r>
              <a:rPr dirty="0" err="1"/>
              <a:t>sesión</a:t>
            </a:r>
            <a:r>
              <a:rPr dirty="0"/>
              <a:t> y </a:t>
            </a:r>
            <a:r>
              <a:rPr dirty="0" err="1"/>
              <a:t>convertir</a:t>
            </a:r>
            <a:r>
              <a:rPr dirty="0"/>
              <a:t> </a:t>
            </a:r>
            <a:r>
              <a:rPr dirty="0" err="1"/>
              <a:t>unidades</a:t>
            </a:r>
            <a:r>
              <a:rPr dirty="0"/>
              <a:t> mediante SOAP.</a:t>
            </a:r>
            <a:endParaRPr sz="2000" b="1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lang="es-ES" dirty="0">
              <a:solidFill>
                <a:schemeClr val="lt1"/>
              </a:solidFill>
              <a:ea typeface="Gill Sans" panose="020B0502020104020203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bg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SOAP</a:t>
            </a:r>
            <a:endParaRPr sz="1400" b="0" i="0" u="none" strike="noStrike" cap="none" dirty="0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 dirty="0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3429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Cliente Web en funcionamiento: acceso</a:t>
            </a:r>
            <a:endParaRPr sz="2000" b="1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t>La interfaz web permite ingresar credenciales y comenzar la sesión. El servidor valida el acceso antes de habilitar las operaciones protegidas.</a:t>
            </a:r>
            <a:endParaRPr sz="1600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lang="es-ES" dirty="0">
              <a:solidFill>
                <a:schemeClr val="lt1"/>
              </a:solidFill>
              <a:ea typeface="Gill Sans" panose="020B0502020104020203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bg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SOAP</a:t>
            </a:r>
            <a:endParaRPr sz="1400" b="0" i="0" u="none" strike="noStrike" cap="none" dirty="0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 dirty="0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3429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Cliente Web en funcionamiento: conversor</a:t>
            </a:r>
            <a:endParaRPr sz="2000" b="1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t>La pantalla de conversión permite elegir magnitud y unidades, ingresar un valor y visualizar el resultado entregado por el servicio SOAP.</a:t>
            </a:r>
            <a:endParaRPr sz="1600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lang="es-ES" dirty="0">
              <a:solidFill>
                <a:schemeClr val="lt1"/>
              </a:solidFill>
              <a:ea typeface="Gill Sans" panose="020B0502020104020203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bg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SOAP</a:t>
            </a:r>
            <a:endParaRPr sz="1400" b="0" i="0" u="none" strike="noStrike" cap="none" dirty="0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 dirty="0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10072" y="3429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Cliente Móvil en funcionamiento</a:t>
            </a:r>
            <a:endParaRPr sz="2000" b="1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t>El cliente móvil integra el acceso y la pantalla de conversión para consultar el servicio desde Android.</a:t>
            </a:r>
            <a:endParaRPr sz="1600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lang="es-ES" dirty="0">
              <a:solidFill>
                <a:schemeClr val="lt1"/>
              </a:solidFill>
              <a:ea typeface="Gill Sans" panose="020B0502020104020203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bg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REACIÓN DEL SERVIDOR SOAP</a:t>
            </a:r>
            <a:endParaRPr sz="1400" b="0" i="0" u="none" strike="noStrike" cap="none" dirty="0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 dirty="0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308792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Cliente Consola en funcionamiento</a:t>
            </a:r>
            <a:endParaRPr sz="2000" b="1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t>El cliente de consola permite iniciar sesión, elegir una magnitud y mostrar el resultado de la conversión devuelto por el servidor.</a:t>
            </a:r>
            <a:endParaRPr sz="1600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lang="es-ES" dirty="0">
              <a:solidFill>
                <a:schemeClr val="lt1"/>
              </a:solidFill>
              <a:ea typeface="Gill Sans" panose="020B0502020104020203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bg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SOAP</a:t>
            </a:r>
            <a:endParaRPr sz="1400" b="0" i="0" u="none" strike="noStrike" cap="none" dirty="0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 dirty="0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 dirty="0"/>
              <a:t>CONCLUSIONES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713272" y="2854240"/>
            <a:ext cx="8588808" cy="2652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800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CONCLUSIONES</a:t>
            </a:r>
            <a:endParaRPr sz="1800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800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La arquitectura SOA con SOAP y WSDL centraliza la lógica de conversión y permite que los clientes de consola, escritorio, web y Android utilicen las mismas operaciones. El uso de token protege el acceso y la ausencia de base de datos simplifica la arquitectura.</a:t>
            </a:r>
            <a:endParaRPr sz="1800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SOAP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 dirty="0"/>
              <a:t>RECOMENDACIONES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377992" y="2960438"/>
            <a:ext cx="8588808" cy="2652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800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RECOMENDACIONES</a:t>
            </a:r>
            <a:endParaRPr sz="1800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800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Se recomienda proteger las comunicaciones con HTTPS, validar el token en cada operación protegida, mantener actualizado el WSDL y documentar claramente los errores y las unidades admitidas. También conviene probar el servicio desde los cuatro clientes.</a:t>
            </a:r>
            <a:endParaRPr sz="1800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SOAP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1505</Words>
  <Application>Microsoft Office PowerPoint</Application>
  <PresentationFormat>Panorámica</PresentationFormat>
  <Paragraphs>446</Paragraphs>
  <Slides>22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8" baseType="lpstr">
      <vt:lpstr>Gill Sans</vt:lpstr>
      <vt:lpstr>Courier New</vt:lpstr>
      <vt:lpstr>Arial</vt:lpstr>
      <vt:lpstr>Noto Sans Symbols</vt:lpstr>
      <vt:lpstr>Cambria</vt:lpstr>
      <vt:lpstr>Dividendo</vt:lpstr>
      <vt:lpstr>MANUAL SOAP JAVA – SIN BASE DE DATOS</vt:lpstr>
      <vt:lpstr>Presentación de PowerPoint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CONCLUSIONES</vt:lpstr>
      <vt:lpstr>RECOMENDACIONES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David</dc:creator>
  <cp:lastModifiedBy>Kevin David</cp:lastModifiedBy>
  <cp:revision>6</cp:revision>
  <dcterms:created xsi:type="dcterms:W3CDTF">2026-10-27T03:50:31Z</dcterms:created>
  <dcterms:modified xsi:type="dcterms:W3CDTF">2026-10-28T03:37:00Z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2058-12.1.0.29162</vt:lpwstr>
  </property>
  <property fmtid="{D5CDD505-2E9C-101B-9397-08002B2CF9AE}" pid="3" name="ICV">
    <vt:lpwstr>3DB2ECCEF6DA46B8ABE58E6A6C44E628_12</vt:lpwstr>
  </property>
</Properties>
</file>