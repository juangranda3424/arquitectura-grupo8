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37" r:id="rId4"/>
    <p:sldId id="338" r:id="rId5"/>
    <p:sldId id="413" r:id="rId6"/>
    <p:sldId id="414" r:id="rId7"/>
    <p:sldId id="416" r:id="rId8"/>
    <p:sldId id="418" r:id="rId9"/>
    <p:sldId id="424" r:id="rId10"/>
    <p:sldId id="425" r:id="rId11"/>
    <p:sldId id="428" r:id="rId12"/>
    <p:sldId id="441" r:id="rId13"/>
    <p:sldId id="449" r:id="rId14"/>
    <p:sldId id="453" r:id="rId15"/>
    <p:sldId id="457" r:id="rId16"/>
    <p:sldId id="461" r:id="rId17"/>
    <p:sldId id="469" r:id="rId18"/>
    <p:sldId id="470" r:id="rId19"/>
    <p:sldId id="471" r:id="rId20"/>
    <p:sldId id="472" r:id="rId21"/>
    <p:sldId id="409" r:id="rId22"/>
    <p:sldId id="410" r:id="rId23"/>
  </p:sldIdLst>
  <p:sldSz cx="12192000" cy="6858000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ill Sans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 panose="020B0502020104020203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 panose="020B0502020104020203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40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048001"/>
            <a:ext cx="10993549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>
              <a:buClr>
                <a:schemeClr val="lt1"/>
              </a:buClr>
            </a:pPr>
            <a:r>
              <a:rPr lang="es-ES" dirty="0">
                <a:solidFill>
                  <a:schemeClr val="bg1"/>
                </a:solidFill>
              </a:rPr>
              <a:t>ESPECIFICACIÓN DE CASOS DE USO
SISTEMA DE CONVERSIÓN DE UNIDADES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99;p13">
            <a:extLst>
              <a:ext uri="{FF2B5EF4-FFF2-40B4-BE49-F238E27FC236}">
                <a16:creationId xmlns:a16="http://schemas.microsoft.com/office/drawing/2014/main" id="{A7E87C6B-54BD-F804-CAFF-55D9EA726653}"/>
              </a:ext>
            </a:extLst>
          </p:cNvPr>
          <p:cNvSpPr txBox="1"/>
          <p:nvPr/>
        </p:nvSpPr>
        <p:spPr>
          <a:xfrm>
            <a:off x="8190710" y="5332588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FECHA: 28/10/2026
TUTOR: ING. EDUARDO MAURICIO CAMPAÑA ORTEGA</a:t>
            </a:r>
            <a:endParaRPr b="0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endParaRPr sz="1600" b="1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id="{64A21070-A0ED-D769-1AE6-41A82EDCCEEE}"/>
              </a:ext>
            </a:extLst>
          </p:cNvPr>
          <p:cNvSpPr txBox="1">
            <a:spLocks/>
          </p:cNvSpPr>
          <p:nvPr/>
        </p:nvSpPr>
        <p:spPr>
          <a:xfrm>
            <a:off x="599226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indent="0">
              <a:spcBef>
                <a:spcPts val="920"/>
              </a:spcBef>
              <a:buClr>
                <a:schemeClr val="dk1"/>
              </a:buClr>
              <a:buFont typeface="Arial" panose="020B0604020202020204"/>
              <a:buNone/>
            </a:pPr>
            <a:r>
              <a:rPr lang="en-US" b="1" dirty="0">
                <a:solidFill>
                  <a:schemeClr val="lt1"/>
                </a:solidFill>
              </a:rPr>
              <a:t>INTEGRANTES:</a:t>
            </a:r>
            <a:r>
              <a:rPr lang="en-US" dirty="0">
                <a:solidFill>
                  <a:schemeClr val="lt1"/>
                </a:solidFill>
              </a:rPr>
              <a:t> 	GUALLICHICO JOSUE</a:t>
            </a:r>
          </a:p>
          <a:p>
            <a:pPr marL="0" indent="0">
              <a:spcBef>
                <a:spcPts val="920"/>
              </a:spcBef>
              <a:buClr>
                <a:schemeClr val="dk1"/>
              </a:buClr>
              <a:buFont typeface="Arial" panose="020B0604020202020204"/>
              <a:buNone/>
            </a:pPr>
            <a:r>
              <a:rPr lang="en-US" dirty="0">
                <a:solidFill>
                  <a:schemeClr val="lt1"/>
                </a:solidFill>
              </a:rPr>
              <a:t>		GRANDA JUAN</a:t>
            </a:r>
          </a:p>
          <a:p>
            <a:pPr marL="0" indent="0">
              <a:spcBef>
                <a:spcPts val="920"/>
              </a:spcBef>
              <a:buClr>
                <a:schemeClr val="dk1"/>
              </a:buClr>
              <a:buFont typeface="Arial" panose="020B0604020202020204"/>
              <a:buNone/>
            </a:pPr>
            <a:r>
              <a:rPr lang="en-US" dirty="0">
                <a:solidFill>
                  <a:schemeClr val="lt1"/>
                </a:solidFill>
              </a:rPr>
              <a:t>		ASMAL KEVIN </a:t>
            </a:r>
            <a:endParaRPr lang="en-US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dirty="0"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601252" y="708165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>
              <a:spcBef>
                <a:spcPts val="870"/>
              </a:spcBef>
            </a:pPr>
            <a:r>
              <a:rPr lang="es-ES" dirty="0">
                <a:solidFill>
                  <a:schemeClr val="lt1"/>
                </a:solidFill>
              </a:rPr>
              <a:t>DESARROLLO</a:t>
            </a:r>
          </a:p>
          <a:p>
            <a:pPr>
              <a:spcBef>
                <a:spcPts val="870"/>
              </a:spcBef>
            </a:pPr>
            <a:r>
              <a:rPr lang="es-ES" dirty="0">
                <a:solidFill>
                  <a:schemeClr val="lt1"/>
                </a:solidFill>
              </a:rPr>
              <a:t>OBJETIVO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dirty="0">
                <a:solidFill>
                  <a:schemeClr val="lt1"/>
                </a:solidFill>
              </a:rPr>
              <a:t>CREACIÓN DEL SERVIDOR SOAP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CONSOLA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ESCRITORIO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WEB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MÓVIL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FUNCIONAMIENTO DEL SISTEMA</a:t>
            </a:r>
          </a:p>
          <a:p>
            <a:pPr marL="306070" marR="0" lvl="0" indent="-30607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CONCLUSIONES</a:t>
            </a:r>
          </a:p>
          <a:p>
            <a:pPr marL="306070" marR="0" lvl="0" indent="-30607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RECOMENDACIONES</a:t>
            </a:r>
          </a:p>
        </p:txBody>
      </p:sp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Google Shape;108;p14" descr="Resultado de imagen para AGENDA PNG">
            <a:extLst>
              <a:ext uri="{FF2B5EF4-FFF2-40B4-BE49-F238E27FC236}">
                <a16:creationId xmlns:a16="http://schemas.microsoft.com/office/drawing/2014/main" id="{2208683E-0DAB-3D42-DA0D-6C5E44D718F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97238" y="1916553"/>
            <a:ext cx="6489819" cy="3007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OBJETIVOS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76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/>
              <a:t>Objetivo general</a:t>
            </a:r>
            <a:endParaRPr lang="es-EC" dirty="0"/>
          </a:p>
          <a:p>
            <a:pPr marL="0" marR="0" lvl="0" indent="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  <a:defRPr/>
            </a:pPr>
            <a:r>
              <a:rPr dirty="0"/>
              <a:t>
Describir el comportamiento del sistema de conversión de unidades mediante casos de uso detallados, desde la autenticación hasta la validación de datos y el cálculo.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CASOS DE USO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95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Casos principales del sistema
CU-01: Autenticar cliente
CU-02: Convertir longitud
CU-03: Convertir masa
CU-04: Convertir temperatura
CU-05: Validar token
CU-06: Validar unidades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1850625" y="558667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Autenticación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496545" y="558667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Longitud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142465" y="558667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Masa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788385" y="558667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Temperatura</a:t>
            </a:r>
          </a:p>
        </p:txBody>
      </p:sp>
      <p:cxnSp>
        <p:nvCxnSpPr>
          <p:cNvPr id="132" name="Connector 131"/>
          <p:cNvCxnSpPr/>
          <p:nvPr/>
        </p:nvCxnSpPr>
        <p:spPr>
          <a:xfrm flipV="1">
            <a:off x="2490705" y="4974022"/>
            <a:ext cx="233172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4136625" y="4974022"/>
            <a:ext cx="91440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5371065" y="4974022"/>
            <a:ext cx="41148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5599665" y="4974022"/>
            <a:ext cx="182880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/>
          <p:cNvSpPr/>
          <p:nvPr/>
        </p:nvSpPr>
        <p:spPr>
          <a:xfrm>
            <a:off x="4410945" y="4352230"/>
            <a:ext cx="164592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192B4A"/>
                </a:solidFill>
              </a:defRPr>
            </a:pPr>
            <a:r>
              <a:t>Sistema
Conversión de unidades</a:t>
            </a:r>
          </a:p>
          <a:p>
            <a:pPr algn="ctr">
              <a:defRPr sz="900">
                <a:solidFill>
                  <a:srgbClr val="505A6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AUTENTICACIÓN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CU-01 · Autenticar cliente
El usuario envía sus credenciales a POST /auth/login. Si son correctas, el sistema genera un token UUID y lo guarda en memoria para las solicitudes posteriores.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Componentes del sistema</a:t>
            </a: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1090863" y="4399548"/>
            <a:ext cx="18288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Autenticación
Token UUID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3331143" y="4399548"/>
            <a:ext cx="18288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Conversores
Longitud / masa / temp.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9" name="Rounded Rectangle 128"/>
          <p:cNvSpPr/>
          <p:nvPr/>
        </p:nvSpPr>
        <p:spPr>
          <a:xfrm>
            <a:off x="5571423" y="4399548"/>
            <a:ext cx="18288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Validación
Unidades y datos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cxnSp>
        <p:nvCxnSpPr>
          <p:cNvPr id="130" name="Connector 129"/>
          <p:cNvCxnSpPr/>
          <p:nvPr/>
        </p:nvCxnSpPr>
        <p:spPr>
          <a:xfrm>
            <a:off x="2919663" y="4646436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159943" y="4646436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FLUJO DE SOLICITUD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/>
              <a:t>Solicitud y respuesta
El cliente envía datos al endpoint correspondiente. El sistema valida la sesión y los parámetros, ejecuta la conversión y devuelve el resultado con el estado de la operación.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81192" y="3264133"/>
            <a:ext cx="8288808" cy="3339588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125" name="TextBox 124"/>
          <p:cNvSpPr txBox="1"/>
          <p:nvPr/>
        </p:nvSpPr>
        <p:spPr>
          <a:xfrm>
            <a:off x="762337" y="4309075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Flujo de petición HTTP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585297" y="4757024"/>
            <a:ext cx="196596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Cliente
Envía solicitud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3962737" y="4757024"/>
            <a:ext cx="196596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Sistema
Valida y procesa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6340177" y="4757024"/>
            <a:ext cx="196596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Respuesta
JSON + resultado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3551257" y="5031344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28697" y="5031344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1585297" y="3476864"/>
            <a:ext cx="192024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Endpoint
Ruta del servicio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3871297" y="3476864"/>
            <a:ext cx="192024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Validación
Token y unidades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6157297" y="3476864"/>
            <a:ext cx="192024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Resultado
Datos estructurados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cxnSp>
        <p:nvCxnSpPr>
          <p:cNvPr id="134" name="Connector 133"/>
          <p:cNvCxnSpPr/>
          <p:nvPr/>
        </p:nvCxnSpPr>
        <p:spPr>
          <a:xfrm>
            <a:off x="3505537" y="3751184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791537" y="3751184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CONVERSIÓN DE UNIDADES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/>
              <a:t>Flujo básico de conversión
1. Enviar origen, destino, valor y token.
2. Validar el token.
3. Comprobar las unidades permitidas.
4. Calcular y devolver el resultado.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06488" y="3613735"/>
            <a:ext cx="8288808" cy="273223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54964" y="39668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Flujo de conversión</a:t>
            </a:r>
            <a:endParaRPr dirty="0"/>
          </a:p>
        </p:txBody>
      </p:sp>
      <p:sp>
        <p:nvSpPr>
          <p:cNvPr id="126" name="Rounded Rectangle 125"/>
          <p:cNvSpPr/>
          <p:nvPr/>
        </p:nvSpPr>
        <p:spPr>
          <a:xfrm>
            <a:off x="946404" y="4687244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1. Entrada
from + to + value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2912364" y="4687244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2. Seguridad
token UUID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4878324" y="4687244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3. Validación
unidades admitidas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6844284" y="4687244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4. Respuesta
resultado + estado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cxnSp>
        <p:nvCxnSpPr>
          <p:cNvPr id="130" name="Connector 129"/>
          <p:cNvCxnSpPr/>
          <p:nvPr/>
        </p:nvCxnSpPr>
        <p:spPr>
          <a:xfrm>
            <a:off x="2546604" y="4979852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512564" y="4979852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478524" y="4979852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VALIDACIÓN DE SESIÓN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CU-05 · Validar token
Antes de convertir, el sistema comprueba que el token UUID exista en la colección de tokens activos almacenada en memoria. Si no existe, responde HTTP 401.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20093" y="3106817"/>
            <a:ext cx="8288808" cy="350354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60796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t>Autenticación y autorización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60796" y="4071223"/>
            <a:ext cx="182880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rPr dirty="0" err="1"/>
              <a:t>Cliente
usuario + clave</a:t>
            </a:r>
            <a:endParaRPr dirty="0"/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3046796" y="4071223"/>
            <a:ext cx="182880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rPr dirty="0"/>
              <a:t>Login
valida credenciales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5332796" y="4071223"/>
            <a:ext cx="182880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Token UUID
permite convertir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2589596" y="4345543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875596" y="4345543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CATÁLOGO DE UNIDADES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Unidades admitidas por el sistema
El catálogo agrupa las unidades según la magnitud solicitada y evita conversiones con unidades de categorías incorrectas.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2845015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Catálogo de unidades del sistema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38990" y="4003464"/>
            <a:ext cx="201168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Longitud
cm · m · pies · yd · mi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3470710" y="4003464"/>
            <a:ext cx="201168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Masa
g · kg · oz · lb · quintal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5802430" y="4003464"/>
            <a:ext cx="201168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Temperatura
°C · °F · K · °N · °Ré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MANEJO DE ERRORES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Respuestas ante errores
Credenciales incorrectas: HTTP 401.
Campos vacíos o nulos: HTTP 400.
Token inválido: HTTP 401.
Unidad no reconocida o valor mal formado: HTTP 400.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68680" y="359116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/>
              <a:t>Control de errores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68680" y="4003464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Token inválido
HTTP 401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3200400" y="4003464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rPr dirty="0"/>
              <a:t>Unidad incorrecta
HTTP 400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5532120" y="4003464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Datos inválidos
HTTP 400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ENDPOINTS DEL SISTEMA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t>Rutas principales
POST /auth/login
POST /conversor/longitud
POST /conversor/masa
POST /conversor/temperatura
Cada conversión requiere from, to, value y token.</a:t>
            </a:r>
            <a:br/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709389" y="5335738"/>
            <a:ext cx="2386553" cy="143251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Rutas de acceso
POST /auth/login
POST /conversor/longitud
POST /conversor/masa
POST /conversor/temperatura</a:t>
            </a: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31192" y="39479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Entorno de ejecución</a:t>
            </a:r>
            <a:endParaRPr dirty="0"/>
          </a:p>
        </p:txBody>
      </p:sp>
      <p:sp>
        <p:nvSpPr>
          <p:cNvPr id="126" name="Rounded Rectangle 125"/>
          <p:cNvSpPr/>
          <p:nvPr/>
        </p:nvSpPr>
        <p:spPr>
          <a:xfrm>
            <a:off x="944078" y="4518419"/>
            <a:ext cx="182880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Cliente HTTP
Envía petición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3230078" y="4518419"/>
            <a:ext cx="182880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Servidor
Valida y procesa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5516078" y="4518419"/>
            <a:ext cx="182880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Respuesta
JSON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2772878" y="4792739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058878" y="4792739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CASOS RELACIONADOS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Validaciones compartidas
Las operaciones de longitud, masa y temperatura utilizan los casos internos CU-05 (Validar Token) y CU-06 (Validar Unidades) antes de ejecutar el cálculo.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>
              <a:buSzPts val="1400"/>
            </a:pP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lang="es-ES" dirty="0">
              <a:solidFill>
                <a:schemeClr val="bg1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lang="es-ES" dirty="0">
              <a:solidFill>
                <a:srgbClr val="FFFF00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lang="es-ES" dirty="0"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BE96E7-3128-24E4-9CE0-EAF2647F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96" y="1071739"/>
            <a:ext cx="2745931" cy="5247781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868680" y="3170235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/>
              <a:t>Los casos de conversión comparten validaciones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793724" y="3695629"/>
            <a:ext cx="201168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Sistema de conversión
Lógica central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41628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Autenticar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983211" y="4317421"/>
            <a:ext cx="2816353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310792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Longitud</a:t>
            </a:r>
          </a:p>
        </p:txBody>
      </p:sp>
      <p:cxnSp>
        <p:nvCxnSpPr>
          <p:cNvPr id="131" name="Connector 130"/>
          <p:cNvCxnSpPr/>
          <p:nvPr/>
        </p:nvCxnSpPr>
        <p:spPr>
          <a:xfrm flipV="1">
            <a:off x="3674852" y="4317421"/>
            <a:ext cx="1124712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571396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Masa</a:t>
            </a:r>
          </a:p>
        </p:txBody>
      </p:sp>
      <p:cxnSp>
        <p:nvCxnSpPr>
          <p:cNvPr id="133" name="Connector 132"/>
          <p:cNvCxnSpPr/>
          <p:nvPr/>
        </p:nvCxnSpPr>
        <p:spPr>
          <a:xfrm flipH="1" flipV="1">
            <a:off x="4799564" y="4317421"/>
            <a:ext cx="1481328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740560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Temperatura</a:t>
            </a:r>
          </a:p>
        </p:txBody>
      </p:sp>
      <p:cxnSp>
        <p:nvCxnSpPr>
          <p:cNvPr id="135" name="Connector 134"/>
          <p:cNvCxnSpPr/>
          <p:nvPr/>
        </p:nvCxnSpPr>
        <p:spPr>
          <a:xfrm flipH="1" flipV="1">
            <a:off x="4799564" y="4317421"/>
            <a:ext cx="3172967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CU-02 · LONGITUD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longitud</a:t>
            </a:r>
            <a:endParaRPr lang="es-EC" dirty="0"/>
          </a:p>
          <a:p>
            <a:pPr marL="0" marR="0" lvl="0" indent="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  <a:defRPr/>
            </a:pPr>
            <a:r>
              <a:rPr dirty="0" err="1"/>
              <a:t>
Permite convertir centímetros, metros, pies, yardas y millas. El usuario envía unidad de origen, unidad de destino, valor numérico y token válido.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EJEMPLO DE SOLICITUD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Datos para una conversión
from: unidad de origen
to: unidad de destino
value: valor numérico
token: UUID obtenido al iniciar sesión
La respuesta incluye result, success y message.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81192" y="4022559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Ejemplo de solicitud
POST /conversor/longitud
{
  from: "metros",
  to: "pies",
  value: 2,
  token: "UUID"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CU-03 · MASA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Convertir masa
Admite gramos, kilogramos, onzas, libras y quintales. Requiere una sesión válida y unidades reconocidas para calcular el valor equivalente.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577531" y="3300000"/>
            <a:ext cx="6596129" cy="179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Cliente HTTP
Envía datos al endpoint
Recibe resultado</a:t>
            </a:r>
            <a:br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CU-04 · TEMPERATURA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794889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temperatura</a:t>
            </a:r>
            <a:endParaRPr lang="es-EC" dirty="0"/>
          </a:p>
          <a:p>
            <a:pPr marL="0" marR="0" lvl="0" indent="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  <a:defRPr/>
            </a:pPr>
            <a:r>
              <a:rPr dirty="0" err="1"/>
              <a:t>
Permite convertir entre Celsius, Fahrenheit, Kelvin, Newton y Réaumur. El sistema aplica la fórmula correspondiente a las escalas seleccionadas.</a:t>
            </a:r>
            <a:br>
              <a:rPr dirty="0"/>
            </a:b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RESPUESTA EXITOSA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Resultado de conversión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
</a:t>
            </a:r>
            <a:r>
              <a:rPr lang="es-ES" sz="20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Cuando la solicitud es válida, el sistema devuelve el valor convertido con success = true y el mensaje “Conversión exitosa.”</a:t>
            </a:r>
            <a:endParaRPr sz="20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VALIDACIÓN DE UNIDADES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CU-06 · Validar unidades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
</a:t>
            </a:r>
            <a:r>
              <a:rPr lang="es-ES" sz="20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El sistema consulta el catálogo correspondiente a longitud, masa o temperatura. Si from o to no pertenece al catálogo, devuelve HTTP 400.</a:t>
            </a:r>
            <a:endParaRPr sz="20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FLUJO DE AUTENTICACIÓN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10072" y="2172929"/>
            <a:ext cx="8588808" cy="267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Inicio de sesión
</a:t>
            </a:r>
            <a:r>
              <a:rPr lang="es-ES" sz="20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1. El cliente envía usuario y contraseña.
2. El sistema compara las credenciales.
3. Si son válidas, genera y almacena un token UUID.
4. El cliente usa el token en las operaciones protegidas.</a:t>
            </a:r>
            <a:endParaRPr sz="20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FLUJO DE CONVERSIÓN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08792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Secuencia de una conversión
El cliente envía la petición → se valida el token → se verifican las unidades → se calcula el resultado → se devuelve la respuesta.</a:t>
            </a:r>
            <a:endParaRPr sz="20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 dirty="0"/>
              <a:t>CONCLUSIONES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713272" y="2854240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CONCLUSIONES
Los casos de uso detallan la autenticación, las conversiones de longitud, masa y temperatura, y las validaciones compartidas. La comprobación del token y del catálogo permite controlar el acceso y los datos enviados.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 dirty="0"/>
              <a:t>RECOMENDACIONES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377992" y="2960438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RECOMENDACIONES
Validar siempre los campos de entrada y el token; devolver mensajes de error claros; mantener actualizado el catálogo de unidades y probar los flujos exitosos y alternativos de cada caso de uso.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1802</Words>
  <Application>Microsoft Office PowerPoint</Application>
  <PresentationFormat>Panorámica</PresentationFormat>
  <Paragraphs>416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Noto Sans Symbols</vt:lpstr>
      <vt:lpstr>Gill Sans</vt:lpstr>
      <vt:lpstr>Cambria</vt:lpstr>
      <vt:lpstr>Courier New</vt:lpstr>
      <vt:lpstr>Arial</vt:lpstr>
      <vt:lpstr>Dividendo</vt:lpstr>
      <vt:lpstr>ESPECIFICACIÓN DE CASOS DE USO
SISTEMA DE CONVERSIÓN DE UNIDADES</vt:lpstr>
      <vt:lpstr>Presentación de PowerPoint</vt:lpstr>
      <vt:lpstr>OBJETIVOS</vt:lpstr>
      <vt:lpstr>CASOS DE USO</vt:lpstr>
      <vt:lpstr>AUTENTICACIÓN</vt:lpstr>
      <vt:lpstr>FLUJO DE SOLICITUD</vt:lpstr>
      <vt:lpstr>CONVERSIÓN DE UNIDADES</vt:lpstr>
      <vt:lpstr>VALIDACIÓN DE SESIÓN</vt:lpstr>
      <vt:lpstr>CATÁLOGO DE UNIDADES</vt:lpstr>
      <vt:lpstr>MANEJO DE ERRORES</vt:lpstr>
      <vt:lpstr>ENDPOINTS DEL SISTEMA</vt:lpstr>
      <vt:lpstr>CASOS RELACIONADOS</vt:lpstr>
      <vt:lpstr>CU-02 · LONGITUD</vt:lpstr>
      <vt:lpstr>EJEMPLO DE SOLICITUD</vt:lpstr>
      <vt:lpstr>CU-03 · MASA</vt:lpstr>
      <vt:lpstr>CU-04 · TEMPERATURA</vt:lpstr>
      <vt:lpstr>RESPUESTA EXITOSA</vt:lpstr>
      <vt:lpstr>VALIDACIÓN DE UNIDADES</vt:lpstr>
      <vt:lpstr>FLUJO DE AUTENTICACIÓN</vt:lpstr>
      <vt:lpstr>FLUJO DE CONVERSIÓN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David</dc:creator>
  <cp:lastModifiedBy>Kevin David</cp:lastModifiedBy>
  <cp:revision>7</cp:revision>
  <dcterms:created xsi:type="dcterms:W3CDTF">2026-10-27T03:50:31Z</dcterms:created>
  <dcterms:modified xsi:type="dcterms:W3CDTF">2026-10-28T03:49:25Z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2058-12.1.0.29162</vt:lpwstr>
  </property>
  <property fmtid="{D5CDD505-2E9C-101B-9397-08002B2CF9AE}" pid="3" name="ICV">
    <vt:lpwstr>3DB2ECCEF6DA46B8ABE58E6A6C44E628_12</vt:lpwstr>
  </property>
</Properties>
</file>